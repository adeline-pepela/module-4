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18288000" cy="10287000"/>
  <p:embeddedFontLst>
    <p:embeddedFont>
      <p:font typeface="Tahoma"/>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28" roundtripDataSignature="AMtx7miXTTnkuqTG7PWy+mYs4gteennst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CC7F8C0-134F-48E8-A669-0BA2B662A51D}">
  <a:tblStyle styleId="{6CC7F8C0-134F-48E8-A669-0BA2B662A51D}"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Tahoma-regular.fntdata"/><Relationship Id="rId25" Type="http://schemas.openxmlformats.org/officeDocument/2006/relationships/slide" Target="slides/slide19.xml"/><Relationship Id="rId28" Type="http://customschemas.google.com/relationships/presentationmetadata" Target="metadata"/><Relationship Id="rId27" Type="http://schemas.openxmlformats.org/officeDocument/2006/relationships/font" Target="fonts/Tahoma-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828800" y="4886325"/>
            <a:ext cx="14630400" cy="462915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9: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9: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aceebf16f_0_10: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9aceebf16f_0_10: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1: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3: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3: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2: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9aceebf16f_0_50: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g39aceebf16f_0_50: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5: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5: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9aceebf16f_0_62: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g39aceebf16f_0_62: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9aceebf16f_0_73:notes"/>
          <p:cNvSpPr txBox="1"/>
          <p:nvPr>
            <p:ph idx="1" type="body"/>
          </p:nvPr>
        </p:nvSpPr>
        <p:spPr>
          <a:xfrm>
            <a:off x="1828800" y="4886325"/>
            <a:ext cx="14630400" cy="4629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g39aceebf16f_0_73:notes"/>
          <p:cNvSpPr/>
          <p:nvPr>
            <p:ph idx="2" type="sldImg"/>
          </p:nvPr>
        </p:nvSpPr>
        <p:spPr>
          <a:xfrm>
            <a:off x="3048600" y="771525"/>
            <a:ext cx="12192600" cy="38577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6:notes"/>
          <p:cNvSpPr txBox="1"/>
          <p:nvPr>
            <p:ph idx="1" type="body"/>
          </p:nvPr>
        </p:nvSpPr>
        <p:spPr>
          <a:xfrm>
            <a:off x="1828800" y="4886325"/>
            <a:ext cx="14630400" cy="46291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6:notes"/>
          <p:cNvSpPr/>
          <p:nvPr>
            <p:ph idx="2" type="sldImg"/>
          </p:nvPr>
        </p:nvSpPr>
        <p:spPr>
          <a:xfrm>
            <a:off x="3048600" y="771525"/>
            <a:ext cx="12192600" cy="38576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type="obj">
  <p:cSld name="OBJECT">
    <p:bg>
      <p:bgPr>
        <a:solidFill>
          <a:schemeClr val="lt1"/>
        </a:solidFill>
      </p:bgPr>
    </p:bg>
    <p:spTree>
      <p:nvGrpSpPr>
        <p:cNvPr id="11" name="Shape 11"/>
        <p:cNvGrpSpPr/>
        <p:nvPr/>
      </p:nvGrpSpPr>
      <p:grpSpPr>
        <a:xfrm>
          <a:off x="0" y="0"/>
          <a:ext cx="0" cy="0"/>
          <a:chOff x="0" y="0"/>
          <a:chExt cx="0" cy="0"/>
        </a:xfrm>
      </p:grpSpPr>
      <p:sp>
        <p:nvSpPr>
          <p:cNvPr id="12" name="Google Shape;12;p18"/>
          <p:cNvSpPr/>
          <p:nvPr/>
        </p:nvSpPr>
        <p:spPr>
          <a:xfrm>
            <a:off x="0" y="1172400"/>
            <a:ext cx="18280380" cy="8410575"/>
          </a:xfrm>
          <a:custGeom>
            <a:rect b="b" l="l" r="r" t="t"/>
            <a:pathLst>
              <a:path extrusionOk="0" h="8410575" w="18280380">
                <a:moveTo>
                  <a:pt x="18280328" y="0"/>
                </a:moveTo>
                <a:lnTo>
                  <a:pt x="0" y="0"/>
                </a:lnTo>
                <a:lnTo>
                  <a:pt x="0" y="8410448"/>
                </a:lnTo>
                <a:lnTo>
                  <a:pt x="18280328" y="8410448"/>
                </a:lnTo>
                <a:lnTo>
                  <a:pt x="18280328" y="0"/>
                </a:lnTo>
                <a:close/>
              </a:path>
            </a:pathLst>
          </a:custGeom>
          <a:solidFill>
            <a:srgbClr val="EFF1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 name="Google Shape;13;p18"/>
          <p:cNvSpPr/>
          <p:nvPr/>
        </p:nvSpPr>
        <p:spPr>
          <a:xfrm>
            <a:off x="0" y="0"/>
            <a:ext cx="18288000" cy="1139190"/>
          </a:xfrm>
          <a:custGeom>
            <a:rect b="b" l="l" r="r" t="t"/>
            <a:pathLst>
              <a:path extrusionOk="0" h="1139190" w="18288000">
                <a:moveTo>
                  <a:pt x="0" y="1138808"/>
                </a:moveTo>
                <a:lnTo>
                  <a:pt x="18288000" y="1138808"/>
                </a:lnTo>
                <a:lnTo>
                  <a:pt x="18288000" y="0"/>
                </a:lnTo>
                <a:lnTo>
                  <a:pt x="0" y="0"/>
                </a:lnTo>
                <a:lnTo>
                  <a:pt x="0" y="1138808"/>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 name="Google Shape;14;p18"/>
          <p:cNvSpPr txBox="1"/>
          <p:nvPr>
            <p:ph type="title"/>
          </p:nvPr>
        </p:nvSpPr>
        <p:spPr>
          <a:xfrm>
            <a:off x="486257" y="371602"/>
            <a:ext cx="8726728" cy="512571"/>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0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18"/>
          <p:cNvSpPr txBox="1"/>
          <p:nvPr>
            <p:ph idx="1" type="body"/>
          </p:nvPr>
        </p:nvSpPr>
        <p:spPr>
          <a:xfrm>
            <a:off x="6859523" y="1557274"/>
            <a:ext cx="10594975" cy="705675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a:solidFill>
                  <a:schemeClr val="dk1"/>
                </a:solidFil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 name="Google Shape;16;p18"/>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8"/>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8"/>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9" name="Shape 19"/>
        <p:cNvGrpSpPr/>
        <p:nvPr/>
      </p:nvGrpSpPr>
      <p:grpSpPr>
        <a:xfrm>
          <a:off x="0" y="0"/>
          <a:ext cx="0" cy="0"/>
          <a:chOff x="0" y="0"/>
          <a:chExt cx="0" cy="0"/>
        </a:xfrm>
      </p:grpSpPr>
      <p:sp>
        <p:nvSpPr>
          <p:cNvPr id="20" name="Google Shape;20;p19"/>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9"/>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9"/>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3" name="Shape 23"/>
        <p:cNvGrpSpPr/>
        <p:nvPr/>
      </p:nvGrpSpPr>
      <p:grpSpPr>
        <a:xfrm>
          <a:off x="0" y="0"/>
          <a:ext cx="0" cy="0"/>
          <a:chOff x="0" y="0"/>
          <a:chExt cx="0" cy="0"/>
        </a:xfrm>
      </p:grpSpPr>
      <p:sp>
        <p:nvSpPr>
          <p:cNvPr id="24" name="Google Shape;24;p20"/>
          <p:cNvSpPr txBox="1"/>
          <p:nvPr>
            <p:ph type="title"/>
          </p:nvPr>
        </p:nvSpPr>
        <p:spPr>
          <a:xfrm>
            <a:off x="486257" y="371602"/>
            <a:ext cx="8726728" cy="512571"/>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0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20"/>
          <p:cNvSpPr txBox="1"/>
          <p:nvPr>
            <p:ph idx="1" type="body"/>
          </p:nvPr>
        </p:nvSpPr>
        <p:spPr>
          <a:xfrm>
            <a:off x="91440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6" name="Google Shape;26;p20"/>
          <p:cNvSpPr txBox="1"/>
          <p:nvPr>
            <p:ph idx="2" type="body"/>
          </p:nvPr>
        </p:nvSpPr>
        <p:spPr>
          <a:xfrm>
            <a:off x="9418320" y="2366010"/>
            <a:ext cx="7955280" cy="678942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7" name="Google Shape;27;p20"/>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20"/>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 name="Shape 30"/>
        <p:cNvGrpSpPr/>
        <p:nvPr/>
      </p:nvGrpSpPr>
      <p:grpSpPr>
        <a:xfrm>
          <a:off x="0" y="0"/>
          <a:ext cx="0" cy="0"/>
          <a:chOff x="0" y="0"/>
          <a:chExt cx="0" cy="0"/>
        </a:xfrm>
      </p:grpSpPr>
      <p:sp>
        <p:nvSpPr>
          <p:cNvPr id="31" name="Google Shape;31;p21"/>
          <p:cNvSpPr txBox="1"/>
          <p:nvPr>
            <p:ph type="ctrTitle"/>
          </p:nvPr>
        </p:nvSpPr>
        <p:spPr>
          <a:xfrm>
            <a:off x="1371600" y="3188970"/>
            <a:ext cx="15544800" cy="216027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0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1"/>
          <p:cNvSpPr txBox="1"/>
          <p:nvPr>
            <p:ph idx="1" type="subTitle"/>
          </p:nvPr>
        </p:nvSpPr>
        <p:spPr>
          <a:xfrm>
            <a:off x="2743200" y="5760720"/>
            <a:ext cx="12801600" cy="25717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1"/>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21"/>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 name="Shape 36"/>
        <p:cNvGrpSpPr/>
        <p:nvPr/>
      </p:nvGrpSpPr>
      <p:grpSpPr>
        <a:xfrm>
          <a:off x="0" y="0"/>
          <a:ext cx="0" cy="0"/>
          <a:chOff x="0" y="0"/>
          <a:chExt cx="0" cy="0"/>
        </a:xfrm>
      </p:grpSpPr>
      <p:sp>
        <p:nvSpPr>
          <p:cNvPr id="37" name="Google Shape;37;p22"/>
          <p:cNvSpPr txBox="1"/>
          <p:nvPr>
            <p:ph type="title"/>
          </p:nvPr>
        </p:nvSpPr>
        <p:spPr>
          <a:xfrm>
            <a:off x="486257" y="371602"/>
            <a:ext cx="8726728" cy="512571"/>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3000">
                <a:solidFill>
                  <a:schemeClr val="lt1"/>
                </a:solidFill>
                <a:latin typeface="Tahoma"/>
                <a:ea typeface="Tahoma"/>
                <a:cs typeface="Tahoma"/>
                <a:sym typeface="Tahom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2"/>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2"/>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22"/>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a:solidFill>
                  <a:srgbClr val="888888"/>
                </a:solidFill>
              </a:defRPr>
            </a:lvl1pPr>
            <a:lvl2pPr indent="0" lvl="1" algn="r">
              <a:spcBef>
                <a:spcPts val="0"/>
              </a:spcBef>
              <a:buNone/>
              <a:defRPr>
                <a:solidFill>
                  <a:srgbClr val="888888"/>
                </a:solidFill>
              </a:defRPr>
            </a:lvl2pPr>
            <a:lvl3pPr indent="0" lvl="2" algn="r">
              <a:spcBef>
                <a:spcPts val="0"/>
              </a:spcBef>
              <a:buNone/>
              <a:defRPr>
                <a:solidFill>
                  <a:srgbClr val="888888"/>
                </a:solidFill>
              </a:defRPr>
            </a:lvl3pPr>
            <a:lvl4pPr indent="0" lvl="3" algn="r">
              <a:spcBef>
                <a:spcPts val="0"/>
              </a:spcBef>
              <a:buNone/>
              <a:defRPr>
                <a:solidFill>
                  <a:srgbClr val="888888"/>
                </a:solidFill>
              </a:defRPr>
            </a:lvl4pPr>
            <a:lvl5pPr indent="0" lvl="4" algn="r">
              <a:spcBef>
                <a:spcPts val="0"/>
              </a:spcBef>
              <a:buNone/>
              <a:defRPr>
                <a:solidFill>
                  <a:srgbClr val="888888"/>
                </a:solidFill>
              </a:defRPr>
            </a:lvl5pPr>
            <a:lvl6pPr indent="0" lvl="5" algn="r">
              <a:spcBef>
                <a:spcPts val="0"/>
              </a:spcBef>
              <a:buNone/>
              <a:defRPr>
                <a:solidFill>
                  <a:srgbClr val="888888"/>
                </a:solidFill>
              </a:defRPr>
            </a:lvl6pPr>
            <a:lvl7pPr indent="0" lvl="6" algn="r">
              <a:spcBef>
                <a:spcPts val="0"/>
              </a:spcBef>
              <a:buNone/>
              <a:defRPr>
                <a:solidFill>
                  <a:srgbClr val="888888"/>
                </a:solidFill>
              </a:defRPr>
            </a:lvl7pPr>
            <a:lvl8pPr indent="0" lvl="7" algn="r">
              <a:spcBef>
                <a:spcPts val="0"/>
              </a:spcBef>
              <a:buNone/>
              <a:defRPr>
                <a:solidFill>
                  <a:srgbClr val="888888"/>
                </a:solidFill>
              </a:defRPr>
            </a:lvl8pPr>
            <a:lvl9pPr indent="0" lvl="8" algn="r">
              <a:spcBef>
                <a:spcPts val="0"/>
              </a:spcBef>
              <a:buNone/>
              <a:defRPr>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7"/>
          <p:cNvSpPr txBox="1"/>
          <p:nvPr>
            <p:ph type="title"/>
          </p:nvPr>
        </p:nvSpPr>
        <p:spPr>
          <a:xfrm>
            <a:off x="486257" y="371602"/>
            <a:ext cx="8726728" cy="512571"/>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3000" u="none" cap="none" strike="noStrike">
                <a:solidFill>
                  <a:schemeClr val="lt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7"/>
          <p:cNvSpPr txBox="1"/>
          <p:nvPr>
            <p:ph idx="1" type="body"/>
          </p:nvPr>
        </p:nvSpPr>
        <p:spPr>
          <a:xfrm>
            <a:off x="6859523" y="1557274"/>
            <a:ext cx="10594975" cy="705675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8" name="Google Shape;8;p17"/>
          <p:cNvSpPr txBox="1"/>
          <p:nvPr>
            <p:ph idx="11" type="ftr"/>
          </p:nvPr>
        </p:nvSpPr>
        <p:spPr>
          <a:xfrm>
            <a:off x="6217920" y="9566910"/>
            <a:ext cx="5852160" cy="514350"/>
          </a:xfrm>
          <a:prstGeom prst="rect">
            <a:avLst/>
          </a:prstGeom>
          <a:noFill/>
          <a:ln>
            <a:noFill/>
          </a:ln>
        </p:spPr>
        <p:txBody>
          <a:bodyPr anchorCtr="0" anchor="t" bIns="0" lIns="0" spcFirstLastPara="1" rIns="0" wrap="square" tIns="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7"/>
          <p:cNvSpPr txBox="1"/>
          <p:nvPr>
            <p:ph idx="10" type="dt"/>
          </p:nvPr>
        </p:nvSpPr>
        <p:spPr>
          <a:xfrm>
            <a:off x="914400" y="9566910"/>
            <a:ext cx="4206240" cy="51435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 name="Google Shape;10;p17"/>
          <p:cNvSpPr txBox="1"/>
          <p:nvPr>
            <p:ph idx="12" type="sldNum"/>
          </p:nvPr>
        </p:nvSpPr>
        <p:spPr>
          <a:xfrm>
            <a:off x="13167361" y="9566910"/>
            <a:ext cx="4206240" cy="514350"/>
          </a:xfrm>
          <a:prstGeom prst="rect">
            <a:avLst/>
          </a:prstGeom>
          <a:noFill/>
          <a:ln>
            <a:noFill/>
          </a:ln>
        </p:spPr>
        <p:txBody>
          <a:bodyPr anchorCtr="0" anchor="t" bIns="0" lIns="0" spcFirstLastPara="1" rIns="0" wrap="square" tIns="0">
            <a:spAutoFit/>
          </a:bodyPr>
          <a:lstStyle>
            <a:lvl1pPr indent="0" lvl="0" algn="r">
              <a:spcBef>
                <a:spcPts val="0"/>
              </a:spcBef>
              <a:buNone/>
              <a:defRPr sz="1800">
                <a:solidFill>
                  <a:srgbClr val="888888"/>
                </a:solidFill>
              </a:defRPr>
            </a:lvl1pPr>
            <a:lvl2pPr indent="0" lvl="1" algn="r">
              <a:spcBef>
                <a:spcPts val="0"/>
              </a:spcBef>
              <a:buNone/>
              <a:defRPr sz="1800">
                <a:solidFill>
                  <a:srgbClr val="888888"/>
                </a:solidFill>
              </a:defRPr>
            </a:lvl2pPr>
            <a:lvl3pPr indent="0" lvl="2" algn="r">
              <a:spcBef>
                <a:spcPts val="0"/>
              </a:spcBef>
              <a:buNone/>
              <a:defRPr sz="1800">
                <a:solidFill>
                  <a:srgbClr val="888888"/>
                </a:solidFill>
              </a:defRPr>
            </a:lvl3pPr>
            <a:lvl4pPr indent="0" lvl="3" algn="r">
              <a:spcBef>
                <a:spcPts val="0"/>
              </a:spcBef>
              <a:buNone/>
              <a:defRPr sz="1800">
                <a:solidFill>
                  <a:srgbClr val="888888"/>
                </a:solidFill>
              </a:defRPr>
            </a:lvl4pPr>
            <a:lvl5pPr indent="0" lvl="4" algn="r">
              <a:spcBef>
                <a:spcPts val="0"/>
              </a:spcBef>
              <a:buNone/>
              <a:defRPr sz="1800">
                <a:solidFill>
                  <a:srgbClr val="888888"/>
                </a:solidFill>
              </a:defRPr>
            </a:lvl5pPr>
            <a:lvl6pPr indent="0" lvl="5" algn="r">
              <a:spcBef>
                <a:spcPts val="0"/>
              </a:spcBef>
              <a:buNone/>
              <a:defRPr sz="1800">
                <a:solidFill>
                  <a:srgbClr val="888888"/>
                </a:solidFill>
              </a:defRPr>
            </a:lvl6pPr>
            <a:lvl7pPr indent="0" lvl="6" algn="r">
              <a:spcBef>
                <a:spcPts val="0"/>
              </a:spcBef>
              <a:buNone/>
              <a:defRPr sz="1800">
                <a:solidFill>
                  <a:srgbClr val="888888"/>
                </a:solidFill>
              </a:defRPr>
            </a:lvl7pPr>
            <a:lvl8pPr indent="0" lvl="7" algn="r">
              <a:spcBef>
                <a:spcPts val="0"/>
              </a:spcBef>
              <a:buNone/>
              <a:defRPr sz="1800">
                <a:solidFill>
                  <a:srgbClr val="888888"/>
                </a:solidFill>
              </a:defRPr>
            </a:lvl8pPr>
            <a:lvl9pPr indent="0" lvl="8" algn="r">
              <a:spcBef>
                <a:spcPts val="0"/>
              </a:spcBef>
              <a:buNone/>
              <a:defRPr sz="1800">
                <a:solidFill>
                  <a:srgbClr val="888888"/>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22.jpg"/><Relationship Id="rId5" Type="http://schemas.openxmlformats.org/officeDocument/2006/relationships/image" Target="../media/image3.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6.jpg"/><Relationship Id="rId5"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0.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 name="Shape 44"/>
        <p:cNvGrpSpPr/>
        <p:nvPr/>
      </p:nvGrpSpPr>
      <p:grpSpPr>
        <a:xfrm>
          <a:off x="0" y="0"/>
          <a:ext cx="0" cy="0"/>
          <a:chOff x="0" y="0"/>
          <a:chExt cx="0" cy="0"/>
        </a:xfrm>
      </p:grpSpPr>
      <p:grpSp>
        <p:nvGrpSpPr>
          <p:cNvPr id="45" name="Google Shape;45;p1"/>
          <p:cNvGrpSpPr/>
          <p:nvPr/>
        </p:nvGrpSpPr>
        <p:grpSpPr>
          <a:xfrm>
            <a:off x="6071996" y="0"/>
            <a:ext cx="12216384" cy="10287336"/>
            <a:chOff x="6071996" y="0"/>
            <a:chExt cx="12216384" cy="10287336"/>
          </a:xfrm>
        </p:grpSpPr>
        <p:sp>
          <p:nvSpPr>
            <p:cNvPr id="46" name="Google Shape;46;p1"/>
            <p:cNvSpPr/>
            <p:nvPr/>
          </p:nvSpPr>
          <p:spPr>
            <a:xfrm>
              <a:off x="6071996" y="0"/>
              <a:ext cx="12216130" cy="7610475"/>
            </a:xfrm>
            <a:custGeom>
              <a:rect b="b" l="l" r="r" t="t"/>
              <a:pathLst>
                <a:path extrusionOk="0" h="7610475" w="12216130">
                  <a:moveTo>
                    <a:pt x="0" y="7610176"/>
                  </a:moveTo>
                  <a:lnTo>
                    <a:pt x="12216003" y="7610176"/>
                  </a:lnTo>
                  <a:lnTo>
                    <a:pt x="12216003" y="0"/>
                  </a:lnTo>
                  <a:lnTo>
                    <a:pt x="0" y="0"/>
                  </a:lnTo>
                  <a:lnTo>
                    <a:pt x="0" y="7610176"/>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47" name="Google Shape;47;p1"/>
            <p:cNvSpPr/>
            <p:nvPr/>
          </p:nvSpPr>
          <p:spPr>
            <a:xfrm>
              <a:off x="6079235" y="7610176"/>
              <a:ext cx="12209145" cy="2677160"/>
            </a:xfrm>
            <a:custGeom>
              <a:rect b="b" l="l" r="r" t="t"/>
              <a:pathLst>
                <a:path extrusionOk="0" h="2677159" w="12209144">
                  <a:moveTo>
                    <a:pt x="12208764" y="0"/>
                  </a:moveTo>
                  <a:lnTo>
                    <a:pt x="0" y="0"/>
                  </a:lnTo>
                  <a:lnTo>
                    <a:pt x="0" y="2676823"/>
                  </a:lnTo>
                  <a:lnTo>
                    <a:pt x="12208764" y="2676823"/>
                  </a:lnTo>
                  <a:lnTo>
                    <a:pt x="12208764" y="0"/>
                  </a:lnTo>
                  <a:close/>
                </a:path>
              </a:pathLst>
            </a:custGeom>
            <a:solidFill>
              <a:srgbClr val="CACA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48" name="Google Shape;48;p1"/>
          <p:cNvSpPr txBox="1"/>
          <p:nvPr/>
        </p:nvSpPr>
        <p:spPr>
          <a:xfrm>
            <a:off x="6250051" y="8856980"/>
            <a:ext cx="76200" cy="208279"/>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200">
                <a:latin typeface="Arial"/>
                <a:ea typeface="Arial"/>
                <a:cs typeface="Arial"/>
                <a:sym typeface="Arial"/>
              </a:rPr>
              <a:t>-</a:t>
            </a:r>
            <a:endParaRPr sz="1200">
              <a:latin typeface="Arial"/>
              <a:ea typeface="Arial"/>
              <a:cs typeface="Arial"/>
              <a:sym typeface="Arial"/>
            </a:endParaRPr>
          </a:p>
        </p:txBody>
      </p:sp>
      <p:sp>
        <p:nvSpPr>
          <p:cNvPr id="49" name="Google Shape;49;p1"/>
          <p:cNvSpPr txBox="1"/>
          <p:nvPr>
            <p:ph type="title"/>
          </p:nvPr>
        </p:nvSpPr>
        <p:spPr>
          <a:xfrm>
            <a:off x="6515227" y="247852"/>
            <a:ext cx="10292080" cy="331851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7200">
                <a:solidFill>
                  <a:srgbClr val="EFF1F8"/>
                </a:solidFill>
              </a:rPr>
              <a:t>Msc. Data Science Applied Machine Learning Capstone Project</a:t>
            </a:r>
            <a:endParaRPr sz="7200"/>
          </a:p>
        </p:txBody>
      </p:sp>
      <p:sp>
        <p:nvSpPr>
          <p:cNvPr id="50" name="Google Shape;50;p1"/>
          <p:cNvSpPr txBox="1"/>
          <p:nvPr/>
        </p:nvSpPr>
        <p:spPr>
          <a:xfrm>
            <a:off x="6723622" y="8047725"/>
            <a:ext cx="4824300" cy="3507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2200">
                <a:solidFill>
                  <a:srgbClr val="2C2933"/>
                </a:solidFill>
                <a:latin typeface="Tahoma"/>
                <a:ea typeface="Tahoma"/>
                <a:cs typeface="Tahoma"/>
                <a:sym typeface="Tahoma"/>
              </a:rPr>
              <a:t>G r o u p	N	M e m b e r s :</a:t>
            </a:r>
            <a:endParaRPr sz="2200">
              <a:latin typeface="Tahoma"/>
              <a:ea typeface="Tahoma"/>
              <a:cs typeface="Tahoma"/>
              <a:sym typeface="Tahoma"/>
            </a:endParaRPr>
          </a:p>
        </p:txBody>
      </p:sp>
      <p:sp>
        <p:nvSpPr>
          <p:cNvPr id="51" name="Google Shape;51;p1"/>
          <p:cNvSpPr txBox="1"/>
          <p:nvPr/>
        </p:nvSpPr>
        <p:spPr>
          <a:xfrm>
            <a:off x="12168908" y="8506286"/>
            <a:ext cx="2540100" cy="3507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t/>
            </a:r>
            <a:endParaRPr sz="2200">
              <a:latin typeface="Tahoma"/>
              <a:ea typeface="Tahoma"/>
              <a:cs typeface="Tahoma"/>
              <a:sym typeface="Tahoma"/>
            </a:endParaRPr>
          </a:p>
        </p:txBody>
      </p:sp>
      <p:sp>
        <p:nvSpPr>
          <p:cNvPr id="52" name="Google Shape;52;p1"/>
          <p:cNvSpPr txBox="1"/>
          <p:nvPr/>
        </p:nvSpPr>
        <p:spPr>
          <a:xfrm>
            <a:off x="13946650" y="8047726"/>
            <a:ext cx="1704300" cy="3507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200">
                <a:solidFill>
                  <a:srgbClr val="2C2933"/>
                </a:solidFill>
                <a:latin typeface="Tahoma"/>
                <a:ea typeface="Tahoma"/>
                <a:cs typeface="Tahoma"/>
                <a:sym typeface="Tahoma"/>
              </a:rPr>
              <a:t>- </a:t>
            </a:r>
            <a:endParaRPr sz="2200">
              <a:latin typeface="Tahoma"/>
              <a:ea typeface="Tahoma"/>
              <a:cs typeface="Tahoma"/>
              <a:sym typeface="Tahoma"/>
            </a:endParaRPr>
          </a:p>
        </p:txBody>
      </p:sp>
      <p:pic>
        <p:nvPicPr>
          <p:cNvPr id="53" name="Google Shape;53;p1"/>
          <p:cNvPicPr preferRelativeResize="0"/>
          <p:nvPr/>
        </p:nvPicPr>
        <p:blipFill rotWithShape="1">
          <a:blip r:embed="rId3">
            <a:alphaModFix/>
          </a:blip>
          <a:srcRect b="0" l="0" r="0" t="0"/>
          <a:stretch/>
        </p:blipFill>
        <p:spPr>
          <a:xfrm>
            <a:off x="0" y="0"/>
            <a:ext cx="6194425" cy="10287000"/>
          </a:xfrm>
          <a:prstGeom prst="rect">
            <a:avLst/>
          </a:prstGeom>
          <a:noFill/>
          <a:ln>
            <a:noFill/>
          </a:ln>
        </p:spPr>
      </p:pic>
      <p:sp>
        <p:nvSpPr>
          <p:cNvPr id="54" name="Google Shape;54;p1"/>
          <p:cNvSpPr txBox="1"/>
          <p:nvPr/>
        </p:nvSpPr>
        <p:spPr>
          <a:xfrm>
            <a:off x="6723621" y="8506280"/>
            <a:ext cx="4625400" cy="13788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200">
                <a:solidFill>
                  <a:srgbClr val="2C2933"/>
                </a:solidFill>
                <a:latin typeface="Tahoma"/>
                <a:ea typeface="Tahoma"/>
                <a:cs typeface="Tahoma"/>
                <a:sym typeface="Tahoma"/>
              </a:rPr>
              <a:t>Kevin Obote – 190696</a:t>
            </a:r>
            <a:endParaRPr/>
          </a:p>
          <a:p>
            <a:pPr indent="0" lvl="0" marL="12700" rtl="0" algn="l">
              <a:lnSpc>
                <a:spcPct val="100000"/>
              </a:lnSpc>
              <a:spcBef>
                <a:spcPts val="95"/>
              </a:spcBef>
              <a:spcAft>
                <a:spcPts val="0"/>
              </a:spcAft>
              <a:buNone/>
            </a:pPr>
            <a:r>
              <a:rPr lang="en-US" sz="2200">
                <a:solidFill>
                  <a:srgbClr val="2C2933"/>
                </a:solidFill>
                <a:latin typeface="Tahoma"/>
                <a:ea typeface="Tahoma"/>
                <a:cs typeface="Tahoma"/>
                <a:sym typeface="Tahoma"/>
              </a:rPr>
              <a:t>Alex Gikaru - 168952 </a:t>
            </a:r>
            <a:endParaRPr sz="2200">
              <a:solidFill>
                <a:srgbClr val="2C2933"/>
              </a:solidFill>
              <a:latin typeface="Tahoma"/>
              <a:ea typeface="Tahoma"/>
              <a:cs typeface="Tahoma"/>
              <a:sym typeface="Tahoma"/>
            </a:endParaRPr>
          </a:p>
          <a:p>
            <a:pPr indent="0" lvl="0" marL="12700" rtl="0" algn="l">
              <a:spcBef>
                <a:spcPts val="0"/>
              </a:spcBef>
              <a:spcAft>
                <a:spcPts val="0"/>
              </a:spcAft>
              <a:buNone/>
            </a:pPr>
            <a:r>
              <a:rPr lang="en-US" sz="2200">
                <a:solidFill>
                  <a:srgbClr val="2C2933"/>
                </a:solidFill>
                <a:latin typeface="Tahoma"/>
                <a:ea typeface="Tahoma"/>
                <a:cs typeface="Tahoma"/>
                <a:sym typeface="Tahoma"/>
              </a:rPr>
              <a:t>Adeline Makokha - 191199</a:t>
            </a:r>
            <a:endParaRPr sz="2200">
              <a:solidFill>
                <a:srgbClr val="2C2933"/>
              </a:solidFill>
              <a:latin typeface="Tahoma"/>
              <a:ea typeface="Tahoma"/>
              <a:cs typeface="Tahoma"/>
              <a:sym typeface="Tahoma"/>
            </a:endParaRPr>
          </a:p>
          <a:p>
            <a:pPr indent="0" lvl="0" marL="0" rtl="0" algn="l">
              <a:spcBef>
                <a:spcPts val="0"/>
              </a:spcBef>
              <a:spcAft>
                <a:spcPts val="0"/>
              </a:spcAft>
              <a:buClr>
                <a:schemeClr val="dk1"/>
              </a:buClr>
              <a:buFont typeface="Arial"/>
              <a:buNone/>
            </a:pPr>
            <a:r>
              <a:rPr lang="en-US" sz="2200">
                <a:solidFill>
                  <a:srgbClr val="2C2933"/>
                </a:solidFill>
                <a:latin typeface="Tahoma"/>
                <a:ea typeface="Tahoma"/>
                <a:cs typeface="Tahoma"/>
                <a:sym typeface="Tahoma"/>
              </a:rPr>
              <a:t>Kennedy Mwenda - 193443</a:t>
            </a:r>
            <a:endParaRPr sz="2200">
              <a:solidFill>
                <a:srgbClr val="2C2933"/>
              </a:solidFill>
              <a:latin typeface="Tahoma"/>
              <a:ea typeface="Tahoma"/>
              <a:cs typeface="Tahoma"/>
              <a:sym typeface="Tahoma"/>
            </a:endParaRPr>
          </a:p>
        </p:txBody>
      </p:sp>
      <p:sp>
        <p:nvSpPr>
          <p:cNvPr id="55" name="Google Shape;55;p1"/>
          <p:cNvSpPr txBox="1"/>
          <p:nvPr/>
        </p:nvSpPr>
        <p:spPr>
          <a:xfrm>
            <a:off x="6548377" y="4891729"/>
            <a:ext cx="8333100" cy="1243500"/>
          </a:xfrm>
          <a:prstGeom prst="rect">
            <a:avLst/>
          </a:prstGeom>
          <a:noFill/>
          <a:ln>
            <a:noFill/>
          </a:ln>
        </p:spPr>
        <p:txBody>
          <a:bodyPr anchorCtr="0" anchor="t" bIns="0" lIns="0" spcFirstLastPara="1" rIns="0" wrap="square" tIns="12050">
            <a:spAutoFit/>
          </a:bodyPr>
          <a:lstStyle/>
          <a:p>
            <a:pPr indent="0" lvl="0" marL="12700" marR="5080" rtl="0" algn="l">
              <a:lnSpc>
                <a:spcPct val="100000"/>
              </a:lnSpc>
              <a:spcBef>
                <a:spcPts val="0"/>
              </a:spcBef>
              <a:spcAft>
                <a:spcPts val="0"/>
              </a:spcAft>
              <a:buNone/>
            </a:pPr>
            <a:r>
              <a:rPr b="1" lang="en-US" sz="4000">
                <a:solidFill>
                  <a:srgbClr val="EFF1F8"/>
                </a:solidFill>
                <a:latin typeface="Trebuchet MS"/>
                <a:ea typeface="Trebuchet MS"/>
                <a:cs typeface="Trebuchet MS"/>
                <a:sym typeface="Trebuchet MS"/>
              </a:rPr>
              <a:t>Mortality Prediction In Patients With Acute Kidney Injury (AKI)</a:t>
            </a:r>
            <a:endParaRPr sz="4000">
              <a:latin typeface="Trebuchet MS"/>
              <a:ea typeface="Trebuchet MS"/>
              <a:cs typeface="Trebuchet MS"/>
              <a:sym typeface="Trebuchet MS"/>
            </a:endParaRPr>
          </a:p>
        </p:txBody>
      </p:sp>
      <p:sp>
        <p:nvSpPr>
          <p:cNvPr id="56" name="Google Shape;56;p1"/>
          <p:cNvSpPr txBox="1"/>
          <p:nvPr/>
        </p:nvSpPr>
        <p:spPr>
          <a:xfrm>
            <a:off x="6548373" y="6367348"/>
            <a:ext cx="9601835" cy="289823"/>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i="1" lang="en-US" sz="1800">
                <a:solidFill>
                  <a:srgbClr val="EFF1F8"/>
                </a:solidFill>
                <a:latin typeface="Arial"/>
                <a:ea typeface="Arial"/>
                <a:cs typeface="Arial"/>
                <a:sym typeface="Arial"/>
              </a:rPr>
              <a:t>Link to colab:  https://colab.research.google.com/drive/1pyeVFrx4ISuciS4riEwRkuN1Mta82LTW</a:t>
            </a:r>
            <a:endParaRPr sz="1800">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p:nvPr/>
        </p:nvSpPr>
        <p:spPr>
          <a:xfrm>
            <a:off x="604151" y="1355902"/>
            <a:ext cx="16002000" cy="1216025"/>
          </a:xfrm>
          <a:custGeom>
            <a:rect b="b" l="l" r="r" t="t"/>
            <a:pathLst>
              <a:path extrusionOk="0" h="1216025" w="16002000">
                <a:moveTo>
                  <a:pt x="16002000" y="0"/>
                </a:moveTo>
                <a:lnTo>
                  <a:pt x="0" y="0"/>
                </a:lnTo>
                <a:lnTo>
                  <a:pt x="0" y="1215847"/>
                </a:lnTo>
                <a:lnTo>
                  <a:pt x="16002000" y="1215847"/>
                </a:lnTo>
                <a:lnTo>
                  <a:pt x="16002000" y="0"/>
                </a:lnTo>
                <a:close/>
              </a:path>
            </a:pathLst>
          </a:custGeom>
          <a:solidFill>
            <a:srgbClr val="F1F1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2" name="Google Shape;62;p2"/>
          <p:cNvSpPr txBox="1"/>
          <p:nvPr/>
        </p:nvSpPr>
        <p:spPr>
          <a:xfrm>
            <a:off x="699617" y="1468373"/>
            <a:ext cx="15812135" cy="985519"/>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b="1" lang="en-US" sz="2100">
                <a:solidFill>
                  <a:srgbClr val="00007E"/>
                </a:solidFill>
                <a:latin typeface="Tahoma"/>
                <a:ea typeface="Tahoma"/>
                <a:cs typeface="Tahoma"/>
                <a:sym typeface="Tahoma"/>
              </a:rPr>
              <a:t>Introduction: </a:t>
            </a:r>
            <a:r>
              <a:rPr lang="en-US" sz="2100">
                <a:solidFill>
                  <a:srgbClr val="00007E"/>
                </a:solidFill>
                <a:latin typeface="Tahoma"/>
                <a:ea typeface="Tahoma"/>
                <a:cs typeface="Tahoma"/>
                <a:sym typeface="Tahoma"/>
              </a:rPr>
              <a:t>Acute Kidney Injury (AKI) is a critical condition commonly observed in ICU patients, with significant implications for in- hospital mortality. This project aims to leverage clinical data to predict mortality outcomes, enabling improved decision-making and resource allocation in intensive care units.</a:t>
            </a:r>
            <a:endParaRPr sz="2100">
              <a:latin typeface="Tahoma"/>
              <a:ea typeface="Tahoma"/>
              <a:cs typeface="Tahoma"/>
              <a:sym typeface="Tahoma"/>
            </a:endParaRPr>
          </a:p>
        </p:txBody>
      </p:sp>
      <p:sp>
        <p:nvSpPr>
          <p:cNvPr id="63" name="Google Shape;63;p2"/>
          <p:cNvSpPr txBox="1"/>
          <p:nvPr/>
        </p:nvSpPr>
        <p:spPr>
          <a:xfrm>
            <a:off x="3672966" y="3097833"/>
            <a:ext cx="12854400" cy="2667900"/>
          </a:xfrm>
          <a:prstGeom prst="rect">
            <a:avLst/>
          </a:prstGeom>
          <a:noFill/>
          <a:ln>
            <a:noFill/>
          </a:ln>
        </p:spPr>
        <p:txBody>
          <a:bodyPr anchorCtr="0" anchor="t" bIns="0" lIns="0" spcFirstLastPara="1" rIns="0" wrap="square" tIns="12700">
            <a:spAutoFit/>
          </a:bodyPr>
          <a:lstStyle/>
          <a:p>
            <a:pPr indent="-285115" lvl="0" marL="297180" marR="5080" rtl="0" algn="just">
              <a:lnSpc>
                <a:spcPct val="100000"/>
              </a:lnSpc>
              <a:spcBef>
                <a:spcPts val="0"/>
              </a:spcBef>
              <a:spcAft>
                <a:spcPts val="0"/>
              </a:spcAft>
              <a:buClr>
                <a:srgbClr val="5F5F5F"/>
              </a:buClr>
              <a:buSzPts val="2000"/>
              <a:buFont typeface="Calibri"/>
              <a:buChar char="–"/>
            </a:pPr>
            <a:r>
              <a:rPr b="1" lang="en-US" sz="2000">
                <a:solidFill>
                  <a:srgbClr val="5F5F5F"/>
                </a:solidFill>
                <a:latin typeface="Tahoma"/>
                <a:ea typeface="Tahoma"/>
                <a:cs typeface="Tahoma"/>
                <a:sym typeface="Tahoma"/>
              </a:rPr>
              <a:t>To d</a:t>
            </a:r>
            <a:r>
              <a:rPr b="1" lang="en-US" sz="2000">
                <a:solidFill>
                  <a:srgbClr val="5F5F5F"/>
                </a:solidFill>
                <a:latin typeface="Tahoma"/>
                <a:ea typeface="Tahoma"/>
                <a:cs typeface="Tahoma"/>
                <a:sym typeface="Tahoma"/>
              </a:rPr>
              <a:t>evelop a robust predictive model to accurately </a:t>
            </a:r>
            <a:r>
              <a:rPr b="1" lang="en-US" sz="2000" u="sng">
                <a:solidFill>
                  <a:srgbClr val="5F5F5F"/>
                </a:solidFill>
                <a:latin typeface="Tahoma"/>
                <a:ea typeface="Tahoma"/>
                <a:cs typeface="Tahoma"/>
                <a:sym typeface="Tahoma"/>
              </a:rPr>
              <a:t>estimate in-hospital mortality for ICU patients diagnosed with Acute</a:t>
            </a:r>
            <a:r>
              <a:rPr b="1" lang="en-US" sz="2000">
                <a:solidFill>
                  <a:srgbClr val="5F5F5F"/>
                </a:solidFill>
                <a:latin typeface="Tahoma"/>
                <a:ea typeface="Tahoma"/>
                <a:cs typeface="Tahoma"/>
                <a:sym typeface="Tahoma"/>
              </a:rPr>
              <a:t> </a:t>
            </a:r>
            <a:r>
              <a:rPr b="1" lang="en-US" sz="2000" u="sng">
                <a:solidFill>
                  <a:srgbClr val="5F5F5F"/>
                </a:solidFill>
                <a:latin typeface="Tahoma"/>
                <a:ea typeface="Tahoma"/>
                <a:cs typeface="Tahoma"/>
                <a:sym typeface="Tahoma"/>
              </a:rPr>
              <a:t>Kidney Injury (AKI)</a:t>
            </a:r>
            <a:endParaRPr sz="2000">
              <a:latin typeface="Tahoma"/>
              <a:ea typeface="Tahoma"/>
              <a:cs typeface="Tahoma"/>
              <a:sym typeface="Tahoma"/>
            </a:endParaRPr>
          </a:p>
          <a:p>
            <a:pPr indent="-285115" lvl="0" marL="297180" marR="5080" rtl="0" algn="just">
              <a:lnSpc>
                <a:spcPct val="100000"/>
              </a:lnSpc>
              <a:spcBef>
                <a:spcPts val="505"/>
              </a:spcBef>
              <a:spcAft>
                <a:spcPts val="0"/>
              </a:spcAft>
              <a:buClr>
                <a:srgbClr val="5F5F5F"/>
              </a:buClr>
              <a:buSzPts val="2000"/>
              <a:buFont typeface="Calibri"/>
              <a:buChar char="–"/>
            </a:pPr>
            <a:r>
              <a:rPr b="1" lang="en-US" sz="2000">
                <a:solidFill>
                  <a:srgbClr val="5F5F5F"/>
                </a:solidFill>
                <a:latin typeface="Tahoma"/>
                <a:ea typeface="Tahoma"/>
                <a:cs typeface="Tahoma"/>
                <a:sym typeface="Tahoma"/>
              </a:rPr>
              <a:t>To i</a:t>
            </a:r>
            <a:r>
              <a:rPr b="1" lang="en-US" sz="2000">
                <a:solidFill>
                  <a:srgbClr val="5F5F5F"/>
                </a:solidFill>
                <a:latin typeface="Tahoma"/>
                <a:ea typeface="Tahoma"/>
                <a:cs typeface="Tahoma"/>
                <a:sym typeface="Tahoma"/>
              </a:rPr>
              <a:t>dentify and prioritize key clinical variables that significantly influence mortality outcomes, supporting early intervention strategies.</a:t>
            </a:r>
            <a:endParaRPr sz="2000">
              <a:latin typeface="Tahoma"/>
              <a:ea typeface="Tahoma"/>
              <a:cs typeface="Tahoma"/>
              <a:sym typeface="Tahoma"/>
            </a:endParaRPr>
          </a:p>
          <a:p>
            <a:pPr indent="-284480" lvl="0" marL="297180" rtl="0" algn="just">
              <a:lnSpc>
                <a:spcPct val="100000"/>
              </a:lnSpc>
              <a:spcBef>
                <a:spcPts val="490"/>
              </a:spcBef>
              <a:spcAft>
                <a:spcPts val="0"/>
              </a:spcAft>
              <a:buClr>
                <a:srgbClr val="5F5F5F"/>
              </a:buClr>
              <a:buSzPts val="2000"/>
              <a:buFont typeface="Calibri"/>
              <a:buChar char="–"/>
            </a:pPr>
            <a:r>
              <a:rPr b="1" lang="en-US" sz="2000">
                <a:solidFill>
                  <a:srgbClr val="5F5F5F"/>
                </a:solidFill>
                <a:latin typeface="Tahoma"/>
                <a:ea typeface="Tahoma"/>
                <a:cs typeface="Tahoma"/>
                <a:sym typeface="Tahoma"/>
              </a:rPr>
              <a:t>To e</a:t>
            </a:r>
            <a:r>
              <a:rPr b="1" lang="en-US" sz="2000">
                <a:solidFill>
                  <a:srgbClr val="5F5F5F"/>
                </a:solidFill>
                <a:latin typeface="Tahoma"/>
                <a:ea typeface="Tahoma"/>
                <a:cs typeface="Tahoma"/>
                <a:sym typeface="Tahoma"/>
              </a:rPr>
              <a:t>nhance understanding of AKI trajectories, to aid clinicians in resource allocation and personalized patient care.</a:t>
            </a:r>
            <a:endParaRPr sz="2000">
              <a:latin typeface="Tahoma"/>
              <a:ea typeface="Tahoma"/>
              <a:cs typeface="Tahoma"/>
              <a:sym typeface="Tahoma"/>
            </a:endParaRPr>
          </a:p>
          <a:p>
            <a:pPr indent="-284480" lvl="0" marL="297180" rtl="0" algn="just">
              <a:lnSpc>
                <a:spcPct val="100000"/>
              </a:lnSpc>
              <a:spcBef>
                <a:spcPts val="505"/>
              </a:spcBef>
              <a:spcAft>
                <a:spcPts val="0"/>
              </a:spcAft>
              <a:buClr>
                <a:srgbClr val="5F5F5F"/>
              </a:buClr>
              <a:buSzPts val="2000"/>
              <a:buFont typeface="Calibri"/>
              <a:buChar char="–"/>
            </a:pPr>
            <a:r>
              <a:rPr b="1" lang="en-US" sz="2000">
                <a:solidFill>
                  <a:srgbClr val="5F5F5F"/>
                </a:solidFill>
                <a:latin typeface="Tahoma"/>
                <a:ea typeface="Tahoma"/>
                <a:cs typeface="Tahoma"/>
                <a:sym typeface="Tahoma"/>
              </a:rPr>
              <a:t>To p</a:t>
            </a:r>
            <a:r>
              <a:rPr b="1" lang="en-US" sz="2000">
                <a:solidFill>
                  <a:srgbClr val="5F5F5F"/>
                </a:solidFill>
                <a:latin typeface="Tahoma"/>
                <a:ea typeface="Tahoma"/>
                <a:cs typeface="Tahoma"/>
                <a:sym typeface="Tahoma"/>
              </a:rPr>
              <a:t>rovide a foundation for integrating predictive analytics into ICU decision-making processes to improve patient outcomes.</a:t>
            </a:r>
            <a:endParaRPr sz="2000">
              <a:latin typeface="Tahoma"/>
              <a:ea typeface="Tahoma"/>
              <a:cs typeface="Tahoma"/>
              <a:sym typeface="Tahoma"/>
            </a:endParaRPr>
          </a:p>
        </p:txBody>
      </p:sp>
      <p:sp>
        <p:nvSpPr>
          <p:cNvPr id="64" name="Google Shape;64;p2"/>
          <p:cNvSpPr txBox="1"/>
          <p:nvPr/>
        </p:nvSpPr>
        <p:spPr>
          <a:xfrm>
            <a:off x="727684" y="3240532"/>
            <a:ext cx="2494280" cy="2538730"/>
          </a:xfrm>
          <a:prstGeom prst="rect">
            <a:avLst/>
          </a:prstGeom>
          <a:solidFill>
            <a:srgbClr val="00007E"/>
          </a:solid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2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100">
              <a:latin typeface="Times New Roman"/>
              <a:ea typeface="Times New Roman"/>
              <a:cs typeface="Times New Roman"/>
              <a:sym typeface="Times New Roman"/>
            </a:endParaRPr>
          </a:p>
          <a:p>
            <a:pPr indent="0" lvl="0" marL="0" rtl="0" algn="l">
              <a:lnSpc>
                <a:spcPct val="100000"/>
              </a:lnSpc>
              <a:spcBef>
                <a:spcPts val="1470"/>
              </a:spcBef>
              <a:spcAft>
                <a:spcPts val="0"/>
              </a:spcAft>
              <a:buNone/>
            </a:pPr>
            <a:r>
              <a:t/>
            </a:r>
            <a:endParaRPr sz="2100">
              <a:latin typeface="Times New Roman"/>
              <a:ea typeface="Times New Roman"/>
              <a:cs typeface="Times New Roman"/>
              <a:sym typeface="Times New Roman"/>
            </a:endParaRPr>
          </a:p>
          <a:p>
            <a:pPr indent="0" lvl="0" marL="612775" rtl="0" algn="l">
              <a:lnSpc>
                <a:spcPct val="100000"/>
              </a:lnSpc>
              <a:spcBef>
                <a:spcPts val="0"/>
              </a:spcBef>
              <a:spcAft>
                <a:spcPts val="0"/>
              </a:spcAft>
              <a:buNone/>
            </a:pPr>
            <a:r>
              <a:rPr b="1" lang="en-US" sz="2100">
                <a:solidFill>
                  <a:srgbClr val="FDFDFF"/>
                </a:solidFill>
                <a:latin typeface="Tahoma"/>
                <a:ea typeface="Tahoma"/>
                <a:cs typeface="Tahoma"/>
                <a:sym typeface="Tahoma"/>
              </a:rPr>
              <a:t>Objectives</a:t>
            </a:r>
            <a:endParaRPr sz="2100">
              <a:latin typeface="Tahoma"/>
              <a:ea typeface="Tahoma"/>
              <a:cs typeface="Tahoma"/>
              <a:sym typeface="Tahoma"/>
            </a:endParaRPr>
          </a:p>
        </p:txBody>
      </p:sp>
      <p:sp>
        <p:nvSpPr>
          <p:cNvPr id="65" name="Google Shape;65;p2"/>
          <p:cNvSpPr txBox="1"/>
          <p:nvPr/>
        </p:nvSpPr>
        <p:spPr>
          <a:xfrm>
            <a:off x="727684" y="6922985"/>
            <a:ext cx="2494280" cy="2469515"/>
          </a:xfrm>
          <a:prstGeom prst="rect">
            <a:avLst/>
          </a:prstGeom>
          <a:solidFill>
            <a:srgbClr val="00007E"/>
          </a:solid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t/>
            </a:r>
            <a:endParaRPr sz="2100">
              <a:latin typeface="Times New Roman"/>
              <a:ea typeface="Times New Roman"/>
              <a:cs typeface="Times New Roman"/>
              <a:sym typeface="Times New Roman"/>
            </a:endParaRPr>
          </a:p>
          <a:p>
            <a:pPr indent="0" lvl="0" marL="0" rtl="0" algn="l">
              <a:lnSpc>
                <a:spcPct val="100000"/>
              </a:lnSpc>
              <a:spcBef>
                <a:spcPts val="0"/>
              </a:spcBef>
              <a:spcAft>
                <a:spcPts val="0"/>
              </a:spcAft>
              <a:buNone/>
            </a:pPr>
            <a:r>
              <a:t/>
            </a:r>
            <a:endParaRPr sz="2100">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t/>
            </a:r>
            <a:endParaRPr sz="2100">
              <a:latin typeface="Times New Roman"/>
              <a:ea typeface="Times New Roman"/>
              <a:cs typeface="Times New Roman"/>
              <a:sym typeface="Times New Roman"/>
            </a:endParaRPr>
          </a:p>
          <a:p>
            <a:pPr indent="0" lvl="0" marL="175260" rtl="0" algn="l">
              <a:lnSpc>
                <a:spcPct val="100000"/>
              </a:lnSpc>
              <a:spcBef>
                <a:spcPts val="0"/>
              </a:spcBef>
              <a:spcAft>
                <a:spcPts val="0"/>
              </a:spcAft>
              <a:buNone/>
            </a:pPr>
            <a:r>
              <a:rPr b="1" lang="en-US" sz="2100">
                <a:solidFill>
                  <a:srgbClr val="FDFDFF"/>
                </a:solidFill>
                <a:latin typeface="Tahoma"/>
                <a:ea typeface="Tahoma"/>
                <a:cs typeface="Tahoma"/>
                <a:sym typeface="Tahoma"/>
              </a:rPr>
              <a:t>About the dataset</a:t>
            </a:r>
            <a:endParaRPr sz="2100">
              <a:latin typeface="Tahoma"/>
              <a:ea typeface="Tahoma"/>
              <a:cs typeface="Tahoma"/>
              <a:sym typeface="Tahoma"/>
            </a:endParaRPr>
          </a:p>
        </p:txBody>
      </p:sp>
      <p:sp>
        <p:nvSpPr>
          <p:cNvPr id="66" name="Google Shape;66;p2"/>
          <p:cNvSpPr/>
          <p:nvPr/>
        </p:nvSpPr>
        <p:spPr>
          <a:xfrm>
            <a:off x="727684" y="6625208"/>
            <a:ext cx="14396719" cy="0"/>
          </a:xfrm>
          <a:custGeom>
            <a:rect b="b" l="l" r="r" t="t"/>
            <a:pathLst>
              <a:path extrusionOk="0" h="120000" w="14396719">
                <a:moveTo>
                  <a:pt x="0" y="0"/>
                </a:moveTo>
                <a:lnTo>
                  <a:pt x="14396491" y="0"/>
                </a:lnTo>
              </a:path>
            </a:pathLst>
          </a:custGeom>
          <a:noFill/>
          <a:ln cap="flat" cmpd="sng" w="9525">
            <a:solidFill>
              <a:srgbClr val="5F5F5F"/>
            </a:solidFill>
            <a:prstDash val="lgDash"/>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67" name="Google Shape;67;p2"/>
          <p:cNvSpPr txBox="1"/>
          <p:nvPr/>
        </p:nvSpPr>
        <p:spPr>
          <a:xfrm>
            <a:off x="3672966" y="7053453"/>
            <a:ext cx="12854305" cy="936154"/>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lang="en-US" sz="2000">
                <a:solidFill>
                  <a:srgbClr val="5F5F5F"/>
                </a:solidFill>
                <a:latin typeface="Tahoma"/>
                <a:ea typeface="Tahoma"/>
                <a:cs typeface="Tahoma"/>
                <a:sym typeface="Tahoma"/>
              </a:rPr>
              <a:t>The dataset is sourced from the MIMIC-III database, a publicly available repository of de-identified health data from ICU patients. It includes detailed clinical variables capturing the progression of AKI in the ICU, such as vital signs, laboratory results, medication use, and comorbidities.</a:t>
            </a:r>
            <a:endParaRPr sz="2000">
              <a:latin typeface="Tahoma"/>
              <a:ea typeface="Tahoma"/>
              <a:cs typeface="Tahoma"/>
              <a:sym typeface="Tahoma"/>
            </a:endParaRPr>
          </a:p>
        </p:txBody>
      </p:sp>
      <p:sp>
        <p:nvSpPr>
          <p:cNvPr id="68" name="Google Shape;68;p2"/>
          <p:cNvSpPr txBox="1"/>
          <p:nvPr/>
        </p:nvSpPr>
        <p:spPr>
          <a:xfrm>
            <a:off x="3672966" y="8277606"/>
            <a:ext cx="13189585" cy="112082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2400">
                <a:solidFill>
                  <a:srgbClr val="5F5F5F"/>
                </a:solidFill>
                <a:latin typeface="Tahoma"/>
                <a:ea typeface="Tahoma"/>
                <a:cs typeface="Tahoma"/>
                <a:sym typeface="Tahoma"/>
              </a:rPr>
              <a:t>The </a:t>
            </a:r>
            <a:r>
              <a:rPr b="1" lang="en-US" sz="2400" u="sng">
                <a:solidFill>
                  <a:srgbClr val="5F5F5F"/>
                </a:solidFill>
                <a:latin typeface="Tahoma"/>
                <a:ea typeface="Tahoma"/>
                <a:cs typeface="Tahoma"/>
                <a:sym typeface="Tahoma"/>
              </a:rPr>
              <a:t>target variable, in-hospital mortality (IMH), is binary (1 = mortality, 0 = survival),</a:t>
            </a:r>
            <a:r>
              <a:rPr b="1" lang="en-US" sz="2400">
                <a:solidFill>
                  <a:srgbClr val="5F5F5F"/>
                </a:solidFill>
                <a:latin typeface="Tahoma"/>
                <a:ea typeface="Tahoma"/>
                <a:cs typeface="Tahoma"/>
                <a:sym typeface="Tahoma"/>
              </a:rPr>
              <a:t> </a:t>
            </a:r>
            <a:r>
              <a:rPr lang="en-US" sz="2400">
                <a:solidFill>
                  <a:srgbClr val="5F5F5F"/>
                </a:solidFill>
                <a:latin typeface="Tahoma"/>
                <a:ea typeface="Tahoma"/>
                <a:cs typeface="Tahoma"/>
                <a:sym typeface="Tahoma"/>
              </a:rPr>
              <a:t>enabling the development of classification models to predict outcomes based on patient trajectories.</a:t>
            </a:r>
            <a:endParaRPr sz="2400">
              <a:latin typeface="Tahoma"/>
              <a:ea typeface="Tahoma"/>
              <a:cs typeface="Tahoma"/>
              <a:sym typeface="Tahoma"/>
            </a:endParaRPr>
          </a:p>
        </p:txBody>
      </p:sp>
      <p:sp>
        <p:nvSpPr>
          <p:cNvPr id="69" name="Google Shape;69;p2"/>
          <p:cNvSpPr txBox="1"/>
          <p:nvPr>
            <p:ph type="title"/>
          </p:nvPr>
        </p:nvSpPr>
        <p:spPr>
          <a:xfrm>
            <a:off x="486257" y="371602"/>
            <a:ext cx="8726728" cy="51257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700">
                <a:solidFill>
                  <a:srgbClr val="EFF1F8"/>
                </a:solidFill>
                <a:latin typeface="Tahoma"/>
                <a:ea typeface="Tahoma"/>
                <a:cs typeface="Tahoma"/>
                <a:sym typeface="Tahoma"/>
              </a:rPr>
              <a:t>Introduction and Objectives</a:t>
            </a:r>
            <a:endParaRPr sz="2700">
              <a:latin typeface="Tahoma"/>
              <a:ea typeface="Tahoma"/>
              <a:cs typeface="Tahoma"/>
              <a:sym typeface="Tahoma"/>
            </a:endParaRPr>
          </a:p>
        </p:txBody>
      </p:sp>
      <p:sp>
        <p:nvSpPr>
          <p:cNvPr id="70" name="Google Shape;70;p2"/>
          <p:cNvSpPr txBox="1"/>
          <p:nvPr/>
        </p:nvSpPr>
        <p:spPr>
          <a:xfrm>
            <a:off x="17539462" y="9798202"/>
            <a:ext cx="12890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00007E"/>
                </a:solidFill>
                <a:latin typeface="Tahoma"/>
                <a:ea typeface="Tahoma"/>
                <a:cs typeface="Tahoma"/>
                <a:sym typeface="Tahoma"/>
              </a:rPr>
              <a:t>2</a:t>
            </a:r>
            <a:endParaRPr sz="1400">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3"/>
          <p:cNvSpPr txBox="1"/>
          <p:nvPr/>
        </p:nvSpPr>
        <p:spPr>
          <a:xfrm>
            <a:off x="17539462" y="9798202"/>
            <a:ext cx="12890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00007E"/>
                </a:solidFill>
                <a:latin typeface="Tahoma"/>
                <a:ea typeface="Tahoma"/>
                <a:cs typeface="Tahoma"/>
                <a:sym typeface="Tahoma"/>
              </a:rPr>
              <a:t>3</a:t>
            </a:r>
            <a:endParaRPr sz="1400">
              <a:latin typeface="Tahoma"/>
              <a:ea typeface="Tahoma"/>
              <a:cs typeface="Tahoma"/>
              <a:sym typeface="Tahoma"/>
            </a:endParaRPr>
          </a:p>
        </p:txBody>
      </p:sp>
      <p:sp>
        <p:nvSpPr>
          <p:cNvPr id="76" name="Google Shape;76;p3"/>
          <p:cNvSpPr txBox="1"/>
          <p:nvPr>
            <p:ph type="title"/>
          </p:nvPr>
        </p:nvSpPr>
        <p:spPr>
          <a:xfrm>
            <a:off x="486257" y="371602"/>
            <a:ext cx="8726728" cy="51257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700">
                <a:solidFill>
                  <a:srgbClr val="EFF1F8"/>
                </a:solidFill>
                <a:latin typeface="Tahoma"/>
                <a:ea typeface="Tahoma"/>
                <a:cs typeface="Tahoma"/>
                <a:sym typeface="Tahoma"/>
              </a:rPr>
              <a:t>Key variables</a:t>
            </a:r>
            <a:endParaRPr sz="2700">
              <a:latin typeface="Tahoma"/>
              <a:ea typeface="Tahoma"/>
              <a:cs typeface="Tahoma"/>
              <a:sym typeface="Tahoma"/>
            </a:endParaRPr>
          </a:p>
        </p:txBody>
      </p:sp>
      <p:grpSp>
        <p:nvGrpSpPr>
          <p:cNvPr id="77" name="Google Shape;77;p3"/>
          <p:cNvGrpSpPr/>
          <p:nvPr/>
        </p:nvGrpSpPr>
        <p:grpSpPr>
          <a:xfrm>
            <a:off x="211836" y="1289342"/>
            <a:ext cx="6288405" cy="8269224"/>
            <a:chOff x="211836" y="1289342"/>
            <a:chExt cx="6288405" cy="8269224"/>
          </a:xfrm>
        </p:grpSpPr>
        <p:pic>
          <p:nvPicPr>
            <p:cNvPr id="78" name="Google Shape;78;p3"/>
            <p:cNvPicPr preferRelativeResize="0"/>
            <p:nvPr/>
          </p:nvPicPr>
          <p:blipFill rotWithShape="1">
            <a:blip r:embed="rId3">
              <a:alphaModFix/>
            </a:blip>
            <a:srcRect b="0" l="0" r="0" t="0"/>
            <a:stretch/>
          </p:blipFill>
          <p:spPr>
            <a:xfrm>
              <a:off x="211836" y="1289342"/>
              <a:ext cx="5356860" cy="8269224"/>
            </a:xfrm>
            <a:prstGeom prst="rect">
              <a:avLst/>
            </a:prstGeom>
            <a:noFill/>
            <a:ln>
              <a:noFill/>
            </a:ln>
          </p:spPr>
        </p:pic>
        <p:pic>
          <p:nvPicPr>
            <p:cNvPr id="79" name="Google Shape;79;p3"/>
            <p:cNvPicPr preferRelativeResize="0"/>
            <p:nvPr/>
          </p:nvPicPr>
          <p:blipFill rotWithShape="1">
            <a:blip r:embed="rId4">
              <a:alphaModFix/>
            </a:blip>
            <a:srcRect b="0" l="0" r="0" t="0"/>
            <a:stretch/>
          </p:blipFill>
          <p:spPr>
            <a:xfrm>
              <a:off x="407352" y="1485201"/>
              <a:ext cx="4787392" cy="7698358"/>
            </a:xfrm>
            <a:prstGeom prst="rect">
              <a:avLst/>
            </a:prstGeom>
            <a:noFill/>
            <a:ln>
              <a:noFill/>
            </a:ln>
          </p:spPr>
        </p:pic>
        <p:sp>
          <p:nvSpPr>
            <p:cNvPr id="80" name="Google Shape;80;p3"/>
            <p:cNvSpPr/>
            <p:nvPr/>
          </p:nvSpPr>
          <p:spPr>
            <a:xfrm>
              <a:off x="5954776" y="1859661"/>
              <a:ext cx="545465" cy="545465"/>
            </a:xfrm>
            <a:custGeom>
              <a:rect b="b" l="l" r="r" t="t"/>
              <a:pathLst>
                <a:path extrusionOk="0" h="545464" w="545464">
                  <a:moveTo>
                    <a:pt x="272669" y="0"/>
                  </a:moveTo>
                  <a:lnTo>
                    <a:pt x="223648" y="4392"/>
                  </a:lnTo>
                  <a:lnTo>
                    <a:pt x="177513" y="17055"/>
                  </a:lnTo>
                  <a:lnTo>
                    <a:pt x="135033" y="37220"/>
                  </a:lnTo>
                  <a:lnTo>
                    <a:pt x="96979" y="64118"/>
                  </a:lnTo>
                  <a:lnTo>
                    <a:pt x="64118" y="96979"/>
                  </a:lnTo>
                  <a:lnTo>
                    <a:pt x="37220" y="135033"/>
                  </a:lnTo>
                  <a:lnTo>
                    <a:pt x="17055" y="177513"/>
                  </a:lnTo>
                  <a:lnTo>
                    <a:pt x="4392" y="223648"/>
                  </a:lnTo>
                  <a:lnTo>
                    <a:pt x="0" y="272669"/>
                  </a:lnTo>
                  <a:lnTo>
                    <a:pt x="4392" y="321656"/>
                  </a:lnTo>
                  <a:lnTo>
                    <a:pt x="17055" y="367773"/>
                  </a:lnTo>
                  <a:lnTo>
                    <a:pt x="37220" y="410247"/>
                  </a:lnTo>
                  <a:lnTo>
                    <a:pt x="64118" y="448306"/>
                  </a:lnTo>
                  <a:lnTo>
                    <a:pt x="96979" y="481178"/>
                  </a:lnTo>
                  <a:lnTo>
                    <a:pt x="135033" y="508089"/>
                  </a:lnTo>
                  <a:lnTo>
                    <a:pt x="177513" y="528268"/>
                  </a:lnTo>
                  <a:lnTo>
                    <a:pt x="223648" y="540941"/>
                  </a:lnTo>
                  <a:lnTo>
                    <a:pt x="272669" y="545338"/>
                  </a:lnTo>
                  <a:lnTo>
                    <a:pt x="321689" y="540941"/>
                  </a:lnTo>
                  <a:lnTo>
                    <a:pt x="367824" y="528268"/>
                  </a:lnTo>
                  <a:lnTo>
                    <a:pt x="410304" y="508089"/>
                  </a:lnTo>
                  <a:lnTo>
                    <a:pt x="448358" y="481178"/>
                  </a:lnTo>
                  <a:lnTo>
                    <a:pt x="481219" y="448306"/>
                  </a:lnTo>
                  <a:lnTo>
                    <a:pt x="508117" y="410247"/>
                  </a:lnTo>
                  <a:lnTo>
                    <a:pt x="528282" y="367773"/>
                  </a:lnTo>
                  <a:lnTo>
                    <a:pt x="540945" y="321656"/>
                  </a:lnTo>
                  <a:lnTo>
                    <a:pt x="545338" y="272669"/>
                  </a:lnTo>
                  <a:lnTo>
                    <a:pt x="540945" y="223648"/>
                  </a:lnTo>
                  <a:lnTo>
                    <a:pt x="528282" y="177513"/>
                  </a:lnTo>
                  <a:lnTo>
                    <a:pt x="508117" y="135033"/>
                  </a:lnTo>
                  <a:lnTo>
                    <a:pt x="481219" y="96979"/>
                  </a:lnTo>
                  <a:lnTo>
                    <a:pt x="448358" y="64118"/>
                  </a:lnTo>
                  <a:lnTo>
                    <a:pt x="410304" y="37220"/>
                  </a:lnTo>
                  <a:lnTo>
                    <a:pt x="367824" y="17055"/>
                  </a:lnTo>
                  <a:lnTo>
                    <a:pt x="321689" y="4392"/>
                  </a:lnTo>
                  <a:lnTo>
                    <a:pt x="272669" y="0"/>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1" name="Google Shape;81;p3"/>
            <p:cNvPicPr preferRelativeResize="0"/>
            <p:nvPr/>
          </p:nvPicPr>
          <p:blipFill rotWithShape="1">
            <a:blip r:embed="rId5">
              <a:alphaModFix/>
            </a:blip>
            <a:srcRect b="0" l="0" r="0" t="0"/>
            <a:stretch/>
          </p:blipFill>
          <p:spPr>
            <a:xfrm>
              <a:off x="5576868" y="5700336"/>
              <a:ext cx="149188" cy="139100"/>
            </a:xfrm>
            <a:prstGeom prst="rect">
              <a:avLst/>
            </a:prstGeom>
            <a:noFill/>
            <a:ln>
              <a:noFill/>
            </a:ln>
          </p:spPr>
        </p:pic>
        <p:sp>
          <p:nvSpPr>
            <p:cNvPr id="82" name="Google Shape;82;p3"/>
            <p:cNvSpPr/>
            <p:nvPr/>
          </p:nvSpPr>
          <p:spPr>
            <a:xfrm>
              <a:off x="5473191" y="5619156"/>
              <a:ext cx="255270" cy="259715"/>
            </a:xfrm>
            <a:custGeom>
              <a:rect b="b" l="l" r="r" t="t"/>
              <a:pathLst>
                <a:path extrusionOk="0" h="259714" w="255270">
                  <a:moveTo>
                    <a:pt x="29319" y="102315"/>
                  </a:moveTo>
                  <a:lnTo>
                    <a:pt x="40352" y="139023"/>
                  </a:lnTo>
                  <a:lnTo>
                    <a:pt x="60656" y="166895"/>
                  </a:lnTo>
                  <a:lnTo>
                    <a:pt x="0" y="227609"/>
                  </a:lnTo>
                  <a:lnTo>
                    <a:pt x="0" y="236551"/>
                  </a:lnTo>
                  <a:lnTo>
                    <a:pt x="23014" y="259577"/>
                  </a:lnTo>
                  <a:lnTo>
                    <a:pt x="31949" y="259577"/>
                  </a:lnTo>
                  <a:lnTo>
                    <a:pt x="47673" y="243831"/>
                  </a:lnTo>
                  <a:lnTo>
                    <a:pt x="23245" y="243831"/>
                  </a:lnTo>
                  <a:lnTo>
                    <a:pt x="15737" y="236320"/>
                  </a:lnTo>
                  <a:lnTo>
                    <a:pt x="55160" y="236320"/>
                  </a:lnTo>
                  <a:lnTo>
                    <a:pt x="63613" y="227840"/>
                  </a:lnTo>
                  <a:lnTo>
                    <a:pt x="15737" y="227840"/>
                  </a:lnTo>
                  <a:lnTo>
                    <a:pt x="23245" y="220328"/>
                  </a:lnTo>
                  <a:lnTo>
                    <a:pt x="31719" y="220328"/>
                  </a:lnTo>
                  <a:lnTo>
                    <a:pt x="31718" y="218330"/>
                  </a:lnTo>
                  <a:lnTo>
                    <a:pt x="73093" y="218330"/>
                  </a:lnTo>
                  <a:lnTo>
                    <a:pt x="81546" y="209850"/>
                  </a:lnTo>
                  <a:lnTo>
                    <a:pt x="33717" y="209850"/>
                  </a:lnTo>
                  <a:lnTo>
                    <a:pt x="41223" y="202340"/>
                  </a:lnTo>
                  <a:lnTo>
                    <a:pt x="49699" y="202340"/>
                  </a:lnTo>
                  <a:lnTo>
                    <a:pt x="49699" y="200342"/>
                  </a:lnTo>
                  <a:lnTo>
                    <a:pt x="91023" y="200343"/>
                  </a:lnTo>
                  <a:lnTo>
                    <a:pt x="95757" y="195594"/>
                  </a:lnTo>
                  <a:lnTo>
                    <a:pt x="110455" y="191862"/>
                  </a:lnTo>
                  <a:lnTo>
                    <a:pt x="51698" y="191862"/>
                  </a:lnTo>
                  <a:lnTo>
                    <a:pt x="59201" y="184352"/>
                  </a:lnTo>
                  <a:lnTo>
                    <a:pt x="91192" y="184352"/>
                  </a:lnTo>
                  <a:lnTo>
                    <a:pt x="109587" y="168866"/>
                  </a:lnTo>
                  <a:lnTo>
                    <a:pt x="72046" y="168866"/>
                  </a:lnTo>
                  <a:lnTo>
                    <a:pt x="73974" y="163808"/>
                  </a:lnTo>
                  <a:lnTo>
                    <a:pt x="74942" y="161093"/>
                  </a:lnTo>
                  <a:lnTo>
                    <a:pt x="62900" y="161093"/>
                  </a:lnTo>
                  <a:lnTo>
                    <a:pt x="60987" y="153644"/>
                  </a:lnTo>
                  <a:lnTo>
                    <a:pt x="58692" y="146493"/>
                  </a:lnTo>
                  <a:lnTo>
                    <a:pt x="36114" y="108881"/>
                  </a:lnTo>
                  <a:lnTo>
                    <a:pt x="29319" y="102315"/>
                  </a:lnTo>
                  <a:close/>
                </a:path>
                <a:path extrusionOk="0" h="259714" w="255270">
                  <a:moveTo>
                    <a:pt x="31718" y="236320"/>
                  </a:moveTo>
                  <a:lnTo>
                    <a:pt x="23245" y="236320"/>
                  </a:lnTo>
                  <a:lnTo>
                    <a:pt x="23245" y="243831"/>
                  </a:lnTo>
                  <a:lnTo>
                    <a:pt x="31718" y="243831"/>
                  </a:lnTo>
                  <a:lnTo>
                    <a:pt x="31718" y="236320"/>
                  </a:lnTo>
                  <a:close/>
                </a:path>
                <a:path extrusionOk="0" h="259714" w="255270">
                  <a:moveTo>
                    <a:pt x="55160" y="236320"/>
                  </a:moveTo>
                  <a:lnTo>
                    <a:pt x="39227" y="236320"/>
                  </a:lnTo>
                  <a:lnTo>
                    <a:pt x="31718" y="243831"/>
                  </a:lnTo>
                  <a:lnTo>
                    <a:pt x="47673" y="243831"/>
                  </a:lnTo>
                  <a:lnTo>
                    <a:pt x="55160" y="236320"/>
                  </a:lnTo>
                  <a:close/>
                </a:path>
                <a:path extrusionOk="0" h="259714" w="255270">
                  <a:moveTo>
                    <a:pt x="31719" y="220328"/>
                  </a:moveTo>
                  <a:lnTo>
                    <a:pt x="23245" y="220328"/>
                  </a:lnTo>
                  <a:lnTo>
                    <a:pt x="23243" y="227840"/>
                  </a:lnTo>
                  <a:lnTo>
                    <a:pt x="31721" y="227840"/>
                  </a:lnTo>
                  <a:lnTo>
                    <a:pt x="31719" y="220328"/>
                  </a:lnTo>
                  <a:close/>
                </a:path>
                <a:path extrusionOk="0" h="259714" w="255270">
                  <a:moveTo>
                    <a:pt x="49699" y="218330"/>
                  </a:moveTo>
                  <a:lnTo>
                    <a:pt x="41223" y="218330"/>
                  </a:lnTo>
                  <a:lnTo>
                    <a:pt x="41223" y="227840"/>
                  </a:lnTo>
                  <a:lnTo>
                    <a:pt x="63613" y="227840"/>
                  </a:lnTo>
                  <a:lnTo>
                    <a:pt x="65605" y="225842"/>
                  </a:lnTo>
                  <a:lnTo>
                    <a:pt x="49699" y="225842"/>
                  </a:lnTo>
                  <a:lnTo>
                    <a:pt x="49699" y="218330"/>
                  </a:lnTo>
                  <a:close/>
                </a:path>
                <a:path extrusionOk="0" h="259714" w="255270">
                  <a:moveTo>
                    <a:pt x="73093" y="218330"/>
                  </a:moveTo>
                  <a:lnTo>
                    <a:pt x="57207" y="218330"/>
                  </a:lnTo>
                  <a:lnTo>
                    <a:pt x="49699" y="225842"/>
                  </a:lnTo>
                  <a:lnTo>
                    <a:pt x="65605" y="225842"/>
                  </a:lnTo>
                  <a:lnTo>
                    <a:pt x="73093" y="218330"/>
                  </a:lnTo>
                  <a:close/>
                </a:path>
                <a:path extrusionOk="0" h="259714" w="255270">
                  <a:moveTo>
                    <a:pt x="49699" y="202340"/>
                  </a:moveTo>
                  <a:lnTo>
                    <a:pt x="41223" y="202340"/>
                  </a:lnTo>
                  <a:lnTo>
                    <a:pt x="41223" y="209850"/>
                  </a:lnTo>
                  <a:lnTo>
                    <a:pt x="49699" y="209850"/>
                  </a:lnTo>
                  <a:lnTo>
                    <a:pt x="49699" y="202340"/>
                  </a:lnTo>
                  <a:close/>
                </a:path>
                <a:path extrusionOk="0" h="259714" w="255270">
                  <a:moveTo>
                    <a:pt x="67679" y="200343"/>
                  </a:moveTo>
                  <a:lnTo>
                    <a:pt x="59203" y="200342"/>
                  </a:lnTo>
                  <a:lnTo>
                    <a:pt x="59203" y="209850"/>
                  </a:lnTo>
                  <a:lnTo>
                    <a:pt x="81546" y="209850"/>
                  </a:lnTo>
                  <a:lnTo>
                    <a:pt x="83537" y="207852"/>
                  </a:lnTo>
                  <a:lnTo>
                    <a:pt x="67679" y="207852"/>
                  </a:lnTo>
                  <a:lnTo>
                    <a:pt x="67679" y="200343"/>
                  </a:lnTo>
                  <a:close/>
                </a:path>
                <a:path extrusionOk="0" h="259714" w="255270">
                  <a:moveTo>
                    <a:pt x="91023" y="200343"/>
                  </a:moveTo>
                  <a:lnTo>
                    <a:pt x="75185" y="200343"/>
                  </a:lnTo>
                  <a:lnTo>
                    <a:pt x="67679" y="207852"/>
                  </a:lnTo>
                  <a:lnTo>
                    <a:pt x="83537" y="207852"/>
                  </a:lnTo>
                  <a:lnTo>
                    <a:pt x="91023" y="200343"/>
                  </a:lnTo>
                  <a:close/>
                </a:path>
                <a:path extrusionOk="0" h="259714" w="255270">
                  <a:moveTo>
                    <a:pt x="67679" y="184352"/>
                  </a:moveTo>
                  <a:lnTo>
                    <a:pt x="59203" y="184352"/>
                  </a:lnTo>
                  <a:lnTo>
                    <a:pt x="59203" y="191862"/>
                  </a:lnTo>
                  <a:lnTo>
                    <a:pt x="67679" y="191862"/>
                  </a:lnTo>
                  <a:lnTo>
                    <a:pt x="67679" y="184352"/>
                  </a:lnTo>
                  <a:close/>
                </a:path>
                <a:path extrusionOk="0" h="259714" w="255270">
                  <a:moveTo>
                    <a:pt x="91192" y="184352"/>
                  </a:moveTo>
                  <a:lnTo>
                    <a:pt x="67679" y="184352"/>
                  </a:lnTo>
                  <a:lnTo>
                    <a:pt x="75185" y="191862"/>
                  </a:lnTo>
                  <a:lnTo>
                    <a:pt x="110455" y="191862"/>
                  </a:lnTo>
                  <a:lnTo>
                    <a:pt x="122032" y="188923"/>
                  </a:lnTo>
                  <a:lnTo>
                    <a:pt x="146284" y="185702"/>
                  </a:lnTo>
                  <a:lnTo>
                    <a:pt x="89588" y="185702"/>
                  </a:lnTo>
                  <a:lnTo>
                    <a:pt x="91192" y="184352"/>
                  </a:lnTo>
                  <a:close/>
                </a:path>
                <a:path extrusionOk="0" h="259714" w="255270">
                  <a:moveTo>
                    <a:pt x="208972" y="184943"/>
                  </a:moveTo>
                  <a:lnTo>
                    <a:pt x="175826" y="184943"/>
                  </a:lnTo>
                  <a:lnTo>
                    <a:pt x="202795" y="187674"/>
                  </a:lnTo>
                  <a:lnTo>
                    <a:pt x="205872" y="188183"/>
                  </a:lnTo>
                  <a:lnTo>
                    <a:pt x="208782" y="186098"/>
                  </a:lnTo>
                  <a:lnTo>
                    <a:pt x="208903" y="185366"/>
                  </a:lnTo>
                  <a:lnTo>
                    <a:pt x="208972" y="184943"/>
                  </a:lnTo>
                  <a:close/>
                </a:path>
                <a:path extrusionOk="0" h="259714" w="255270">
                  <a:moveTo>
                    <a:pt x="175614" y="173548"/>
                  </a:moveTo>
                  <a:lnTo>
                    <a:pt x="146553" y="174106"/>
                  </a:lnTo>
                  <a:lnTo>
                    <a:pt x="117772" y="178166"/>
                  </a:lnTo>
                  <a:lnTo>
                    <a:pt x="89588" y="185702"/>
                  </a:lnTo>
                  <a:lnTo>
                    <a:pt x="146284" y="185702"/>
                  </a:lnTo>
                  <a:lnTo>
                    <a:pt x="148813" y="185366"/>
                  </a:lnTo>
                  <a:lnTo>
                    <a:pt x="175826" y="184943"/>
                  </a:lnTo>
                  <a:lnTo>
                    <a:pt x="208972" y="184943"/>
                  </a:lnTo>
                  <a:lnTo>
                    <a:pt x="209797" y="179936"/>
                  </a:lnTo>
                  <a:lnTo>
                    <a:pt x="207713" y="177026"/>
                  </a:lnTo>
                  <a:lnTo>
                    <a:pt x="204634" y="176518"/>
                  </a:lnTo>
                  <a:lnTo>
                    <a:pt x="175614" y="173548"/>
                  </a:lnTo>
                  <a:close/>
                </a:path>
                <a:path extrusionOk="0" h="259714" w="255270">
                  <a:moveTo>
                    <a:pt x="254068" y="61241"/>
                  </a:moveTo>
                  <a:lnTo>
                    <a:pt x="192630" y="83123"/>
                  </a:lnTo>
                  <a:lnTo>
                    <a:pt x="139770" y="114838"/>
                  </a:lnTo>
                  <a:lnTo>
                    <a:pt x="72046" y="168866"/>
                  </a:lnTo>
                  <a:lnTo>
                    <a:pt x="109587" y="168866"/>
                  </a:lnTo>
                  <a:lnTo>
                    <a:pt x="148584" y="136036"/>
                  </a:lnTo>
                  <a:lnTo>
                    <a:pt x="198221" y="99287"/>
                  </a:lnTo>
                  <a:lnTo>
                    <a:pt x="234552" y="75319"/>
                  </a:lnTo>
                  <a:lnTo>
                    <a:pt x="254325" y="63534"/>
                  </a:lnTo>
                  <a:lnTo>
                    <a:pt x="254819" y="63334"/>
                  </a:lnTo>
                  <a:lnTo>
                    <a:pt x="255078" y="62756"/>
                  </a:lnTo>
                  <a:lnTo>
                    <a:pt x="254866" y="62250"/>
                  </a:lnTo>
                  <a:lnTo>
                    <a:pt x="254631" y="61534"/>
                  </a:lnTo>
                  <a:lnTo>
                    <a:pt x="254068" y="61241"/>
                  </a:lnTo>
                  <a:close/>
                </a:path>
                <a:path extrusionOk="0" h="259714" w="255270">
                  <a:moveTo>
                    <a:pt x="46059" y="65691"/>
                  </a:moveTo>
                  <a:lnTo>
                    <a:pt x="46105" y="66707"/>
                  </a:lnTo>
                  <a:lnTo>
                    <a:pt x="46207" y="68923"/>
                  </a:lnTo>
                  <a:lnTo>
                    <a:pt x="46317" y="71333"/>
                  </a:lnTo>
                  <a:lnTo>
                    <a:pt x="49606" y="93052"/>
                  </a:lnTo>
                  <a:lnTo>
                    <a:pt x="49668" y="93330"/>
                  </a:lnTo>
                  <a:lnTo>
                    <a:pt x="49756" y="93724"/>
                  </a:lnTo>
                  <a:lnTo>
                    <a:pt x="49872" y="94241"/>
                  </a:lnTo>
                  <a:lnTo>
                    <a:pt x="52785" y="103426"/>
                  </a:lnTo>
                  <a:lnTo>
                    <a:pt x="56550" y="111938"/>
                  </a:lnTo>
                  <a:lnTo>
                    <a:pt x="60908" y="120148"/>
                  </a:lnTo>
                  <a:lnTo>
                    <a:pt x="65840" y="128026"/>
                  </a:lnTo>
                  <a:lnTo>
                    <a:pt x="71328" y="135541"/>
                  </a:lnTo>
                  <a:lnTo>
                    <a:pt x="68901" y="143519"/>
                  </a:lnTo>
                  <a:lnTo>
                    <a:pt x="66642" y="150476"/>
                  </a:lnTo>
                  <a:lnTo>
                    <a:pt x="64619" y="156354"/>
                  </a:lnTo>
                  <a:lnTo>
                    <a:pt x="62900" y="161093"/>
                  </a:lnTo>
                  <a:lnTo>
                    <a:pt x="74942" y="161093"/>
                  </a:lnTo>
                  <a:lnTo>
                    <a:pt x="76510" y="156694"/>
                  </a:lnTo>
                  <a:lnTo>
                    <a:pt x="79497" y="147652"/>
                  </a:lnTo>
                  <a:lnTo>
                    <a:pt x="82780" y="136811"/>
                  </a:lnTo>
                  <a:lnTo>
                    <a:pt x="91029" y="132377"/>
                  </a:lnTo>
                  <a:lnTo>
                    <a:pt x="94408" y="130234"/>
                  </a:lnTo>
                  <a:lnTo>
                    <a:pt x="72849" y="130234"/>
                  </a:lnTo>
                  <a:lnTo>
                    <a:pt x="72943" y="129887"/>
                  </a:lnTo>
                  <a:lnTo>
                    <a:pt x="72606" y="128026"/>
                  </a:lnTo>
                  <a:lnTo>
                    <a:pt x="71857" y="121978"/>
                  </a:lnTo>
                  <a:lnTo>
                    <a:pt x="70306" y="113709"/>
                  </a:lnTo>
                  <a:lnTo>
                    <a:pt x="52108" y="73082"/>
                  </a:lnTo>
                  <a:lnTo>
                    <a:pt x="46059" y="65691"/>
                  </a:lnTo>
                  <a:close/>
                </a:path>
                <a:path extrusionOk="0" h="259714" w="255270">
                  <a:moveTo>
                    <a:pt x="59401" y="32241"/>
                  </a:moveTo>
                  <a:lnTo>
                    <a:pt x="59696" y="38709"/>
                  </a:lnTo>
                  <a:lnTo>
                    <a:pt x="59790" y="40763"/>
                  </a:lnTo>
                  <a:lnTo>
                    <a:pt x="60839" y="48615"/>
                  </a:lnTo>
                  <a:lnTo>
                    <a:pt x="60918" y="49204"/>
                  </a:lnTo>
                  <a:lnTo>
                    <a:pt x="76724" y="87146"/>
                  </a:lnTo>
                  <a:lnTo>
                    <a:pt x="81497" y="93724"/>
                  </a:lnTo>
                  <a:lnTo>
                    <a:pt x="79500" y="103427"/>
                  </a:lnTo>
                  <a:lnTo>
                    <a:pt x="77284" y="113155"/>
                  </a:lnTo>
                  <a:lnTo>
                    <a:pt x="75080" y="121978"/>
                  </a:lnTo>
                  <a:lnTo>
                    <a:pt x="73446" y="128026"/>
                  </a:lnTo>
                  <a:lnTo>
                    <a:pt x="72837" y="129887"/>
                  </a:lnTo>
                  <a:lnTo>
                    <a:pt x="72880" y="130234"/>
                  </a:lnTo>
                  <a:lnTo>
                    <a:pt x="94408" y="130234"/>
                  </a:lnTo>
                  <a:lnTo>
                    <a:pt x="94955" y="129888"/>
                  </a:lnTo>
                  <a:lnTo>
                    <a:pt x="84717" y="129887"/>
                  </a:lnTo>
                  <a:lnTo>
                    <a:pt x="86993" y="121152"/>
                  </a:lnTo>
                  <a:lnTo>
                    <a:pt x="88928" y="113155"/>
                  </a:lnTo>
                  <a:lnTo>
                    <a:pt x="91005" y="103787"/>
                  </a:lnTo>
                  <a:lnTo>
                    <a:pt x="92914" y="94241"/>
                  </a:lnTo>
                  <a:lnTo>
                    <a:pt x="92962" y="93999"/>
                  </a:lnTo>
                  <a:lnTo>
                    <a:pt x="99787" y="90213"/>
                  </a:lnTo>
                  <a:lnTo>
                    <a:pt x="105347" y="86610"/>
                  </a:lnTo>
                  <a:lnTo>
                    <a:pt x="82836" y="86610"/>
                  </a:lnTo>
                  <a:lnTo>
                    <a:pt x="82083" y="81297"/>
                  </a:lnTo>
                  <a:lnTo>
                    <a:pt x="81957" y="80405"/>
                  </a:lnTo>
                  <a:lnTo>
                    <a:pt x="81890" y="79930"/>
                  </a:lnTo>
                  <a:lnTo>
                    <a:pt x="80568" y="73389"/>
                  </a:lnTo>
                  <a:lnTo>
                    <a:pt x="78989" y="67402"/>
                  </a:lnTo>
                  <a:lnTo>
                    <a:pt x="78866" y="66936"/>
                  </a:lnTo>
                  <a:lnTo>
                    <a:pt x="76788" y="60589"/>
                  </a:lnTo>
                  <a:lnTo>
                    <a:pt x="73427" y="52928"/>
                  </a:lnTo>
                  <a:lnTo>
                    <a:pt x="69390" y="45619"/>
                  </a:lnTo>
                  <a:lnTo>
                    <a:pt x="64706" y="38709"/>
                  </a:lnTo>
                  <a:lnTo>
                    <a:pt x="59401" y="32241"/>
                  </a:lnTo>
                  <a:close/>
                </a:path>
                <a:path extrusionOk="0" h="259714" w="255270">
                  <a:moveTo>
                    <a:pt x="135873" y="84553"/>
                  </a:moveTo>
                  <a:lnTo>
                    <a:pt x="98888" y="110755"/>
                  </a:lnTo>
                  <a:lnTo>
                    <a:pt x="84717" y="129887"/>
                  </a:lnTo>
                  <a:lnTo>
                    <a:pt x="94955" y="129888"/>
                  </a:lnTo>
                  <a:lnTo>
                    <a:pt x="126077" y="101108"/>
                  </a:lnTo>
                  <a:lnTo>
                    <a:pt x="135873" y="84553"/>
                  </a:lnTo>
                  <a:close/>
                </a:path>
                <a:path extrusionOk="0" h="259714" w="255270">
                  <a:moveTo>
                    <a:pt x="99185" y="0"/>
                  </a:moveTo>
                  <a:lnTo>
                    <a:pt x="86832" y="45619"/>
                  </a:lnTo>
                  <a:lnTo>
                    <a:pt x="85813" y="67402"/>
                  </a:lnTo>
                  <a:lnTo>
                    <a:pt x="85056" y="73082"/>
                  </a:lnTo>
                  <a:lnTo>
                    <a:pt x="84772" y="75020"/>
                  </a:lnTo>
                  <a:lnTo>
                    <a:pt x="83994" y="79930"/>
                  </a:lnTo>
                  <a:lnTo>
                    <a:pt x="82928" y="85973"/>
                  </a:lnTo>
                  <a:lnTo>
                    <a:pt x="82815" y="86610"/>
                  </a:lnTo>
                  <a:lnTo>
                    <a:pt x="94300" y="86610"/>
                  </a:lnTo>
                  <a:lnTo>
                    <a:pt x="95215" y="81297"/>
                  </a:lnTo>
                  <a:lnTo>
                    <a:pt x="96151" y="75319"/>
                  </a:lnTo>
                  <a:lnTo>
                    <a:pt x="97009" y="68923"/>
                  </a:lnTo>
                  <a:lnTo>
                    <a:pt x="97541" y="65691"/>
                  </a:lnTo>
                  <a:lnTo>
                    <a:pt x="97662" y="64959"/>
                  </a:lnTo>
                  <a:lnTo>
                    <a:pt x="99121" y="58782"/>
                  </a:lnTo>
                  <a:lnTo>
                    <a:pt x="100159" y="52928"/>
                  </a:lnTo>
                  <a:lnTo>
                    <a:pt x="100273" y="52167"/>
                  </a:lnTo>
                  <a:lnTo>
                    <a:pt x="100981" y="46224"/>
                  </a:lnTo>
                  <a:lnTo>
                    <a:pt x="101837" y="34643"/>
                  </a:lnTo>
                  <a:lnTo>
                    <a:pt x="101770" y="22360"/>
                  </a:lnTo>
                  <a:lnTo>
                    <a:pt x="100937" y="11484"/>
                  </a:lnTo>
                  <a:lnTo>
                    <a:pt x="99185" y="0"/>
                  </a:lnTo>
                  <a:close/>
                </a:path>
                <a:path extrusionOk="0" h="259714" w="255270">
                  <a:moveTo>
                    <a:pt x="138232" y="48615"/>
                  </a:moveTo>
                  <a:lnTo>
                    <a:pt x="105908" y="71333"/>
                  </a:lnTo>
                  <a:lnTo>
                    <a:pt x="94300" y="86610"/>
                  </a:lnTo>
                  <a:lnTo>
                    <a:pt x="105347" y="86610"/>
                  </a:lnTo>
                  <a:lnTo>
                    <a:pt x="134211" y="56139"/>
                  </a:lnTo>
                  <a:lnTo>
                    <a:pt x="138232" y="48615"/>
                  </a:lnTo>
                  <a:close/>
                </a:path>
              </a:pathLst>
            </a:custGeom>
            <a:solidFill>
              <a:srgbClr val="FDFDF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83" name="Google Shape;83;p3"/>
            <p:cNvPicPr preferRelativeResize="0"/>
            <p:nvPr/>
          </p:nvPicPr>
          <p:blipFill rotWithShape="1">
            <a:blip r:embed="rId6">
              <a:alphaModFix/>
            </a:blip>
            <a:srcRect b="0" l="0" r="0" t="0"/>
            <a:stretch/>
          </p:blipFill>
          <p:spPr>
            <a:xfrm>
              <a:off x="6151615" y="2008484"/>
              <a:ext cx="152562" cy="248756"/>
            </a:xfrm>
            <a:prstGeom prst="rect">
              <a:avLst/>
            </a:prstGeom>
            <a:noFill/>
            <a:ln>
              <a:noFill/>
            </a:ln>
          </p:spPr>
        </p:pic>
      </p:grpSp>
      <p:sp>
        <p:nvSpPr>
          <p:cNvPr id="84" name="Google Shape;84;p3"/>
          <p:cNvSpPr txBox="1"/>
          <p:nvPr/>
        </p:nvSpPr>
        <p:spPr>
          <a:xfrm>
            <a:off x="6758684" y="1909953"/>
            <a:ext cx="7109715" cy="44371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800">
                <a:solidFill>
                  <a:srgbClr val="00007E"/>
                </a:solidFill>
                <a:latin typeface="Tahoma"/>
                <a:ea typeface="Tahoma"/>
                <a:cs typeface="Tahoma"/>
                <a:sym typeface="Tahoma"/>
              </a:rPr>
              <a:t>Description of key variables in the data</a:t>
            </a:r>
            <a:endParaRPr sz="2800">
              <a:latin typeface="Tahoma"/>
              <a:ea typeface="Tahoma"/>
              <a:cs typeface="Tahoma"/>
              <a:sym typeface="Tahoma"/>
            </a:endParaRPr>
          </a:p>
        </p:txBody>
      </p:sp>
      <p:sp>
        <p:nvSpPr>
          <p:cNvPr id="85" name="Google Shape;85;p3"/>
          <p:cNvSpPr txBox="1"/>
          <p:nvPr/>
        </p:nvSpPr>
        <p:spPr>
          <a:xfrm>
            <a:off x="5734225" y="2619875"/>
            <a:ext cx="11805300" cy="6684600"/>
          </a:xfrm>
          <a:prstGeom prst="rect">
            <a:avLst/>
          </a:prstGeom>
          <a:noFill/>
          <a:ln>
            <a:noFill/>
          </a:ln>
        </p:spPr>
        <p:txBody>
          <a:bodyPr anchorCtr="0" anchor="t" bIns="0" lIns="0" spcFirstLastPara="1" rIns="0" wrap="square" tIns="12700">
            <a:spAutoFit/>
          </a:bodyPr>
          <a:lstStyle/>
          <a:p>
            <a:pPr indent="-287019" lvl="0" marL="299085" marR="5080" rtl="0" algn="just">
              <a:lnSpc>
                <a:spcPct val="100000"/>
              </a:lnSpc>
              <a:spcBef>
                <a:spcPts val="0"/>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Age &amp; Sex:</a:t>
            </a:r>
            <a:r>
              <a:rPr lang="en-US" sz="2000">
                <a:solidFill>
                  <a:srgbClr val="434343"/>
                </a:solidFill>
                <a:latin typeface="Tahoma"/>
                <a:ea typeface="Tahoma"/>
                <a:cs typeface="Tahoma"/>
                <a:sym typeface="Tahoma"/>
              </a:rPr>
              <a:t> Demographic information providing essential context for understanding patient profiles and their potential impact on mortality risk.</a:t>
            </a:r>
            <a:endParaRPr sz="2000">
              <a:latin typeface="Tahoma"/>
              <a:ea typeface="Tahoma"/>
              <a:cs typeface="Tahoma"/>
              <a:sym typeface="Tahoma"/>
            </a:endParaRPr>
          </a:p>
          <a:p>
            <a:pPr indent="-286385" lvl="0" marL="299085" rtl="0" algn="just">
              <a:lnSpc>
                <a:spcPct val="100000"/>
              </a:lnSpc>
              <a:spcBef>
                <a:spcPts val="395"/>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Days	in	ICU:</a:t>
            </a:r>
            <a:r>
              <a:rPr lang="en-US" sz="2000">
                <a:solidFill>
                  <a:srgbClr val="434343"/>
                </a:solidFill>
                <a:latin typeface="Tahoma"/>
                <a:ea typeface="Tahoma"/>
                <a:cs typeface="Tahoma"/>
                <a:sym typeface="Tahoma"/>
              </a:rPr>
              <a:t>	The 	duration	of	a	patient’s	stay	ing	the	ICU,	reflecting	the	severity	and</a:t>
            </a:r>
            <a:endParaRPr sz="2000">
              <a:latin typeface="Tahoma"/>
              <a:ea typeface="Tahoma"/>
              <a:cs typeface="Tahoma"/>
              <a:sym typeface="Tahoma"/>
            </a:endParaRPr>
          </a:p>
          <a:p>
            <a:pPr indent="0" lvl="0" marL="299085" rtl="0" algn="just">
              <a:lnSpc>
                <a:spcPct val="100000"/>
              </a:lnSpc>
              <a:spcBef>
                <a:spcPts val="0"/>
              </a:spcBef>
              <a:spcAft>
                <a:spcPts val="0"/>
              </a:spcAft>
              <a:buNone/>
            </a:pPr>
            <a:r>
              <a:rPr lang="en-US" sz="2000">
                <a:solidFill>
                  <a:srgbClr val="434343"/>
                </a:solidFill>
                <a:latin typeface="Tahoma"/>
                <a:ea typeface="Tahoma"/>
                <a:cs typeface="Tahoma"/>
                <a:sym typeface="Tahoma"/>
              </a:rPr>
              <a:t>progression of their condition.</a:t>
            </a:r>
            <a:endParaRPr sz="2000">
              <a:latin typeface="Tahoma"/>
              <a:ea typeface="Tahoma"/>
              <a:cs typeface="Tahoma"/>
              <a:sym typeface="Tahoma"/>
            </a:endParaRPr>
          </a:p>
          <a:p>
            <a:pPr indent="-287019" lvl="0" marL="299085" marR="7620" rtl="0" algn="just">
              <a:lnSpc>
                <a:spcPct val="100000"/>
              </a:lnSpc>
              <a:spcBef>
                <a:spcPts val="409"/>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BP &amp; HR:</a:t>
            </a:r>
            <a:r>
              <a:rPr lang="en-US" sz="2000">
                <a:solidFill>
                  <a:srgbClr val="434343"/>
                </a:solidFill>
                <a:latin typeface="Tahoma"/>
                <a:ea typeface="Tahoma"/>
                <a:cs typeface="Tahoma"/>
                <a:sym typeface="Tahoma"/>
              </a:rPr>
              <a:t> Blood pressure and heart rate, vital indicators of cardiovascular stability and overall physiological status.</a:t>
            </a:r>
            <a:endParaRPr sz="2000">
              <a:latin typeface="Tahoma"/>
              <a:ea typeface="Tahoma"/>
              <a:cs typeface="Tahoma"/>
              <a:sym typeface="Tahoma"/>
            </a:endParaRPr>
          </a:p>
          <a:p>
            <a:pPr indent="-287019" lvl="0" marL="299085" marR="6350" rtl="0" algn="just">
              <a:lnSpc>
                <a:spcPct val="100000"/>
              </a:lnSpc>
              <a:spcBef>
                <a:spcPts val="395"/>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Temp &amp; WBC: </a:t>
            </a:r>
            <a:r>
              <a:rPr lang="en-US" sz="2000">
                <a:solidFill>
                  <a:srgbClr val="434343"/>
                </a:solidFill>
                <a:latin typeface="Tahoma"/>
                <a:ea typeface="Tahoma"/>
                <a:cs typeface="Tahoma"/>
                <a:sym typeface="Tahoma"/>
              </a:rPr>
              <a:t>Body temperature and white blood cell count, offering insights into immune activity and the presence of systemic infections.</a:t>
            </a:r>
            <a:endParaRPr sz="2000">
              <a:latin typeface="Tahoma"/>
              <a:ea typeface="Tahoma"/>
              <a:cs typeface="Tahoma"/>
              <a:sym typeface="Tahoma"/>
            </a:endParaRPr>
          </a:p>
          <a:p>
            <a:pPr indent="-287019" lvl="0" marL="299085" marR="7620" rtl="0" algn="just">
              <a:lnSpc>
                <a:spcPct val="100000"/>
              </a:lnSpc>
              <a:spcBef>
                <a:spcPts val="395"/>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PaO2 &amp; FiO2:</a:t>
            </a:r>
            <a:r>
              <a:rPr lang="en-US" sz="2000">
                <a:solidFill>
                  <a:srgbClr val="434343"/>
                </a:solidFill>
                <a:latin typeface="Tahoma"/>
                <a:ea typeface="Tahoma"/>
                <a:cs typeface="Tahoma"/>
                <a:sym typeface="Tahoma"/>
              </a:rPr>
              <a:t> Partial pressure of oxygen in arterial blood and fraction of inspired oxygen, critical metrics for assessing respiratory function and oxygenation efficiency.</a:t>
            </a:r>
            <a:endParaRPr sz="2000">
              <a:latin typeface="Tahoma"/>
              <a:ea typeface="Tahoma"/>
              <a:cs typeface="Tahoma"/>
              <a:sym typeface="Tahoma"/>
            </a:endParaRPr>
          </a:p>
          <a:p>
            <a:pPr indent="-286385" lvl="0" marL="299085" rtl="0" algn="just">
              <a:lnSpc>
                <a:spcPct val="100000"/>
              </a:lnSpc>
              <a:spcBef>
                <a:spcPts val="409"/>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Pot,	Bic,	Na:</a:t>
            </a:r>
            <a:r>
              <a:rPr lang="en-US" sz="2000">
                <a:solidFill>
                  <a:srgbClr val="434343"/>
                </a:solidFill>
                <a:latin typeface="Tahoma"/>
                <a:ea typeface="Tahoma"/>
                <a:cs typeface="Tahoma"/>
                <a:sym typeface="Tahoma"/>
              </a:rPr>
              <a:t>	Levels	of	potassium,	bicarbonate,	and	sodium,	essential	electrolytes	for</a:t>
            </a:r>
            <a:endParaRPr sz="2000">
              <a:latin typeface="Tahoma"/>
              <a:ea typeface="Tahoma"/>
              <a:cs typeface="Tahoma"/>
              <a:sym typeface="Tahoma"/>
            </a:endParaRPr>
          </a:p>
          <a:p>
            <a:pPr indent="0" lvl="0" marL="299085" rtl="0" algn="just">
              <a:lnSpc>
                <a:spcPct val="100000"/>
              </a:lnSpc>
              <a:spcBef>
                <a:spcPts val="0"/>
              </a:spcBef>
              <a:spcAft>
                <a:spcPts val="0"/>
              </a:spcAft>
              <a:buNone/>
            </a:pPr>
            <a:r>
              <a:rPr lang="en-US" sz="2000">
                <a:solidFill>
                  <a:srgbClr val="434343"/>
                </a:solidFill>
                <a:latin typeface="Tahoma"/>
                <a:ea typeface="Tahoma"/>
                <a:cs typeface="Tahoma"/>
                <a:sym typeface="Tahoma"/>
              </a:rPr>
              <a:t>maintaining cellular and organ function.</a:t>
            </a:r>
            <a:endParaRPr sz="2000">
              <a:latin typeface="Tahoma"/>
              <a:ea typeface="Tahoma"/>
              <a:cs typeface="Tahoma"/>
              <a:sym typeface="Tahoma"/>
            </a:endParaRPr>
          </a:p>
          <a:p>
            <a:pPr indent="-287019" lvl="0" marL="299085" marR="5715" rtl="0" algn="just">
              <a:lnSpc>
                <a:spcPct val="100000"/>
              </a:lnSpc>
              <a:spcBef>
                <a:spcPts val="395"/>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BUN &amp; Bilirubin:</a:t>
            </a:r>
            <a:r>
              <a:rPr lang="en-US" sz="2000">
                <a:solidFill>
                  <a:srgbClr val="434343"/>
                </a:solidFill>
                <a:latin typeface="Tahoma"/>
                <a:ea typeface="Tahoma"/>
                <a:cs typeface="Tahoma"/>
                <a:sym typeface="Tahoma"/>
              </a:rPr>
              <a:t> Blood urea nitrogen and bilirubin levels, serving as markers of kidney and liver function, respectively.</a:t>
            </a:r>
            <a:endParaRPr sz="2000">
              <a:latin typeface="Tahoma"/>
              <a:ea typeface="Tahoma"/>
              <a:cs typeface="Tahoma"/>
              <a:sym typeface="Tahoma"/>
            </a:endParaRPr>
          </a:p>
          <a:p>
            <a:pPr indent="-287019" lvl="0" marL="299085" marR="5080" rtl="0" algn="just">
              <a:lnSpc>
                <a:spcPct val="100000"/>
              </a:lnSpc>
              <a:spcBef>
                <a:spcPts val="400"/>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GCS:</a:t>
            </a:r>
            <a:r>
              <a:rPr lang="en-US" sz="2000">
                <a:solidFill>
                  <a:srgbClr val="434343"/>
                </a:solidFill>
                <a:latin typeface="Tahoma"/>
                <a:ea typeface="Tahoma"/>
                <a:cs typeface="Tahoma"/>
                <a:sym typeface="Tahoma"/>
              </a:rPr>
              <a:t> Glasgow Coma Scale, a standardized tool for evaluating the level of consciousness and neurological status.</a:t>
            </a:r>
            <a:endParaRPr sz="2000">
              <a:latin typeface="Tahoma"/>
              <a:ea typeface="Tahoma"/>
              <a:cs typeface="Tahoma"/>
              <a:sym typeface="Tahoma"/>
            </a:endParaRPr>
          </a:p>
          <a:p>
            <a:pPr indent="-286385" lvl="0" marL="299085" rtl="0" algn="just">
              <a:lnSpc>
                <a:spcPct val="100000"/>
              </a:lnSpc>
              <a:spcBef>
                <a:spcPts val="405"/>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IMH:</a:t>
            </a:r>
            <a:r>
              <a:rPr lang="en-US" sz="2000">
                <a:solidFill>
                  <a:srgbClr val="434343"/>
                </a:solidFill>
                <a:latin typeface="Tahoma"/>
                <a:ea typeface="Tahoma"/>
                <a:cs typeface="Tahoma"/>
                <a:sym typeface="Tahoma"/>
              </a:rPr>
              <a:t>	In-hospital	mortality, the target variable for this analysis;	</a:t>
            </a:r>
            <a:endParaRPr sz="2000">
              <a:solidFill>
                <a:srgbClr val="434343"/>
              </a:solidFill>
              <a:latin typeface="Tahoma"/>
              <a:ea typeface="Tahoma"/>
              <a:cs typeface="Tahoma"/>
              <a:sym typeface="Tahoma"/>
            </a:endParaRPr>
          </a:p>
          <a:p>
            <a:pPr indent="0" lvl="0" marL="12700" rtl="0" algn="just">
              <a:lnSpc>
                <a:spcPct val="100000"/>
              </a:lnSpc>
              <a:spcBef>
                <a:spcPts val="405"/>
              </a:spcBef>
              <a:spcAft>
                <a:spcPts val="0"/>
              </a:spcAft>
              <a:buNone/>
            </a:pPr>
            <a:r>
              <a:rPr lang="en-US" sz="2000">
                <a:solidFill>
                  <a:srgbClr val="434343"/>
                </a:solidFill>
                <a:latin typeface="Tahoma"/>
                <a:ea typeface="Tahoma"/>
                <a:cs typeface="Tahoma"/>
                <a:sym typeface="Tahoma"/>
              </a:rPr>
              <a:t>            indicating	survival	(0) or</a:t>
            </a:r>
            <a:r>
              <a:rPr lang="en-US" sz="2000">
                <a:latin typeface="Tahoma"/>
                <a:ea typeface="Tahoma"/>
                <a:cs typeface="Tahoma"/>
                <a:sym typeface="Tahoma"/>
              </a:rPr>
              <a:t> </a:t>
            </a:r>
            <a:endParaRPr/>
          </a:p>
          <a:p>
            <a:pPr indent="0" lvl="0" marL="12700" rtl="0" algn="just">
              <a:lnSpc>
                <a:spcPct val="100000"/>
              </a:lnSpc>
              <a:spcBef>
                <a:spcPts val="405"/>
              </a:spcBef>
              <a:spcAft>
                <a:spcPts val="0"/>
              </a:spcAft>
              <a:buNone/>
            </a:pPr>
            <a:r>
              <a:rPr lang="en-US" sz="2000">
                <a:solidFill>
                  <a:srgbClr val="434343"/>
                </a:solidFill>
                <a:latin typeface="Tahoma"/>
                <a:ea typeface="Tahoma"/>
                <a:cs typeface="Tahoma"/>
                <a:sym typeface="Tahoma"/>
              </a:rPr>
              <a:t>            mortality (1) outcomes during the ICU stay.</a:t>
            </a:r>
            <a:endParaRPr sz="2000">
              <a:latin typeface="Tahoma"/>
              <a:ea typeface="Tahoma"/>
              <a:cs typeface="Tahoma"/>
              <a:sym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txBox="1"/>
          <p:nvPr/>
        </p:nvSpPr>
        <p:spPr>
          <a:xfrm>
            <a:off x="791425" y="2917990"/>
            <a:ext cx="7599045" cy="395621"/>
          </a:xfrm>
          <a:prstGeom prst="rect">
            <a:avLst/>
          </a:prstGeom>
          <a:solidFill>
            <a:srgbClr val="CACAFF"/>
          </a:solidFill>
          <a:ln>
            <a:noFill/>
          </a:ln>
        </p:spPr>
        <p:txBody>
          <a:bodyPr anchorCtr="0" anchor="t" bIns="0" lIns="0" spcFirstLastPara="1" rIns="0" wrap="square" tIns="117475">
            <a:spAutoFit/>
          </a:bodyPr>
          <a:lstStyle/>
          <a:p>
            <a:pPr indent="0" lvl="0" marL="2540" rtl="0" algn="ctr">
              <a:lnSpc>
                <a:spcPct val="100000"/>
              </a:lnSpc>
              <a:spcBef>
                <a:spcPts val="0"/>
              </a:spcBef>
              <a:spcAft>
                <a:spcPts val="0"/>
              </a:spcAft>
              <a:buNone/>
            </a:pPr>
            <a:r>
              <a:rPr b="1" lang="en-US" sz="1800">
                <a:solidFill>
                  <a:srgbClr val="5F5F5F"/>
                </a:solidFill>
                <a:latin typeface="Tahoma"/>
                <a:ea typeface="Tahoma"/>
                <a:cs typeface="Tahoma"/>
                <a:sym typeface="Tahoma"/>
              </a:rPr>
              <a:t>Target Variable Analysis</a:t>
            </a:r>
            <a:endParaRPr sz="1800">
              <a:latin typeface="Tahoma"/>
              <a:ea typeface="Tahoma"/>
              <a:cs typeface="Tahoma"/>
              <a:sym typeface="Tahoma"/>
            </a:endParaRPr>
          </a:p>
        </p:txBody>
      </p:sp>
      <p:sp>
        <p:nvSpPr>
          <p:cNvPr id="91" name="Google Shape;91;p4"/>
          <p:cNvSpPr txBox="1"/>
          <p:nvPr/>
        </p:nvSpPr>
        <p:spPr>
          <a:xfrm>
            <a:off x="956259" y="3553205"/>
            <a:ext cx="7026909" cy="289823"/>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i="1" lang="en-US" sz="1800">
                <a:solidFill>
                  <a:srgbClr val="5F5F5F"/>
                </a:solidFill>
                <a:latin typeface="Trebuchet MS"/>
                <a:ea typeface="Trebuchet MS"/>
                <a:cs typeface="Trebuchet MS"/>
                <a:sym typeface="Trebuchet MS"/>
              </a:rPr>
              <a:t>Aim: </a:t>
            </a:r>
            <a:r>
              <a:rPr i="1" lang="en-US" sz="1800">
                <a:solidFill>
                  <a:srgbClr val="5F5F5F"/>
                </a:solidFill>
                <a:latin typeface="Trebuchet MS"/>
                <a:ea typeface="Trebuchet MS"/>
                <a:cs typeface="Trebuchet MS"/>
                <a:sym typeface="Trebuchet MS"/>
              </a:rPr>
              <a:t>Visualize the distributions of Mortality</a:t>
            </a:r>
            <a:endParaRPr sz="1800">
              <a:latin typeface="Trebuchet MS"/>
              <a:ea typeface="Trebuchet MS"/>
              <a:cs typeface="Trebuchet MS"/>
              <a:sym typeface="Trebuchet MS"/>
            </a:endParaRPr>
          </a:p>
        </p:txBody>
      </p:sp>
      <p:sp>
        <p:nvSpPr>
          <p:cNvPr id="92" name="Google Shape;92;p4"/>
          <p:cNvSpPr txBox="1"/>
          <p:nvPr/>
        </p:nvSpPr>
        <p:spPr>
          <a:xfrm>
            <a:off x="9689465" y="2917990"/>
            <a:ext cx="7930515" cy="515620"/>
          </a:xfrm>
          <a:prstGeom prst="rect">
            <a:avLst/>
          </a:prstGeom>
          <a:solidFill>
            <a:srgbClr val="00007E"/>
          </a:solidFill>
          <a:ln>
            <a:noFill/>
          </a:ln>
        </p:spPr>
        <p:txBody>
          <a:bodyPr anchorCtr="0" anchor="t" bIns="0" lIns="0" spcFirstLastPara="1" rIns="0" wrap="square" tIns="117475">
            <a:spAutoFit/>
          </a:bodyPr>
          <a:lstStyle/>
          <a:p>
            <a:pPr indent="0" lvl="0" marL="635" rtl="0" algn="ctr">
              <a:lnSpc>
                <a:spcPct val="100000"/>
              </a:lnSpc>
              <a:spcBef>
                <a:spcPts val="0"/>
              </a:spcBef>
              <a:spcAft>
                <a:spcPts val="0"/>
              </a:spcAft>
              <a:buNone/>
            </a:pPr>
            <a:r>
              <a:rPr b="1" lang="en-US" sz="1800">
                <a:solidFill>
                  <a:srgbClr val="FFFFFF"/>
                </a:solidFill>
                <a:latin typeface="Tahoma"/>
                <a:ea typeface="Tahoma"/>
                <a:cs typeface="Tahoma"/>
                <a:sym typeface="Tahoma"/>
              </a:rPr>
              <a:t>Correlation matrix</a:t>
            </a:r>
            <a:endParaRPr sz="1800">
              <a:latin typeface="Tahoma"/>
              <a:ea typeface="Tahoma"/>
              <a:cs typeface="Tahoma"/>
              <a:sym typeface="Tahoma"/>
            </a:endParaRPr>
          </a:p>
        </p:txBody>
      </p:sp>
      <p:sp>
        <p:nvSpPr>
          <p:cNvPr id="93" name="Google Shape;93;p4"/>
          <p:cNvSpPr/>
          <p:nvPr/>
        </p:nvSpPr>
        <p:spPr>
          <a:xfrm>
            <a:off x="727684" y="1355902"/>
            <a:ext cx="16731615" cy="1216025"/>
          </a:xfrm>
          <a:custGeom>
            <a:rect b="b" l="l" r="r" t="t"/>
            <a:pathLst>
              <a:path extrusionOk="0" h="1216025" w="16731615">
                <a:moveTo>
                  <a:pt x="16731488" y="0"/>
                </a:moveTo>
                <a:lnTo>
                  <a:pt x="0" y="0"/>
                </a:lnTo>
                <a:lnTo>
                  <a:pt x="0" y="1215847"/>
                </a:lnTo>
                <a:lnTo>
                  <a:pt x="16731488" y="1215847"/>
                </a:lnTo>
                <a:lnTo>
                  <a:pt x="16731488" y="0"/>
                </a:lnTo>
                <a:close/>
              </a:path>
            </a:pathLst>
          </a:custGeom>
          <a:solidFill>
            <a:srgbClr val="F1F1F1"/>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94" name="Google Shape;94;p4"/>
          <p:cNvSpPr txBox="1"/>
          <p:nvPr/>
        </p:nvSpPr>
        <p:spPr>
          <a:xfrm>
            <a:off x="823061" y="1308354"/>
            <a:ext cx="16543800" cy="1305900"/>
          </a:xfrm>
          <a:prstGeom prst="rect">
            <a:avLst/>
          </a:prstGeom>
          <a:noFill/>
          <a:ln>
            <a:noFill/>
          </a:ln>
        </p:spPr>
        <p:txBody>
          <a:bodyPr anchorCtr="0" anchor="t" bIns="0" lIns="0" spcFirstLastPara="1" rIns="0" wrap="square" tIns="12700">
            <a:spAutoFit/>
          </a:bodyPr>
          <a:lstStyle/>
          <a:p>
            <a:pPr indent="0" lvl="0" marL="12700" marR="5080" rtl="0" algn="just">
              <a:lnSpc>
                <a:spcPct val="100000"/>
              </a:lnSpc>
              <a:spcBef>
                <a:spcPts val="0"/>
              </a:spcBef>
              <a:spcAft>
                <a:spcPts val="0"/>
              </a:spcAft>
              <a:buNone/>
            </a:pPr>
            <a:r>
              <a:rPr b="1" lang="en-US" sz="2100">
                <a:solidFill>
                  <a:srgbClr val="00007E"/>
                </a:solidFill>
                <a:latin typeface="Tahoma"/>
                <a:ea typeface="Tahoma"/>
                <a:cs typeface="Tahoma"/>
                <a:sym typeface="Tahoma"/>
              </a:rPr>
              <a:t>A</a:t>
            </a:r>
            <a:r>
              <a:rPr b="1" lang="en-US" sz="2100">
                <a:solidFill>
                  <a:srgbClr val="00007E"/>
                </a:solidFill>
                <a:latin typeface="Tahoma"/>
                <a:ea typeface="Tahoma"/>
                <a:cs typeface="Tahoma"/>
                <a:sym typeface="Tahoma"/>
              </a:rPr>
              <a:t>imed to understand the dataset’s structure, identify patterns, and prepare for modeling. Key clinical and demographic variables were analyzed for distributions to detect trends, outliers, and skewness. A correlation matrix highlighted relationships and multicollinearity, informing feature selection and engineering. This approach ensured a focus on relevant predictors, laying a solid foundation for preprocessing and predictive modeling</a:t>
            </a:r>
            <a:endParaRPr sz="2100">
              <a:latin typeface="Tahoma"/>
              <a:ea typeface="Tahoma"/>
              <a:cs typeface="Tahoma"/>
              <a:sym typeface="Tahoma"/>
            </a:endParaRPr>
          </a:p>
        </p:txBody>
      </p:sp>
      <p:sp>
        <p:nvSpPr>
          <p:cNvPr id="95" name="Google Shape;95;p4"/>
          <p:cNvSpPr txBox="1"/>
          <p:nvPr>
            <p:ph type="title"/>
          </p:nvPr>
        </p:nvSpPr>
        <p:spPr>
          <a:xfrm>
            <a:off x="486257" y="371602"/>
            <a:ext cx="8726728" cy="51257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700">
                <a:solidFill>
                  <a:srgbClr val="EFF1F8"/>
                </a:solidFill>
                <a:latin typeface="Tahoma"/>
                <a:ea typeface="Tahoma"/>
                <a:cs typeface="Tahoma"/>
                <a:sym typeface="Tahoma"/>
              </a:rPr>
              <a:t>Exploratory data analysis</a:t>
            </a:r>
            <a:endParaRPr sz="2700">
              <a:latin typeface="Tahoma"/>
              <a:ea typeface="Tahoma"/>
              <a:cs typeface="Tahoma"/>
              <a:sym typeface="Tahoma"/>
            </a:endParaRPr>
          </a:p>
        </p:txBody>
      </p:sp>
      <p:sp>
        <p:nvSpPr>
          <p:cNvPr id="96" name="Google Shape;96;p4"/>
          <p:cNvSpPr txBox="1"/>
          <p:nvPr/>
        </p:nvSpPr>
        <p:spPr>
          <a:xfrm>
            <a:off x="17539462" y="9798202"/>
            <a:ext cx="12890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00007E"/>
                </a:solidFill>
                <a:latin typeface="Tahoma"/>
                <a:ea typeface="Tahoma"/>
                <a:cs typeface="Tahoma"/>
                <a:sym typeface="Tahoma"/>
              </a:rPr>
              <a:t>4</a:t>
            </a:r>
            <a:endParaRPr sz="1400">
              <a:latin typeface="Tahoma"/>
              <a:ea typeface="Tahoma"/>
              <a:cs typeface="Tahoma"/>
              <a:sym typeface="Tahoma"/>
            </a:endParaRPr>
          </a:p>
        </p:txBody>
      </p:sp>
      <p:sp>
        <p:nvSpPr>
          <p:cNvPr id="97" name="Google Shape;97;p4"/>
          <p:cNvSpPr txBox="1"/>
          <p:nvPr/>
        </p:nvSpPr>
        <p:spPr>
          <a:xfrm>
            <a:off x="9962593" y="8262435"/>
            <a:ext cx="7729220" cy="112082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i="1" lang="en-US" sz="1800">
                <a:solidFill>
                  <a:srgbClr val="5F5F5F"/>
                </a:solidFill>
                <a:latin typeface="Trebuchet MS"/>
                <a:ea typeface="Trebuchet MS"/>
                <a:cs typeface="Trebuchet MS"/>
                <a:sym typeface="Trebuchet MS"/>
              </a:rPr>
              <a:t>Observation: As expected, higher values for Days_in_uci, bun_max, and bun_mean are positively correlated with mortality. Conversely, higher gcs_min and gcs_mean (better consciousness) are negatively correlated with mortality. This aligns with clinical intuition</a:t>
            </a:r>
            <a:endParaRPr sz="1800">
              <a:latin typeface="Trebuchet MS"/>
              <a:ea typeface="Trebuchet MS"/>
              <a:cs typeface="Trebuchet MS"/>
              <a:sym typeface="Trebuchet MS"/>
            </a:endParaRPr>
          </a:p>
        </p:txBody>
      </p:sp>
      <p:pic>
        <p:nvPicPr>
          <p:cNvPr id="98" name="Google Shape;98;p4"/>
          <p:cNvPicPr preferRelativeResize="0"/>
          <p:nvPr/>
        </p:nvPicPr>
        <p:blipFill rotWithShape="1">
          <a:blip r:embed="rId3">
            <a:alphaModFix/>
          </a:blip>
          <a:srcRect b="0" l="0" r="0" t="0"/>
          <a:stretch/>
        </p:blipFill>
        <p:spPr>
          <a:xfrm>
            <a:off x="486250" y="4082625"/>
            <a:ext cx="5751600" cy="4945850"/>
          </a:xfrm>
          <a:prstGeom prst="rect">
            <a:avLst/>
          </a:prstGeom>
          <a:noFill/>
          <a:ln>
            <a:noFill/>
          </a:ln>
        </p:spPr>
      </p:pic>
      <p:pic>
        <p:nvPicPr>
          <p:cNvPr id="99" name="Google Shape;99;p4"/>
          <p:cNvPicPr preferRelativeResize="0"/>
          <p:nvPr/>
        </p:nvPicPr>
        <p:blipFill rotWithShape="1">
          <a:blip r:embed="rId4">
            <a:alphaModFix/>
          </a:blip>
          <a:srcRect b="0" l="0" r="0" t="0"/>
          <a:stretch/>
        </p:blipFill>
        <p:spPr>
          <a:xfrm>
            <a:off x="6554163" y="4375008"/>
            <a:ext cx="3096057" cy="3210373"/>
          </a:xfrm>
          <a:prstGeom prst="rect">
            <a:avLst/>
          </a:prstGeom>
          <a:noFill/>
          <a:ln>
            <a:noFill/>
          </a:ln>
        </p:spPr>
      </p:pic>
      <p:pic>
        <p:nvPicPr>
          <p:cNvPr id="100" name="Google Shape;100;p4"/>
          <p:cNvPicPr preferRelativeResize="0"/>
          <p:nvPr/>
        </p:nvPicPr>
        <p:blipFill rotWithShape="1">
          <a:blip r:embed="rId5">
            <a:alphaModFix/>
          </a:blip>
          <a:srcRect b="-4514" l="0" r="0" t="2588"/>
          <a:stretch/>
        </p:blipFill>
        <p:spPr>
          <a:xfrm>
            <a:off x="10249059" y="3553205"/>
            <a:ext cx="6811326" cy="470923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5"/>
          <p:cNvSpPr txBox="1"/>
          <p:nvPr/>
        </p:nvSpPr>
        <p:spPr>
          <a:xfrm>
            <a:off x="17539462" y="9798202"/>
            <a:ext cx="12890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00007E"/>
                </a:solidFill>
                <a:latin typeface="Tahoma"/>
                <a:ea typeface="Tahoma"/>
                <a:cs typeface="Tahoma"/>
                <a:sym typeface="Tahoma"/>
              </a:rPr>
              <a:t>5</a:t>
            </a:r>
            <a:endParaRPr sz="1400">
              <a:latin typeface="Tahoma"/>
              <a:ea typeface="Tahoma"/>
              <a:cs typeface="Tahoma"/>
              <a:sym typeface="Tahoma"/>
            </a:endParaRPr>
          </a:p>
        </p:txBody>
      </p:sp>
      <p:sp>
        <p:nvSpPr>
          <p:cNvPr id="106" name="Google Shape;106;p5"/>
          <p:cNvSpPr txBox="1"/>
          <p:nvPr>
            <p:ph type="title"/>
          </p:nvPr>
        </p:nvSpPr>
        <p:spPr>
          <a:xfrm>
            <a:off x="486257" y="371602"/>
            <a:ext cx="8726728" cy="512571"/>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2700">
                <a:solidFill>
                  <a:srgbClr val="EFF1F8"/>
                </a:solidFill>
                <a:latin typeface="Tahoma"/>
                <a:ea typeface="Tahoma"/>
                <a:cs typeface="Tahoma"/>
                <a:sym typeface="Tahoma"/>
              </a:rPr>
              <a:t>Data Preprocessing</a:t>
            </a:r>
            <a:endParaRPr sz="2700">
              <a:latin typeface="Tahoma"/>
              <a:ea typeface="Tahoma"/>
              <a:cs typeface="Tahoma"/>
              <a:sym typeface="Tahoma"/>
            </a:endParaRPr>
          </a:p>
        </p:txBody>
      </p:sp>
      <p:grpSp>
        <p:nvGrpSpPr>
          <p:cNvPr id="107" name="Google Shape;107;p5"/>
          <p:cNvGrpSpPr/>
          <p:nvPr/>
        </p:nvGrpSpPr>
        <p:grpSpPr>
          <a:xfrm>
            <a:off x="211836" y="1289342"/>
            <a:ext cx="6288405" cy="8269224"/>
            <a:chOff x="211836" y="1289342"/>
            <a:chExt cx="6288405" cy="8269224"/>
          </a:xfrm>
        </p:grpSpPr>
        <p:pic>
          <p:nvPicPr>
            <p:cNvPr id="108" name="Google Shape;108;p5"/>
            <p:cNvPicPr preferRelativeResize="0"/>
            <p:nvPr/>
          </p:nvPicPr>
          <p:blipFill rotWithShape="1">
            <a:blip r:embed="rId3">
              <a:alphaModFix/>
            </a:blip>
            <a:srcRect b="0" l="0" r="0" t="0"/>
            <a:stretch/>
          </p:blipFill>
          <p:spPr>
            <a:xfrm>
              <a:off x="211836" y="1289342"/>
              <a:ext cx="5356860" cy="8269224"/>
            </a:xfrm>
            <a:prstGeom prst="rect">
              <a:avLst/>
            </a:prstGeom>
            <a:noFill/>
            <a:ln>
              <a:noFill/>
            </a:ln>
          </p:spPr>
        </p:pic>
        <p:pic>
          <p:nvPicPr>
            <p:cNvPr id="109" name="Google Shape;109;p5"/>
            <p:cNvPicPr preferRelativeResize="0"/>
            <p:nvPr/>
          </p:nvPicPr>
          <p:blipFill rotWithShape="1">
            <a:blip r:embed="rId4">
              <a:alphaModFix/>
            </a:blip>
            <a:srcRect b="0" l="0" r="0" t="0"/>
            <a:stretch/>
          </p:blipFill>
          <p:spPr>
            <a:xfrm>
              <a:off x="407352" y="1485201"/>
              <a:ext cx="4787392" cy="7698358"/>
            </a:xfrm>
            <a:prstGeom prst="rect">
              <a:avLst/>
            </a:prstGeom>
            <a:noFill/>
            <a:ln>
              <a:noFill/>
            </a:ln>
          </p:spPr>
        </p:pic>
        <p:sp>
          <p:nvSpPr>
            <p:cNvPr id="110" name="Google Shape;110;p5"/>
            <p:cNvSpPr/>
            <p:nvPr/>
          </p:nvSpPr>
          <p:spPr>
            <a:xfrm>
              <a:off x="5954776" y="1859661"/>
              <a:ext cx="545465" cy="545465"/>
            </a:xfrm>
            <a:custGeom>
              <a:rect b="b" l="l" r="r" t="t"/>
              <a:pathLst>
                <a:path extrusionOk="0" h="545464" w="545464">
                  <a:moveTo>
                    <a:pt x="272669" y="0"/>
                  </a:moveTo>
                  <a:lnTo>
                    <a:pt x="223648" y="4392"/>
                  </a:lnTo>
                  <a:lnTo>
                    <a:pt x="177513" y="17055"/>
                  </a:lnTo>
                  <a:lnTo>
                    <a:pt x="135033" y="37220"/>
                  </a:lnTo>
                  <a:lnTo>
                    <a:pt x="96979" y="64118"/>
                  </a:lnTo>
                  <a:lnTo>
                    <a:pt x="64118" y="96979"/>
                  </a:lnTo>
                  <a:lnTo>
                    <a:pt x="37220" y="135033"/>
                  </a:lnTo>
                  <a:lnTo>
                    <a:pt x="17055" y="177513"/>
                  </a:lnTo>
                  <a:lnTo>
                    <a:pt x="4392" y="223648"/>
                  </a:lnTo>
                  <a:lnTo>
                    <a:pt x="0" y="272669"/>
                  </a:lnTo>
                  <a:lnTo>
                    <a:pt x="4392" y="321656"/>
                  </a:lnTo>
                  <a:lnTo>
                    <a:pt x="17055" y="367773"/>
                  </a:lnTo>
                  <a:lnTo>
                    <a:pt x="37220" y="410247"/>
                  </a:lnTo>
                  <a:lnTo>
                    <a:pt x="64118" y="448306"/>
                  </a:lnTo>
                  <a:lnTo>
                    <a:pt x="96979" y="481178"/>
                  </a:lnTo>
                  <a:lnTo>
                    <a:pt x="135033" y="508089"/>
                  </a:lnTo>
                  <a:lnTo>
                    <a:pt x="177513" y="528268"/>
                  </a:lnTo>
                  <a:lnTo>
                    <a:pt x="223648" y="540941"/>
                  </a:lnTo>
                  <a:lnTo>
                    <a:pt x="272669" y="545338"/>
                  </a:lnTo>
                  <a:lnTo>
                    <a:pt x="321689" y="540941"/>
                  </a:lnTo>
                  <a:lnTo>
                    <a:pt x="367824" y="528268"/>
                  </a:lnTo>
                  <a:lnTo>
                    <a:pt x="410304" y="508089"/>
                  </a:lnTo>
                  <a:lnTo>
                    <a:pt x="448358" y="481178"/>
                  </a:lnTo>
                  <a:lnTo>
                    <a:pt x="481219" y="448306"/>
                  </a:lnTo>
                  <a:lnTo>
                    <a:pt x="508117" y="410247"/>
                  </a:lnTo>
                  <a:lnTo>
                    <a:pt x="528282" y="367773"/>
                  </a:lnTo>
                  <a:lnTo>
                    <a:pt x="540945" y="321656"/>
                  </a:lnTo>
                  <a:lnTo>
                    <a:pt x="545338" y="272669"/>
                  </a:lnTo>
                  <a:lnTo>
                    <a:pt x="540945" y="223648"/>
                  </a:lnTo>
                  <a:lnTo>
                    <a:pt x="528282" y="177513"/>
                  </a:lnTo>
                  <a:lnTo>
                    <a:pt x="508117" y="135033"/>
                  </a:lnTo>
                  <a:lnTo>
                    <a:pt x="481219" y="96979"/>
                  </a:lnTo>
                  <a:lnTo>
                    <a:pt x="448358" y="64118"/>
                  </a:lnTo>
                  <a:lnTo>
                    <a:pt x="410304" y="37220"/>
                  </a:lnTo>
                  <a:lnTo>
                    <a:pt x="367824" y="17055"/>
                  </a:lnTo>
                  <a:lnTo>
                    <a:pt x="321689" y="4392"/>
                  </a:lnTo>
                  <a:lnTo>
                    <a:pt x="272669" y="0"/>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1" name="Google Shape;111;p5"/>
          <p:cNvSpPr txBox="1"/>
          <p:nvPr/>
        </p:nvSpPr>
        <p:spPr>
          <a:xfrm>
            <a:off x="5874257" y="1909953"/>
            <a:ext cx="10712700" cy="2455800"/>
          </a:xfrm>
          <a:prstGeom prst="rect">
            <a:avLst/>
          </a:prstGeom>
          <a:noFill/>
          <a:ln>
            <a:noFill/>
          </a:ln>
        </p:spPr>
        <p:txBody>
          <a:bodyPr anchorCtr="0" anchor="t" bIns="0" lIns="0" spcFirstLastPara="1" rIns="0" wrap="square" tIns="12700">
            <a:spAutoFit/>
          </a:bodyPr>
          <a:lstStyle/>
          <a:p>
            <a:pPr indent="0" lvl="0" marL="896619" rtl="0" algn="l">
              <a:lnSpc>
                <a:spcPct val="100000"/>
              </a:lnSpc>
              <a:spcBef>
                <a:spcPts val="0"/>
              </a:spcBef>
              <a:spcAft>
                <a:spcPts val="0"/>
              </a:spcAft>
              <a:buNone/>
            </a:pPr>
            <a:r>
              <a:rPr b="1" lang="en-US" sz="2400">
                <a:solidFill>
                  <a:srgbClr val="00007E"/>
                </a:solidFill>
                <a:latin typeface="Tahoma"/>
                <a:ea typeface="Tahoma"/>
                <a:cs typeface="Tahoma"/>
                <a:sym typeface="Tahoma"/>
              </a:rPr>
              <a:t>Preprocessing steps taken</a:t>
            </a:r>
            <a:endParaRPr b="1" sz="2400">
              <a:solidFill>
                <a:srgbClr val="00007E"/>
              </a:solidFill>
              <a:latin typeface="Tahoma"/>
              <a:ea typeface="Tahoma"/>
              <a:cs typeface="Tahoma"/>
              <a:sym typeface="Tahoma"/>
            </a:endParaRPr>
          </a:p>
          <a:p>
            <a:pPr indent="0" lvl="0" marL="896619" rtl="0" algn="l">
              <a:lnSpc>
                <a:spcPct val="100000"/>
              </a:lnSpc>
              <a:spcBef>
                <a:spcPts val="100"/>
              </a:spcBef>
              <a:spcAft>
                <a:spcPts val="0"/>
              </a:spcAft>
              <a:buNone/>
            </a:pPr>
            <a:r>
              <a:t/>
            </a:r>
            <a:endParaRPr sz="2400">
              <a:latin typeface="Tahoma"/>
              <a:ea typeface="Tahoma"/>
              <a:cs typeface="Tahoma"/>
              <a:sym typeface="Tahoma"/>
            </a:endParaRPr>
          </a:p>
          <a:p>
            <a:pPr indent="-286385" lvl="0" marL="299085" rtl="0" algn="l">
              <a:lnSpc>
                <a:spcPct val="100000"/>
              </a:lnSpc>
              <a:spcBef>
                <a:spcPts val="0"/>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Handling Missing Values:</a:t>
            </a:r>
            <a:r>
              <a:rPr lang="en-US" sz="2000">
                <a:solidFill>
                  <a:srgbClr val="434343"/>
                </a:solidFill>
                <a:latin typeface="Tahoma"/>
                <a:ea typeface="Tahoma"/>
                <a:cs typeface="Tahoma"/>
                <a:sym typeface="Tahoma"/>
              </a:rPr>
              <a:t> Median imputation was applied to ensure robustness and avoid data loss.</a:t>
            </a:r>
            <a:endParaRPr sz="2000">
              <a:latin typeface="Tahoma"/>
              <a:ea typeface="Tahoma"/>
              <a:cs typeface="Tahoma"/>
              <a:sym typeface="Tahoma"/>
            </a:endParaRPr>
          </a:p>
          <a:p>
            <a:pPr indent="-287019" lvl="0" marL="299085" marR="5080" rtl="0" algn="l">
              <a:lnSpc>
                <a:spcPct val="100000"/>
              </a:lnSpc>
              <a:spcBef>
                <a:spcPts val="395"/>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Handling Outliers:</a:t>
            </a:r>
            <a:r>
              <a:rPr lang="en-US" sz="2000">
                <a:solidFill>
                  <a:srgbClr val="434343"/>
                </a:solidFill>
                <a:latin typeface="Tahoma"/>
                <a:ea typeface="Tahoma"/>
                <a:cs typeface="Tahoma"/>
                <a:sym typeface="Tahoma"/>
              </a:rPr>
              <a:t> May represent critical medical conditions</a:t>
            </a:r>
            <a:endParaRPr/>
          </a:p>
          <a:p>
            <a:pPr indent="-287019" lvl="0" marL="299085" marR="5080" rtl="0" algn="l">
              <a:lnSpc>
                <a:spcPct val="100000"/>
              </a:lnSpc>
              <a:spcBef>
                <a:spcPts val="395"/>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Feature Scaling:</a:t>
            </a:r>
            <a:r>
              <a:rPr lang="en-US" sz="2000">
                <a:solidFill>
                  <a:srgbClr val="434343"/>
                </a:solidFill>
                <a:latin typeface="Tahoma"/>
                <a:ea typeface="Tahoma"/>
                <a:cs typeface="Tahoma"/>
                <a:sym typeface="Tahoma"/>
              </a:rPr>
              <a:t> Important for algorithms sensitive to scale</a:t>
            </a:r>
            <a:endParaRPr/>
          </a:p>
          <a:p>
            <a:pPr indent="-287019" lvl="0" marL="299085" marR="5080" rtl="0" algn="l">
              <a:lnSpc>
                <a:spcPct val="100000"/>
              </a:lnSpc>
              <a:spcBef>
                <a:spcPts val="395"/>
              </a:spcBef>
              <a:spcAft>
                <a:spcPts val="0"/>
              </a:spcAft>
              <a:buClr>
                <a:srgbClr val="434343"/>
              </a:buClr>
              <a:buSzPts val="2000"/>
              <a:buFont typeface="Arial"/>
              <a:buChar char="•"/>
            </a:pPr>
            <a:r>
              <a:rPr b="1" lang="en-US" sz="2000">
                <a:solidFill>
                  <a:srgbClr val="434343"/>
                </a:solidFill>
                <a:latin typeface="Tahoma"/>
                <a:ea typeface="Tahoma"/>
                <a:cs typeface="Tahoma"/>
                <a:sym typeface="Tahoma"/>
              </a:rPr>
              <a:t>Handling Class Imbalance:</a:t>
            </a:r>
            <a:r>
              <a:rPr lang="en-US" sz="2000">
                <a:solidFill>
                  <a:srgbClr val="434343"/>
                </a:solidFill>
                <a:latin typeface="Tahoma"/>
                <a:ea typeface="Tahoma"/>
                <a:cs typeface="Tahoma"/>
                <a:sym typeface="Tahoma"/>
              </a:rPr>
              <a:t> Critical in medical prediction tasks</a:t>
            </a:r>
            <a:endParaRPr sz="2000">
              <a:latin typeface="Tahoma"/>
              <a:ea typeface="Tahoma"/>
              <a:cs typeface="Tahoma"/>
              <a:sym typeface="Tahoma"/>
            </a:endParaRPr>
          </a:p>
        </p:txBody>
      </p:sp>
      <p:grpSp>
        <p:nvGrpSpPr>
          <p:cNvPr id="112" name="Google Shape;112;p5"/>
          <p:cNvGrpSpPr/>
          <p:nvPr/>
        </p:nvGrpSpPr>
        <p:grpSpPr>
          <a:xfrm>
            <a:off x="5954776" y="2008484"/>
            <a:ext cx="545465" cy="4307988"/>
            <a:chOff x="5954776" y="2008484"/>
            <a:chExt cx="545465" cy="4307988"/>
          </a:xfrm>
        </p:grpSpPr>
        <p:pic>
          <p:nvPicPr>
            <p:cNvPr id="113" name="Google Shape;113;p5"/>
            <p:cNvPicPr preferRelativeResize="0"/>
            <p:nvPr/>
          </p:nvPicPr>
          <p:blipFill rotWithShape="1">
            <a:blip r:embed="rId5">
              <a:alphaModFix/>
            </a:blip>
            <a:srcRect b="0" l="0" r="0" t="0"/>
            <a:stretch/>
          </p:blipFill>
          <p:spPr>
            <a:xfrm>
              <a:off x="6151615" y="2008484"/>
              <a:ext cx="152562" cy="248756"/>
            </a:xfrm>
            <a:prstGeom prst="rect">
              <a:avLst/>
            </a:prstGeom>
            <a:noFill/>
            <a:ln>
              <a:noFill/>
            </a:ln>
          </p:spPr>
        </p:pic>
        <p:sp>
          <p:nvSpPr>
            <p:cNvPr id="114" name="Google Shape;114;p5"/>
            <p:cNvSpPr/>
            <p:nvPr/>
          </p:nvSpPr>
          <p:spPr>
            <a:xfrm>
              <a:off x="5954776" y="5771007"/>
              <a:ext cx="545465" cy="545465"/>
            </a:xfrm>
            <a:custGeom>
              <a:rect b="b" l="l" r="r" t="t"/>
              <a:pathLst>
                <a:path extrusionOk="0" h="545464" w="545464">
                  <a:moveTo>
                    <a:pt x="272669" y="0"/>
                  </a:moveTo>
                  <a:lnTo>
                    <a:pt x="223648" y="4392"/>
                  </a:lnTo>
                  <a:lnTo>
                    <a:pt x="177513" y="17055"/>
                  </a:lnTo>
                  <a:lnTo>
                    <a:pt x="135033" y="37220"/>
                  </a:lnTo>
                  <a:lnTo>
                    <a:pt x="96979" y="64118"/>
                  </a:lnTo>
                  <a:lnTo>
                    <a:pt x="64118" y="96979"/>
                  </a:lnTo>
                  <a:lnTo>
                    <a:pt x="37220" y="135033"/>
                  </a:lnTo>
                  <a:lnTo>
                    <a:pt x="17055" y="177513"/>
                  </a:lnTo>
                  <a:lnTo>
                    <a:pt x="4392" y="223648"/>
                  </a:lnTo>
                  <a:lnTo>
                    <a:pt x="0" y="272668"/>
                  </a:lnTo>
                  <a:lnTo>
                    <a:pt x="4392" y="321689"/>
                  </a:lnTo>
                  <a:lnTo>
                    <a:pt x="17055" y="367824"/>
                  </a:lnTo>
                  <a:lnTo>
                    <a:pt x="37220" y="410304"/>
                  </a:lnTo>
                  <a:lnTo>
                    <a:pt x="64118" y="448358"/>
                  </a:lnTo>
                  <a:lnTo>
                    <a:pt x="96979" y="481219"/>
                  </a:lnTo>
                  <a:lnTo>
                    <a:pt x="135033" y="508117"/>
                  </a:lnTo>
                  <a:lnTo>
                    <a:pt x="177513" y="528282"/>
                  </a:lnTo>
                  <a:lnTo>
                    <a:pt x="223648" y="540945"/>
                  </a:lnTo>
                  <a:lnTo>
                    <a:pt x="272669" y="545338"/>
                  </a:lnTo>
                  <a:lnTo>
                    <a:pt x="321689" y="540945"/>
                  </a:lnTo>
                  <a:lnTo>
                    <a:pt x="367824" y="528282"/>
                  </a:lnTo>
                  <a:lnTo>
                    <a:pt x="410304" y="508117"/>
                  </a:lnTo>
                  <a:lnTo>
                    <a:pt x="448358" y="481219"/>
                  </a:lnTo>
                  <a:lnTo>
                    <a:pt x="481219" y="448358"/>
                  </a:lnTo>
                  <a:lnTo>
                    <a:pt x="508117" y="410304"/>
                  </a:lnTo>
                  <a:lnTo>
                    <a:pt x="528282" y="367824"/>
                  </a:lnTo>
                  <a:lnTo>
                    <a:pt x="540945" y="321689"/>
                  </a:lnTo>
                  <a:lnTo>
                    <a:pt x="545338" y="272668"/>
                  </a:lnTo>
                  <a:lnTo>
                    <a:pt x="540945" y="223648"/>
                  </a:lnTo>
                  <a:lnTo>
                    <a:pt x="528282" y="177513"/>
                  </a:lnTo>
                  <a:lnTo>
                    <a:pt x="508117" y="135033"/>
                  </a:lnTo>
                  <a:lnTo>
                    <a:pt x="481219" y="96979"/>
                  </a:lnTo>
                  <a:lnTo>
                    <a:pt x="448358" y="64118"/>
                  </a:lnTo>
                  <a:lnTo>
                    <a:pt x="410304" y="37220"/>
                  </a:lnTo>
                  <a:lnTo>
                    <a:pt x="367824" y="17055"/>
                  </a:lnTo>
                  <a:lnTo>
                    <a:pt x="321689" y="4392"/>
                  </a:lnTo>
                  <a:lnTo>
                    <a:pt x="272669" y="0"/>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15" name="Google Shape;115;p5"/>
          <p:cNvSpPr txBox="1"/>
          <p:nvPr/>
        </p:nvSpPr>
        <p:spPr>
          <a:xfrm>
            <a:off x="5874257" y="5295804"/>
            <a:ext cx="11880600" cy="3576300"/>
          </a:xfrm>
          <a:prstGeom prst="rect">
            <a:avLst/>
          </a:prstGeom>
          <a:noFill/>
          <a:ln>
            <a:noFill/>
          </a:ln>
        </p:spPr>
        <p:txBody>
          <a:bodyPr anchorCtr="0" anchor="t" bIns="0" lIns="0" spcFirstLastPara="1" rIns="0" wrap="square" tIns="12700">
            <a:spAutoFit/>
          </a:bodyPr>
          <a:lstStyle/>
          <a:p>
            <a:pPr indent="0" lvl="0" marL="896619" rtl="0" algn="l">
              <a:lnSpc>
                <a:spcPct val="100000"/>
              </a:lnSpc>
              <a:spcBef>
                <a:spcPts val="0"/>
              </a:spcBef>
              <a:spcAft>
                <a:spcPts val="0"/>
              </a:spcAft>
              <a:buNone/>
            </a:pPr>
            <a:r>
              <a:t/>
            </a:r>
            <a:endParaRPr b="1" sz="2400">
              <a:solidFill>
                <a:srgbClr val="00007E"/>
              </a:solidFill>
              <a:latin typeface="Tahoma"/>
              <a:ea typeface="Tahoma"/>
              <a:cs typeface="Tahoma"/>
              <a:sym typeface="Tahoma"/>
            </a:endParaRPr>
          </a:p>
          <a:p>
            <a:pPr indent="0" lvl="0" marL="896618" rtl="0" algn="l">
              <a:lnSpc>
                <a:spcPct val="100000"/>
              </a:lnSpc>
              <a:spcBef>
                <a:spcPts val="100"/>
              </a:spcBef>
              <a:spcAft>
                <a:spcPts val="0"/>
              </a:spcAft>
              <a:buNone/>
            </a:pPr>
            <a:r>
              <a:rPr b="1" lang="en-US" sz="2400">
                <a:solidFill>
                  <a:srgbClr val="00007E"/>
                </a:solidFill>
                <a:latin typeface="Tahoma"/>
                <a:ea typeface="Tahoma"/>
                <a:cs typeface="Tahoma"/>
                <a:sym typeface="Tahoma"/>
              </a:rPr>
              <a:t>Feature Engineering- key highlight</a:t>
            </a:r>
            <a:endParaRPr sz="2000">
              <a:solidFill>
                <a:srgbClr val="434343"/>
              </a:solidFill>
              <a:latin typeface="Tahoma"/>
              <a:ea typeface="Tahoma"/>
              <a:cs typeface="Tahoma"/>
              <a:sym typeface="Tahoma"/>
            </a:endParaRPr>
          </a:p>
          <a:p>
            <a:pPr indent="-287019" lvl="0" marL="299085" marR="5080" rtl="0" algn="just">
              <a:lnSpc>
                <a:spcPct val="100000"/>
              </a:lnSpc>
              <a:spcBef>
                <a:spcPts val="2320"/>
              </a:spcBef>
              <a:spcAft>
                <a:spcPts val="0"/>
              </a:spcAft>
              <a:buClr>
                <a:srgbClr val="434343"/>
              </a:buClr>
              <a:buSzPts val="2000"/>
              <a:buFont typeface="Arial"/>
              <a:buChar char="•"/>
            </a:pPr>
            <a:r>
              <a:rPr lang="en-US" sz="2000">
                <a:solidFill>
                  <a:srgbClr val="434343"/>
                </a:solidFill>
                <a:latin typeface="Tahoma"/>
                <a:ea typeface="Tahoma"/>
                <a:cs typeface="Tahoma"/>
                <a:sym typeface="Tahoma"/>
              </a:rPr>
              <a:t>The PaO2/FiO2 Ratio was introduced to enhance the model's predictive power by providing a nuanced measure of oxygenation efficiency in the lungs. As a key marker of respiratory function, it combines PaO2 and FiO2 to assess conditions like Acute Respiratory Distress Syndrome (ARDS) and improve insights into respiratory health, ultimately aiding in more accurate prediction of patient outcomes. It reflects the efficiency of oxygen transfer in the lungs.</a:t>
            </a:r>
            <a:endParaRPr sz="2000">
              <a:latin typeface="Tahoma"/>
              <a:ea typeface="Tahoma"/>
              <a:cs typeface="Tahoma"/>
              <a:sym typeface="Tahoma"/>
            </a:endParaRPr>
          </a:p>
          <a:p>
            <a:pPr indent="-287019" lvl="0" marL="299085" marR="6350" rtl="0" algn="just">
              <a:lnSpc>
                <a:spcPct val="100000"/>
              </a:lnSpc>
              <a:spcBef>
                <a:spcPts val="400"/>
              </a:spcBef>
              <a:spcAft>
                <a:spcPts val="0"/>
              </a:spcAft>
              <a:buClr>
                <a:srgbClr val="434343"/>
              </a:buClr>
              <a:buSzPts val="2000"/>
              <a:buFont typeface="Arial"/>
              <a:buChar char="•"/>
            </a:pPr>
            <a:r>
              <a:rPr lang="en-US" sz="2000">
                <a:solidFill>
                  <a:srgbClr val="434343"/>
                </a:solidFill>
                <a:latin typeface="Tahoma"/>
                <a:ea typeface="Tahoma"/>
                <a:cs typeface="Tahoma"/>
                <a:sym typeface="Tahoma"/>
              </a:rPr>
              <a:t>By integrating this ratio, the model gains a feature that directly correlates with key clinical outcomes, enabling it to detect subtle patterns and variations in oxygenation that may signal worsening or improving conditions.</a:t>
            </a:r>
            <a:endParaRPr sz="2000">
              <a:latin typeface="Tahoma"/>
              <a:ea typeface="Tahoma"/>
              <a:cs typeface="Tahoma"/>
              <a:sym typeface="Tahoma"/>
            </a:endParaRPr>
          </a:p>
        </p:txBody>
      </p:sp>
      <p:pic>
        <p:nvPicPr>
          <p:cNvPr id="116" name="Google Shape;116;p5"/>
          <p:cNvPicPr preferRelativeResize="0"/>
          <p:nvPr/>
        </p:nvPicPr>
        <p:blipFill rotWithShape="1">
          <a:blip r:embed="rId5">
            <a:alphaModFix/>
          </a:blip>
          <a:srcRect b="0" l="0" r="0" t="0"/>
          <a:stretch/>
        </p:blipFill>
        <p:spPr>
          <a:xfrm>
            <a:off x="6151615" y="5961544"/>
            <a:ext cx="152562" cy="24875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486257" y="371602"/>
            <a:ext cx="8726728" cy="505267"/>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rPr lang="en-US" sz="3200"/>
              <a:t>Multiple Algorithm Approach</a:t>
            </a:r>
            <a:endParaRPr/>
          </a:p>
        </p:txBody>
      </p:sp>
      <p:sp>
        <p:nvSpPr>
          <p:cNvPr id="122" name="Google Shape;122;p7"/>
          <p:cNvSpPr txBox="1"/>
          <p:nvPr/>
        </p:nvSpPr>
        <p:spPr>
          <a:xfrm>
            <a:off x="990600" y="1337351"/>
            <a:ext cx="16764000" cy="82194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4800"/>
              <a:t>We trained multiple algorithms to find the best performer:</a:t>
            </a:r>
            <a:endParaRPr/>
          </a:p>
          <a:p>
            <a:pPr indent="0" lvl="0" marL="0" rtl="0" algn="l">
              <a:spcBef>
                <a:spcPts val="0"/>
              </a:spcBef>
              <a:spcAft>
                <a:spcPts val="0"/>
              </a:spcAft>
              <a:buNone/>
            </a:pPr>
            <a:r>
              <a:t/>
            </a:r>
            <a:endParaRPr sz="4800"/>
          </a:p>
          <a:p>
            <a:pPr indent="-914400" lvl="0" marL="914400" rtl="0" algn="l">
              <a:spcBef>
                <a:spcPts val="0"/>
              </a:spcBef>
              <a:spcAft>
                <a:spcPts val="0"/>
              </a:spcAft>
              <a:buSzPts val="4800"/>
              <a:buFont typeface="Calibri"/>
              <a:buAutoNum type="arabicPeriod"/>
            </a:pPr>
            <a:r>
              <a:rPr b="1" lang="en-US" sz="4800"/>
              <a:t>Logistic Regression</a:t>
            </a:r>
            <a:r>
              <a:rPr lang="en-US" sz="4800"/>
              <a:t>: Interpretable baseline</a:t>
            </a:r>
            <a:endParaRPr/>
          </a:p>
          <a:p>
            <a:pPr indent="-914400" lvl="0" marL="914400" rtl="0" algn="l">
              <a:spcBef>
                <a:spcPts val="0"/>
              </a:spcBef>
              <a:spcAft>
                <a:spcPts val="0"/>
              </a:spcAft>
              <a:buSzPts val="4800"/>
              <a:buFont typeface="Calibri"/>
              <a:buAutoNum type="arabicPeriod"/>
            </a:pPr>
            <a:r>
              <a:rPr b="1" lang="en-US" sz="4800"/>
              <a:t>Random Forest: </a:t>
            </a:r>
            <a:r>
              <a:rPr lang="en-US" sz="4800"/>
              <a:t>Ensemble method, handles non-linearity</a:t>
            </a:r>
            <a:endParaRPr/>
          </a:p>
          <a:p>
            <a:pPr indent="-914400" lvl="0" marL="914400" rtl="0" algn="l">
              <a:spcBef>
                <a:spcPts val="0"/>
              </a:spcBef>
              <a:spcAft>
                <a:spcPts val="0"/>
              </a:spcAft>
              <a:buSzPts val="4800"/>
              <a:buFont typeface="Calibri"/>
              <a:buAutoNum type="arabicPeriod"/>
            </a:pPr>
            <a:r>
              <a:rPr b="1" lang="en-US" sz="4800"/>
              <a:t>Gradient Boosting:</a:t>
            </a:r>
            <a:r>
              <a:rPr lang="en-US" sz="4800"/>
              <a:t> Advanced ensemble technique</a:t>
            </a:r>
            <a:endParaRPr/>
          </a:p>
          <a:p>
            <a:pPr indent="-914400" lvl="0" marL="914400" rtl="0" algn="l">
              <a:spcBef>
                <a:spcPts val="0"/>
              </a:spcBef>
              <a:spcAft>
                <a:spcPts val="0"/>
              </a:spcAft>
              <a:buSzPts val="4800"/>
              <a:buFont typeface="Calibri"/>
              <a:buAutoNum type="arabicPeriod"/>
            </a:pPr>
            <a:r>
              <a:rPr b="1" lang="en-US" sz="4800"/>
              <a:t>Support Vector Machine:</a:t>
            </a:r>
            <a:r>
              <a:rPr lang="en-US" sz="4800"/>
              <a:t> Effective for high-dimensional data</a:t>
            </a:r>
            <a:endParaRPr/>
          </a:p>
          <a:p>
            <a:pPr indent="-914400" lvl="0" marL="914400" rtl="0" algn="l">
              <a:spcBef>
                <a:spcPts val="0"/>
              </a:spcBef>
              <a:spcAft>
                <a:spcPts val="0"/>
              </a:spcAft>
              <a:buSzPts val="4800"/>
              <a:buFont typeface="Calibri"/>
              <a:buAutoNum type="arabicPeriod"/>
            </a:pPr>
            <a:r>
              <a:rPr b="1" lang="en-US" sz="4800"/>
              <a:t>K-Nearest Neighbors:</a:t>
            </a:r>
            <a:r>
              <a:rPr lang="en-US" sz="4800"/>
              <a:t> Instance-based learning</a:t>
            </a:r>
            <a:endParaRPr/>
          </a:p>
          <a:p>
            <a:pPr indent="-914400" lvl="0" marL="914400" rtl="0" algn="l">
              <a:spcBef>
                <a:spcPts val="0"/>
              </a:spcBef>
              <a:spcAft>
                <a:spcPts val="0"/>
              </a:spcAft>
              <a:buSzPts val="4800"/>
              <a:buFont typeface="Calibri"/>
              <a:buAutoNum type="arabicPeriod"/>
            </a:pPr>
            <a:r>
              <a:rPr b="1" lang="en-US" sz="4800"/>
              <a:t>Naive Bayes:</a:t>
            </a:r>
            <a:r>
              <a:rPr lang="en-US" sz="4800"/>
              <a:t> Probabilistic classifier</a:t>
            </a:r>
            <a:endParaRPr/>
          </a:p>
          <a:p>
            <a:pPr indent="-914400" lvl="0" marL="914400" rtl="0" algn="l">
              <a:spcBef>
                <a:spcPts val="0"/>
              </a:spcBef>
              <a:spcAft>
                <a:spcPts val="0"/>
              </a:spcAft>
              <a:buSzPts val="4800"/>
              <a:buFont typeface="Calibri"/>
              <a:buAutoNum type="arabicPeriod"/>
            </a:pPr>
            <a:r>
              <a:rPr b="1" lang="en-US" sz="4800"/>
              <a:t>Deep Neural Network: </a:t>
            </a:r>
            <a:r>
              <a:rPr lang="en-US" sz="4800"/>
              <a:t>Captures complex patterns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6" name="Shape 126"/>
        <p:cNvGrpSpPr/>
        <p:nvPr/>
      </p:nvGrpSpPr>
      <p:grpSpPr>
        <a:xfrm>
          <a:off x="0" y="0"/>
          <a:ext cx="0" cy="0"/>
          <a:chOff x="0" y="0"/>
          <a:chExt cx="0" cy="0"/>
        </a:xfrm>
      </p:grpSpPr>
      <p:grpSp>
        <p:nvGrpSpPr>
          <p:cNvPr id="127" name="Google Shape;127;p8"/>
          <p:cNvGrpSpPr/>
          <p:nvPr/>
        </p:nvGrpSpPr>
        <p:grpSpPr>
          <a:xfrm>
            <a:off x="0" y="0"/>
            <a:ext cx="18288000" cy="9582975"/>
            <a:chOff x="0" y="0"/>
            <a:chExt cx="18288000" cy="9582975"/>
          </a:xfrm>
        </p:grpSpPr>
        <p:sp>
          <p:nvSpPr>
            <p:cNvPr id="128" name="Google Shape;128;p8"/>
            <p:cNvSpPr/>
            <p:nvPr/>
          </p:nvSpPr>
          <p:spPr>
            <a:xfrm>
              <a:off x="0" y="1172400"/>
              <a:ext cx="18280380" cy="8410575"/>
            </a:xfrm>
            <a:custGeom>
              <a:rect b="b" l="l" r="r" t="t"/>
              <a:pathLst>
                <a:path extrusionOk="0" h="8410575" w="18280380">
                  <a:moveTo>
                    <a:pt x="18280328" y="0"/>
                  </a:moveTo>
                  <a:lnTo>
                    <a:pt x="0" y="0"/>
                  </a:lnTo>
                  <a:lnTo>
                    <a:pt x="0" y="8410448"/>
                  </a:lnTo>
                  <a:lnTo>
                    <a:pt x="18280328" y="8410448"/>
                  </a:lnTo>
                  <a:lnTo>
                    <a:pt x="18280328" y="0"/>
                  </a:lnTo>
                  <a:close/>
                </a:path>
              </a:pathLst>
            </a:custGeom>
            <a:solidFill>
              <a:srgbClr val="EFF1F8"/>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29" name="Google Shape;129;p8"/>
            <p:cNvSpPr/>
            <p:nvPr/>
          </p:nvSpPr>
          <p:spPr>
            <a:xfrm>
              <a:off x="0" y="0"/>
              <a:ext cx="18288000" cy="1139190"/>
            </a:xfrm>
            <a:custGeom>
              <a:rect b="b" l="l" r="r" t="t"/>
              <a:pathLst>
                <a:path extrusionOk="0" h="1139190" w="18288000">
                  <a:moveTo>
                    <a:pt x="0" y="1138808"/>
                  </a:moveTo>
                  <a:lnTo>
                    <a:pt x="18288000" y="1138808"/>
                  </a:lnTo>
                  <a:lnTo>
                    <a:pt x="18288000" y="0"/>
                  </a:lnTo>
                  <a:lnTo>
                    <a:pt x="0" y="0"/>
                  </a:lnTo>
                  <a:lnTo>
                    <a:pt x="0" y="1138808"/>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30" name="Google Shape;130;p8"/>
          <p:cNvSpPr txBox="1"/>
          <p:nvPr/>
        </p:nvSpPr>
        <p:spPr>
          <a:xfrm>
            <a:off x="17539462" y="9798202"/>
            <a:ext cx="12890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871846"/>
                </a:solidFill>
                <a:latin typeface="Tahoma"/>
                <a:ea typeface="Tahoma"/>
                <a:cs typeface="Tahoma"/>
                <a:sym typeface="Tahoma"/>
              </a:rPr>
              <a:t>8</a:t>
            </a:r>
            <a:endParaRPr sz="1400">
              <a:latin typeface="Tahoma"/>
              <a:ea typeface="Tahoma"/>
              <a:cs typeface="Tahoma"/>
              <a:sym typeface="Tahoma"/>
            </a:endParaRPr>
          </a:p>
        </p:txBody>
      </p:sp>
      <p:sp>
        <p:nvSpPr>
          <p:cNvPr id="131" name="Google Shape;131;p8"/>
          <p:cNvSpPr txBox="1"/>
          <p:nvPr/>
        </p:nvSpPr>
        <p:spPr>
          <a:xfrm>
            <a:off x="1887775" y="229700"/>
            <a:ext cx="14582400" cy="14904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lang="en-US" sz="4800">
                <a:solidFill>
                  <a:schemeClr val="lt1"/>
                </a:solidFill>
                <a:latin typeface="Tahoma"/>
                <a:ea typeface="Tahoma"/>
                <a:cs typeface="Tahoma"/>
                <a:sym typeface="Tahoma"/>
              </a:rPr>
              <a:t>MODELS AND THEIR PERFORMANCE</a:t>
            </a:r>
            <a:endParaRPr sz="4800">
              <a:solidFill>
                <a:schemeClr val="lt1"/>
              </a:solidFill>
              <a:latin typeface="Tahoma"/>
              <a:ea typeface="Tahoma"/>
              <a:cs typeface="Tahoma"/>
              <a:sym typeface="Tahoma"/>
            </a:endParaRPr>
          </a:p>
          <a:p>
            <a:pPr indent="0" lvl="0" marL="12700" marR="5080" rtl="0" algn="l">
              <a:lnSpc>
                <a:spcPct val="100000"/>
              </a:lnSpc>
              <a:spcBef>
                <a:spcPts val="0"/>
              </a:spcBef>
              <a:spcAft>
                <a:spcPts val="0"/>
              </a:spcAft>
              <a:buNone/>
            </a:pPr>
            <a:r>
              <a:t/>
            </a:r>
            <a:endParaRPr sz="4800">
              <a:solidFill>
                <a:schemeClr val="lt1"/>
              </a:solidFill>
              <a:latin typeface="Tahoma"/>
              <a:ea typeface="Tahoma"/>
              <a:cs typeface="Tahoma"/>
              <a:sym typeface="Tahoma"/>
            </a:endParaRPr>
          </a:p>
        </p:txBody>
      </p:sp>
      <p:sp>
        <p:nvSpPr>
          <p:cNvPr id="132" name="Google Shape;132;p8"/>
          <p:cNvSpPr/>
          <p:nvPr/>
        </p:nvSpPr>
        <p:spPr>
          <a:xfrm>
            <a:off x="7053960" y="1609852"/>
            <a:ext cx="9899650" cy="7067550"/>
          </a:xfrm>
          <a:custGeom>
            <a:rect b="b" l="l" r="r" t="t"/>
            <a:pathLst>
              <a:path extrusionOk="0" h="7067550" w="9899650">
                <a:moveTo>
                  <a:pt x="9899395" y="0"/>
                </a:moveTo>
                <a:lnTo>
                  <a:pt x="0" y="0"/>
                </a:lnTo>
                <a:lnTo>
                  <a:pt x="0" y="7067296"/>
                </a:lnTo>
                <a:lnTo>
                  <a:pt x="9899395" y="7067296"/>
                </a:lnTo>
                <a:lnTo>
                  <a:pt x="9899395" y="0"/>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33" name="Google Shape;133;p8"/>
          <p:cNvSpPr txBox="1"/>
          <p:nvPr/>
        </p:nvSpPr>
        <p:spPr>
          <a:xfrm>
            <a:off x="7133325" y="1632575"/>
            <a:ext cx="9501000" cy="5492400"/>
          </a:xfrm>
          <a:prstGeom prst="rect">
            <a:avLst/>
          </a:prstGeom>
          <a:noFill/>
          <a:ln>
            <a:noFill/>
          </a:ln>
        </p:spPr>
        <p:txBody>
          <a:bodyPr anchorCtr="0" anchor="t" bIns="0" lIns="0" spcFirstLastPara="1" rIns="0" wrap="square" tIns="12700">
            <a:spAutoFit/>
          </a:bodyPr>
          <a:lstStyle/>
          <a:p>
            <a:pPr indent="0" lvl="0" marL="0" rtl="0" algn="l">
              <a:spcBef>
                <a:spcPts val="0"/>
              </a:spcBef>
              <a:spcAft>
                <a:spcPts val="0"/>
              </a:spcAft>
              <a:buNone/>
            </a:pPr>
            <a:r>
              <a:t/>
            </a:r>
            <a:endParaRPr sz="3400">
              <a:solidFill>
                <a:schemeClr val="lt1"/>
              </a:solidFill>
            </a:endParaRPr>
          </a:p>
          <a:p>
            <a:pPr indent="-533400" lvl="0" marL="457200" rtl="0" algn="l">
              <a:spcBef>
                <a:spcPts val="0"/>
              </a:spcBef>
              <a:spcAft>
                <a:spcPts val="0"/>
              </a:spcAft>
              <a:buClr>
                <a:schemeClr val="lt1"/>
              </a:buClr>
              <a:buSzPts val="4800"/>
              <a:buChar char="•"/>
            </a:pPr>
            <a:r>
              <a:rPr b="1" lang="en-US" sz="2900">
                <a:solidFill>
                  <a:schemeClr val="lt1"/>
                </a:solidFill>
              </a:rPr>
              <a:t>Gradient Boosting</a:t>
            </a:r>
            <a:r>
              <a:rPr lang="en-US" sz="2900">
                <a:solidFill>
                  <a:schemeClr val="lt1"/>
                </a:solidFill>
              </a:rPr>
              <a:t> achieved the </a:t>
            </a:r>
            <a:r>
              <a:rPr b="1" lang="en-US" sz="2900">
                <a:solidFill>
                  <a:schemeClr val="lt1"/>
                </a:solidFill>
              </a:rPr>
              <a:t>highest AUC (0.885)</a:t>
            </a:r>
            <a:r>
              <a:rPr lang="en-US" sz="2900">
                <a:solidFill>
                  <a:schemeClr val="lt1"/>
                </a:solidFill>
              </a:rPr>
              <a:t> on the original data and remained strong after SMOTE.</a:t>
            </a:r>
            <a:endParaRPr sz="2900">
              <a:solidFill>
                <a:schemeClr val="lt1"/>
              </a:solidFill>
            </a:endParaRPr>
          </a:p>
          <a:p>
            <a:pPr indent="-533400" lvl="0" marL="457200" rtl="0" algn="l">
              <a:spcBef>
                <a:spcPts val="0"/>
              </a:spcBef>
              <a:spcAft>
                <a:spcPts val="0"/>
              </a:spcAft>
              <a:buClr>
                <a:schemeClr val="lt1"/>
              </a:buClr>
              <a:buSzPts val="4800"/>
              <a:buChar char="•"/>
            </a:pPr>
            <a:r>
              <a:rPr b="1" lang="en-US" sz="2900">
                <a:solidFill>
                  <a:schemeClr val="lt1"/>
                </a:solidFill>
              </a:rPr>
              <a:t>SMOTE generally improved the F1 score</a:t>
            </a:r>
            <a:r>
              <a:rPr lang="en-US" sz="2900">
                <a:solidFill>
                  <a:schemeClr val="lt1"/>
                </a:solidFill>
              </a:rPr>
              <a:t> across models, confirming that balancing the dataset helped minority class recognition.</a:t>
            </a:r>
            <a:endParaRPr sz="2900">
              <a:solidFill>
                <a:schemeClr val="lt1"/>
              </a:solidFill>
            </a:endParaRPr>
          </a:p>
          <a:p>
            <a:pPr indent="-533400" lvl="0" marL="457200" rtl="0" algn="l">
              <a:spcBef>
                <a:spcPts val="0"/>
              </a:spcBef>
              <a:spcAft>
                <a:spcPts val="0"/>
              </a:spcAft>
              <a:buClr>
                <a:schemeClr val="lt1"/>
              </a:buClr>
              <a:buSzPts val="4800"/>
              <a:buChar char="•"/>
            </a:pPr>
            <a:r>
              <a:rPr b="1" lang="en-US" sz="2900">
                <a:solidFill>
                  <a:schemeClr val="lt1"/>
                </a:solidFill>
              </a:rPr>
              <a:t>Decision Tree</a:t>
            </a:r>
            <a:r>
              <a:rPr lang="en-US" sz="2900">
                <a:solidFill>
                  <a:schemeClr val="lt1"/>
                </a:solidFill>
              </a:rPr>
              <a:t> and </a:t>
            </a:r>
            <a:r>
              <a:rPr b="1" lang="en-US" sz="2900">
                <a:solidFill>
                  <a:schemeClr val="lt1"/>
                </a:solidFill>
              </a:rPr>
              <a:t>KNN</a:t>
            </a:r>
            <a:r>
              <a:rPr lang="en-US" sz="2900">
                <a:solidFill>
                  <a:schemeClr val="lt1"/>
                </a:solidFill>
              </a:rPr>
              <a:t> performed weakest in AUC, indicating limited discriminative power.</a:t>
            </a:r>
            <a:endParaRPr sz="2900">
              <a:solidFill>
                <a:schemeClr val="lt1"/>
              </a:solidFill>
            </a:endParaRPr>
          </a:p>
          <a:p>
            <a:pPr indent="0" lvl="0" marL="457200" rtl="0" algn="l">
              <a:spcBef>
                <a:spcPts val="0"/>
              </a:spcBef>
              <a:spcAft>
                <a:spcPts val="0"/>
              </a:spcAft>
              <a:buNone/>
            </a:pPr>
            <a:r>
              <a:t/>
            </a:r>
            <a:endParaRPr sz="2900">
              <a:solidFill>
                <a:schemeClr val="lt1"/>
              </a:solidFill>
            </a:endParaRPr>
          </a:p>
          <a:p>
            <a:pPr indent="0" lvl="0" marL="0" rtl="0" algn="l">
              <a:lnSpc>
                <a:spcPct val="100000"/>
              </a:lnSpc>
              <a:spcBef>
                <a:spcPts val="0"/>
              </a:spcBef>
              <a:spcAft>
                <a:spcPts val="0"/>
              </a:spcAft>
              <a:buNone/>
            </a:pPr>
            <a:r>
              <a:t/>
            </a:r>
            <a:endParaRPr sz="3300">
              <a:solidFill>
                <a:schemeClr val="lt1"/>
              </a:solidFill>
            </a:endParaRPr>
          </a:p>
        </p:txBody>
      </p:sp>
      <p:pic>
        <p:nvPicPr>
          <p:cNvPr id="134" name="Google Shape;134;p8"/>
          <p:cNvPicPr preferRelativeResize="0"/>
          <p:nvPr/>
        </p:nvPicPr>
        <p:blipFill>
          <a:blip r:embed="rId3">
            <a:alphaModFix/>
          </a:blip>
          <a:stretch>
            <a:fillRect/>
          </a:stretch>
        </p:blipFill>
        <p:spPr>
          <a:xfrm>
            <a:off x="-1" y="1192850"/>
            <a:ext cx="6828425" cy="9094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9"/>
          <p:cNvSpPr txBox="1"/>
          <p:nvPr/>
        </p:nvSpPr>
        <p:spPr>
          <a:xfrm>
            <a:off x="17539462" y="9798202"/>
            <a:ext cx="128905" cy="23939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b="1" lang="en-US" sz="1400">
                <a:solidFill>
                  <a:srgbClr val="871846"/>
                </a:solidFill>
                <a:latin typeface="Tahoma"/>
                <a:ea typeface="Tahoma"/>
                <a:cs typeface="Tahoma"/>
                <a:sym typeface="Tahoma"/>
              </a:rPr>
              <a:t>9</a:t>
            </a:r>
            <a:endParaRPr sz="1400">
              <a:latin typeface="Tahoma"/>
              <a:ea typeface="Tahoma"/>
              <a:cs typeface="Tahoma"/>
              <a:sym typeface="Tahoma"/>
            </a:endParaRPr>
          </a:p>
        </p:txBody>
      </p:sp>
      <p:sp>
        <p:nvSpPr>
          <p:cNvPr id="140" name="Google Shape;140;p9"/>
          <p:cNvSpPr txBox="1"/>
          <p:nvPr>
            <p:ph type="title"/>
          </p:nvPr>
        </p:nvSpPr>
        <p:spPr>
          <a:xfrm>
            <a:off x="3429000" y="246225"/>
            <a:ext cx="7624200" cy="643200"/>
          </a:xfrm>
          <a:prstGeom prst="rect">
            <a:avLst/>
          </a:prstGeom>
          <a:noFill/>
          <a:ln>
            <a:noFill/>
          </a:ln>
        </p:spPr>
        <p:txBody>
          <a:bodyPr anchorCtr="0" anchor="t" bIns="0" lIns="0" spcFirstLastPara="1" rIns="0" wrap="square" tIns="12050">
            <a:spAutoFit/>
          </a:bodyPr>
          <a:lstStyle/>
          <a:p>
            <a:pPr indent="0" lvl="0" marL="457200" rtl="0" algn="l">
              <a:spcBef>
                <a:spcPts val="0"/>
              </a:spcBef>
              <a:spcAft>
                <a:spcPts val="0"/>
              </a:spcAft>
              <a:buClr>
                <a:schemeClr val="dk1"/>
              </a:buClr>
              <a:buSzPts val="1100"/>
              <a:buFont typeface="Arial"/>
              <a:buNone/>
            </a:pPr>
            <a:r>
              <a:rPr b="1" lang="en-US" sz="4100">
                <a:latin typeface="Arial"/>
                <a:ea typeface="Arial"/>
                <a:cs typeface="Arial"/>
                <a:sym typeface="Arial"/>
              </a:rPr>
              <a:t>Deep Neural Network (DNN)</a:t>
            </a:r>
            <a:endParaRPr sz="6900"/>
          </a:p>
        </p:txBody>
      </p:sp>
      <p:graphicFrame>
        <p:nvGraphicFramePr>
          <p:cNvPr id="141" name="Google Shape;141;p9"/>
          <p:cNvGraphicFramePr/>
          <p:nvPr/>
        </p:nvGraphicFramePr>
        <p:xfrm>
          <a:off x="9277854" y="1557274"/>
          <a:ext cx="3000000" cy="3000000"/>
        </p:xfrm>
        <a:graphic>
          <a:graphicData uri="http://schemas.openxmlformats.org/drawingml/2006/table">
            <a:tbl>
              <a:tblPr bandRow="1" firstRow="1">
                <a:noFill/>
                <a:tableStyleId>{6CC7F8C0-134F-48E8-A669-0BA2B662A51D}</a:tableStyleId>
              </a:tblPr>
              <a:tblGrid>
                <a:gridCol w="8261600"/>
              </a:tblGrid>
              <a:tr h="1926700">
                <a:tc>
                  <a:txBody>
                    <a:bodyPr/>
                    <a:lstStyle/>
                    <a:p>
                      <a:pPr indent="0" lvl="0" marL="457200" rtl="0" algn="l">
                        <a:spcBef>
                          <a:spcPts val="0"/>
                        </a:spcBef>
                        <a:spcAft>
                          <a:spcPts val="0"/>
                        </a:spcAft>
                        <a:buClr>
                          <a:schemeClr val="dk1"/>
                        </a:buClr>
                        <a:buSzPts val="1100"/>
                        <a:buFont typeface="Arial"/>
                        <a:buNone/>
                      </a:pPr>
                      <a:r>
                        <a:rPr lang="en-US" sz="2400">
                          <a:solidFill>
                            <a:schemeClr val="lt1"/>
                          </a:solidFill>
                          <a:latin typeface="Arial"/>
                          <a:ea typeface="Arial"/>
                          <a:cs typeface="Arial"/>
                          <a:sym typeface="Arial"/>
                        </a:rPr>
                        <a:t>The </a:t>
                      </a:r>
                      <a:r>
                        <a:rPr b="1" lang="en-US" sz="2400">
                          <a:solidFill>
                            <a:schemeClr val="lt1"/>
                          </a:solidFill>
                          <a:latin typeface="Arial"/>
                          <a:ea typeface="Arial"/>
                          <a:cs typeface="Arial"/>
                          <a:sym typeface="Arial"/>
                        </a:rPr>
                        <a:t>Deep Neural Network (DNN)</a:t>
                      </a:r>
                      <a:r>
                        <a:rPr lang="en-US" sz="2400">
                          <a:solidFill>
                            <a:schemeClr val="lt1"/>
                          </a:solidFill>
                          <a:latin typeface="Arial"/>
                          <a:ea typeface="Arial"/>
                          <a:cs typeface="Arial"/>
                          <a:sym typeface="Arial"/>
                        </a:rPr>
                        <a:t> shows an </a:t>
                      </a:r>
                      <a:r>
                        <a:rPr b="1" lang="en-US" sz="2400">
                          <a:solidFill>
                            <a:schemeClr val="lt1"/>
                          </a:solidFill>
                          <a:latin typeface="Arial"/>
                          <a:ea typeface="Arial"/>
                          <a:cs typeface="Arial"/>
                          <a:sym typeface="Arial"/>
                        </a:rPr>
                        <a:t>F1 score </a:t>
                      </a:r>
                      <a:endParaRPr b="1" sz="2400">
                        <a:solidFill>
                          <a:schemeClr val="lt1"/>
                        </a:solidFill>
                        <a:latin typeface="Arial"/>
                        <a:ea typeface="Arial"/>
                        <a:cs typeface="Arial"/>
                        <a:sym typeface="Arial"/>
                      </a:endParaRPr>
                    </a:p>
                    <a:p>
                      <a:pPr indent="0" lvl="0" marL="457200" rtl="0" algn="l">
                        <a:spcBef>
                          <a:spcPts val="0"/>
                        </a:spcBef>
                        <a:spcAft>
                          <a:spcPts val="0"/>
                        </a:spcAft>
                        <a:buClr>
                          <a:schemeClr val="dk1"/>
                        </a:buClr>
                        <a:buSzPts val="1100"/>
                        <a:buFont typeface="Arial"/>
                        <a:buNone/>
                      </a:pPr>
                      <a:r>
                        <a:rPr b="1" lang="en-US" sz="2400">
                          <a:solidFill>
                            <a:schemeClr val="lt1"/>
                          </a:solidFill>
                          <a:latin typeface="Arial"/>
                          <a:ea typeface="Arial"/>
                          <a:cs typeface="Arial"/>
                          <a:sym typeface="Arial"/>
                        </a:rPr>
                        <a:t>of around 0.70</a:t>
                      </a:r>
                      <a:r>
                        <a:rPr lang="en-US" sz="2400">
                          <a:solidFill>
                            <a:schemeClr val="lt1"/>
                          </a:solidFill>
                          <a:latin typeface="Arial"/>
                          <a:ea typeface="Arial"/>
                          <a:cs typeface="Arial"/>
                          <a:sym typeface="Arial"/>
                        </a:rPr>
                        <a:t> in both cases, indicating a strong balance between precision and recall.</a:t>
                      </a:r>
                      <a:br>
                        <a:rPr lang="en-US" sz="2400">
                          <a:solidFill>
                            <a:schemeClr val="lt1"/>
                          </a:solidFill>
                          <a:latin typeface="Arial"/>
                          <a:ea typeface="Arial"/>
                          <a:cs typeface="Arial"/>
                          <a:sym typeface="Arial"/>
                        </a:rPr>
                      </a:br>
                      <a:endParaRPr sz="2400" u="none" cap="none" strike="noStrike">
                        <a:solidFill>
                          <a:schemeClr val="lt1"/>
                        </a:solidFill>
                        <a:latin typeface="Tahoma"/>
                        <a:ea typeface="Tahoma"/>
                        <a:cs typeface="Tahoma"/>
                        <a:sym typeface="Tahoma"/>
                      </a:endParaRPr>
                    </a:p>
                  </a:txBody>
                  <a:tcPr marT="81275" marB="0" marR="0" marL="0">
                    <a:lnT cap="flat" cmpd="sng" w="9525">
                      <a:solidFill>
                        <a:srgbClr val="00A6CA"/>
                      </a:solidFill>
                      <a:prstDash val="solid"/>
                      <a:round/>
                      <a:headEnd len="sm" w="sm" type="none"/>
                      <a:tailEnd len="sm" w="sm" type="none"/>
                    </a:lnT>
                    <a:lnB cap="flat" cmpd="sng" w="12700">
                      <a:solidFill>
                        <a:srgbClr val="BBD9E7"/>
                      </a:solidFill>
                      <a:prstDash val="solid"/>
                      <a:round/>
                      <a:headEnd len="sm" w="sm" type="none"/>
                      <a:tailEnd len="sm" w="sm" type="none"/>
                    </a:lnB>
                    <a:solidFill>
                      <a:srgbClr val="00007E"/>
                    </a:solidFill>
                  </a:tcPr>
                </a:tc>
              </a:tr>
              <a:tr h="1471200">
                <a:tc>
                  <a:txBody>
                    <a:bodyPr/>
                    <a:lstStyle/>
                    <a:p>
                      <a:pPr indent="0" lvl="0" marL="457200" rtl="0" algn="l">
                        <a:spcBef>
                          <a:spcPts val="0"/>
                        </a:spcBef>
                        <a:spcAft>
                          <a:spcPts val="0"/>
                        </a:spcAft>
                        <a:buClr>
                          <a:schemeClr val="dk1"/>
                        </a:buClr>
                        <a:buSzPts val="1100"/>
                        <a:buFont typeface="Arial"/>
                        <a:buNone/>
                      </a:pPr>
                      <a:r>
                        <a:rPr lang="en-US" sz="2400">
                          <a:solidFill>
                            <a:schemeClr val="lt1"/>
                          </a:solidFill>
                          <a:latin typeface="Arial"/>
                          <a:ea typeface="Arial"/>
                          <a:cs typeface="Arial"/>
                          <a:sym typeface="Arial"/>
                        </a:rPr>
                        <a:t>The </a:t>
                      </a:r>
                      <a:r>
                        <a:rPr b="1" lang="en-US" sz="2400">
                          <a:solidFill>
                            <a:schemeClr val="lt1"/>
                          </a:solidFill>
                          <a:latin typeface="Arial"/>
                          <a:ea typeface="Arial"/>
                          <a:cs typeface="Arial"/>
                          <a:sym typeface="Arial"/>
                        </a:rPr>
                        <a:t>AUC of 0.887</a:t>
                      </a:r>
                      <a:r>
                        <a:rPr lang="en-US" sz="2400">
                          <a:solidFill>
                            <a:schemeClr val="lt1"/>
                          </a:solidFill>
                          <a:latin typeface="Arial"/>
                          <a:ea typeface="Arial"/>
                          <a:cs typeface="Arial"/>
                          <a:sym typeface="Arial"/>
                        </a:rPr>
                        <a:t> on the original data suggests that the model has a high ability to discriminate between the positive and negative classes.</a:t>
                      </a:r>
                      <a:endParaRPr sz="2400" u="none" cap="none" strike="noStrike">
                        <a:solidFill>
                          <a:schemeClr val="lt1"/>
                        </a:solidFill>
                        <a:latin typeface="Tahoma"/>
                        <a:ea typeface="Tahoma"/>
                        <a:cs typeface="Tahoma"/>
                        <a:sym typeface="Tahoma"/>
                      </a:endParaRPr>
                    </a:p>
                  </a:txBody>
                  <a:tcPr marT="81925" marB="0" marR="0" marL="0">
                    <a:lnT cap="flat" cmpd="sng" w="12700">
                      <a:solidFill>
                        <a:srgbClr val="BBD9E7"/>
                      </a:solidFill>
                      <a:prstDash val="solid"/>
                      <a:round/>
                      <a:headEnd len="sm" w="sm" type="none"/>
                      <a:tailEnd len="sm" w="sm" type="none"/>
                    </a:lnT>
                    <a:lnB cap="flat" cmpd="sng" w="12700">
                      <a:solidFill>
                        <a:srgbClr val="BBD9E7"/>
                      </a:solidFill>
                      <a:prstDash val="solid"/>
                      <a:round/>
                      <a:headEnd len="sm" w="sm" type="none"/>
                      <a:tailEnd len="sm" w="sm" type="none"/>
                    </a:lnB>
                    <a:solidFill>
                      <a:srgbClr val="00007E"/>
                    </a:solidFill>
                  </a:tcPr>
                </a:tc>
              </a:tr>
              <a:tr h="1471200">
                <a:tc>
                  <a:txBody>
                    <a:bodyPr/>
                    <a:lstStyle/>
                    <a:p>
                      <a:pPr indent="0" lvl="0" marL="457200" rtl="0" algn="l">
                        <a:spcBef>
                          <a:spcPts val="0"/>
                        </a:spcBef>
                        <a:spcAft>
                          <a:spcPts val="0"/>
                        </a:spcAft>
                        <a:buClr>
                          <a:schemeClr val="dk1"/>
                        </a:buClr>
                        <a:buSzPts val="1100"/>
                        <a:buFont typeface="Arial"/>
                        <a:buNone/>
                      </a:pPr>
                      <a:r>
                        <a:rPr lang="en-US" sz="2400">
                          <a:solidFill>
                            <a:schemeClr val="lt1"/>
                          </a:solidFill>
                          <a:latin typeface="Arial"/>
                          <a:ea typeface="Arial"/>
                          <a:cs typeface="Arial"/>
                          <a:sym typeface="Arial"/>
                        </a:rPr>
                        <a:t>After applying </a:t>
                      </a:r>
                      <a:r>
                        <a:rPr b="1" lang="en-US" sz="2400">
                          <a:solidFill>
                            <a:schemeClr val="lt1"/>
                          </a:solidFill>
                          <a:latin typeface="Arial"/>
                          <a:ea typeface="Arial"/>
                          <a:cs typeface="Arial"/>
                          <a:sym typeface="Arial"/>
                        </a:rPr>
                        <a:t>SMOTE</a:t>
                      </a:r>
                      <a:r>
                        <a:rPr lang="en-US" sz="2400">
                          <a:solidFill>
                            <a:schemeClr val="lt1"/>
                          </a:solidFill>
                          <a:latin typeface="Arial"/>
                          <a:ea typeface="Arial"/>
                          <a:cs typeface="Arial"/>
                          <a:sym typeface="Arial"/>
                        </a:rPr>
                        <a:t>, the </a:t>
                      </a:r>
                      <a:r>
                        <a:rPr b="1" lang="en-US" sz="2400">
                          <a:solidFill>
                            <a:schemeClr val="lt1"/>
                          </a:solidFill>
                          <a:latin typeface="Arial"/>
                          <a:ea typeface="Arial"/>
                          <a:cs typeface="Arial"/>
                          <a:sym typeface="Arial"/>
                        </a:rPr>
                        <a:t>F1 score improves slightly (0.705 → 0.709)</a:t>
                      </a:r>
                      <a:r>
                        <a:rPr lang="en-US" sz="2400">
                          <a:solidFill>
                            <a:schemeClr val="lt1"/>
                          </a:solidFill>
                          <a:latin typeface="Arial"/>
                          <a:ea typeface="Arial"/>
                          <a:cs typeface="Arial"/>
                          <a:sym typeface="Arial"/>
                        </a:rPr>
                        <a:t>, showing that class balancing helped </a:t>
                      </a:r>
                      <a:endParaRPr sz="2400">
                        <a:solidFill>
                          <a:schemeClr val="lt1"/>
                        </a:solidFill>
                        <a:latin typeface="Arial"/>
                        <a:ea typeface="Arial"/>
                        <a:cs typeface="Arial"/>
                        <a:sym typeface="Arial"/>
                      </a:endParaRPr>
                    </a:p>
                    <a:p>
                      <a:pPr indent="0" lvl="0" marL="457200" rtl="0" algn="l">
                        <a:spcBef>
                          <a:spcPts val="0"/>
                        </a:spcBef>
                        <a:spcAft>
                          <a:spcPts val="0"/>
                        </a:spcAft>
                        <a:buClr>
                          <a:schemeClr val="dk1"/>
                        </a:buClr>
                        <a:buSzPts val="1100"/>
                        <a:buFont typeface="Arial"/>
                        <a:buNone/>
                      </a:pPr>
                      <a:r>
                        <a:rPr lang="en-US" sz="2400">
                          <a:solidFill>
                            <a:schemeClr val="lt1"/>
                          </a:solidFill>
                          <a:latin typeface="Arial"/>
                          <a:ea typeface="Arial"/>
                          <a:cs typeface="Arial"/>
                          <a:sym typeface="Arial"/>
                        </a:rPr>
                        <a:t>the model identify the minority class better.</a:t>
                      </a:r>
                      <a:endParaRPr sz="2400" u="none" cap="none" strike="noStrike">
                        <a:solidFill>
                          <a:schemeClr val="lt1"/>
                        </a:solidFill>
                        <a:latin typeface="Tahoma"/>
                        <a:ea typeface="Tahoma"/>
                        <a:cs typeface="Tahoma"/>
                        <a:sym typeface="Tahoma"/>
                      </a:endParaRPr>
                    </a:p>
                  </a:txBody>
                  <a:tcPr marT="81925" marB="0" marR="0" marL="0">
                    <a:lnT cap="flat" cmpd="sng" w="12700">
                      <a:solidFill>
                        <a:srgbClr val="BBD9E7"/>
                      </a:solidFill>
                      <a:prstDash val="solid"/>
                      <a:round/>
                      <a:headEnd len="sm" w="sm" type="none"/>
                      <a:tailEnd len="sm" w="sm" type="none"/>
                    </a:lnT>
                    <a:lnB cap="flat" cmpd="sng" w="12700">
                      <a:solidFill>
                        <a:srgbClr val="BBD9E7"/>
                      </a:solidFill>
                      <a:prstDash val="solid"/>
                      <a:round/>
                      <a:headEnd len="sm" w="sm" type="none"/>
                      <a:tailEnd len="sm" w="sm" type="none"/>
                    </a:lnB>
                    <a:solidFill>
                      <a:srgbClr val="00007E"/>
                    </a:solidFill>
                  </a:tcPr>
                </a:tc>
              </a:tr>
              <a:tr h="2431400">
                <a:tc>
                  <a:txBody>
                    <a:bodyPr/>
                    <a:lstStyle/>
                    <a:p>
                      <a:pPr indent="0" lvl="0" marL="457200" rtl="0" algn="l">
                        <a:spcBef>
                          <a:spcPts val="0"/>
                        </a:spcBef>
                        <a:spcAft>
                          <a:spcPts val="0"/>
                        </a:spcAft>
                        <a:buClr>
                          <a:schemeClr val="dk1"/>
                        </a:buClr>
                        <a:buSzPts val="1100"/>
                        <a:buFont typeface="Arial"/>
                        <a:buNone/>
                      </a:pPr>
                      <a:r>
                        <a:t/>
                      </a:r>
                      <a:endParaRPr sz="2400">
                        <a:latin typeface="Arial"/>
                        <a:ea typeface="Arial"/>
                        <a:cs typeface="Arial"/>
                        <a:sym typeface="Arial"/>
                      </a:endParaRPr>
                    </a:p>
                    <a:p>
                      <a:pPr indent="0" lvl="0" marL="457200" rtl="0" algn="l">
                        <a:spcBef>
                          <a:spcPts val="0"/>
                        </a:spcBef>
                        <a:spcAft>
                          <a:spcPts val="0"/>
                        </a:spcAft>
                        <a:buClr>
                          <a:schemeClr val="dk1"/>
                        </a:buClr>
                        <a:buSzPts val="1100"/>
                        <a:buFont typeface="Arial"/>
                        <a:buNone/>
                      </a:pPr>
                      <a:r>
                        <a:rPr lang="en-US" sz="2400">
                          <a:solidFill>
                            <a:schemeClr val="lt1"/>
                          </a:solidFill>
                          <a:latin typeface="Arial"/>
                          <a:ea typeface="Arial"/>
                          <a:cs typeface="Arial"/>
                          <a:sym typeface="Arial"/>
                        </a:rPr>
                        <a:t>However, </a:t>
                      </a:r>
                      <a:r>
                        <a:rPr b="1" lang="en-US" sz="2400">
                          <a:solidFill>
                            <a:schemeClr val="lt1"/>
                          </a:solidFill>
                          <a:latin typeface="Arial"/>
                          <a:ea typeface="Arial"/>
                          <a:cs typeface="Arial"/>
                          <a:sym typeface="Arial"/>
                        </a:rPr>
                        <a:t>AUC decreases slightly (0.887 → 0.871)</a:t>
                      </a:r>
                      <a:r>
                        <a:rPr lang="en-US" sz="2400">
                          <a:solidFill>
                            <a:schemeClr val="lt1"/>
                          </a:solidFill>
                          <a:latin typeface="Arial"/>
                          <a:ea typeface="Arial"/>
                          <a:cs typeface="Arial"/>
                          <a:sym typeface="Arial"/>
                        </a:rPr>
                        <a:t> — </a:t>
                      </a:r>
                      <a:endParaRPr sz="2400">
                        <a:solidFill>
                          <a:schemeClr val="lt1"/>
                        </a:solidFill>
                        <a:latin typeface="Arial"/>
                        <a:ea typeface="Arial"/>
                        <a:cs typeface="Arial"/>
                        <a:sym typeface="Arial"/>
                      </a:endParaRPr>
                    </a:p>
                    <a:p>
                      <a:pPr indent="0" lvl="0" marL="457200" rtl="0" algn="l">
                        <a:spcBef>
                          <a:spcPts val="0"/>
                        </a:spcBef>
                        <a:spcAft>
                          <a:spcPts val="0"/>
                        </a:spcAft>
                        <a:buClr>
                          <a:schemeClr val="dk1"/>
                        </a:buClr>
                        <a:buSzPts val="1100"/>
                        <a:buFont typeface="Arial"/>
                        <a:buNone/>
                      </a:pPr>
                      <a:r>
                        <a:rPr lang="en-US" sz="2400">
                          <a:solidFill>
                            <a:schemeClr val="lt1"/>
                          </a:solidFill>
                          <a:latin typeface="Arial"/>
                          <a:ea typeface="Arial"/>
                          <a:cs typeface="Arial"/>
                          <a:sym typeface="Arial"/>
                        </a:rPr>
                        <a:t>a common occurrence because SMOTE can sometimes introduce synthetic noise, slightly reducing the model’s overall discriminatory power.</a:t>
                      </a:r>
                      <a:endParaRPr sz="2400">
                        <a:solidFill>
                          <a:schemeClr val="lt1"/>
                        </a:solidFill>
                        <a:latin typeface="Tahoma"/>
                        <a:ea typeface="Tahoma"/>
                        <a:cs typeface="Tahoma"/>
                        <a:sym typeface="Tahoma"/>
                      </a:endParaRPr>
                    </a:p>
                  </a:txBody>
                  <a:tcPr marT="120025" marB="0" marR="0" marL="0">
                    <a:lnT cap="flat" cmpd="sng" w="12700">
                      <a:solidFill>
                        <a:srgbClr val="BBD9E7"/>
                      </a:solidFill>
                      <a:prstDash val="solid"/>
                      <a:round/>
                      <a:headEnd len="sm" w="sm" type="none"/>
                      <a:tailEnd len="sm" w="sm" type="none"/>
                    </a:lnT>
                    <a:lnB cap="flat" cmpd="sng" w="12700">
                      <a:solidFill>
                        <a:srgbClr val="BBD9E7"/>
                      </a:solidFill>
                      <a:prstDash val="solid"/>
                      <a:round/>
                      <a:headEnd len="sm" w="sm" type="none"/>
                      <a:tailEnd len="sm" w="sm" type="none"/>
                    </a:lnB>
                    <a:solidFill>
                      <a:srgbClr val="00007E"/>
                    </a:solidFill>
                  </a:tcPr>
                </a:tc>
              </a:tr>
              <a:tr h="69700">
                <a:tc>
                  <a:txBody>
                    <a:bodyPr/>
                    <a:lstStyle/>
                    <a:p>
                      <a:pPr indent="0" lvl="0" marL="0" marR="0" rtl="0" algn="l">
                        <a:lnSpc>
                          <a:spcPct val="100000"/>
                        </a:lnSpc>
                        <a:spcBef>
                          <a:spcPts val="0"/>
                        </a:spcBef>
                        <a:spcAft>
                          <a:spcPts val="0"/>
                        </a:spcAft>
                        <a:buNone/>
                      </a:pPr>
                      <a:r>
                        <a:t/>
                      </a:r>
                      <a:endParaRPr sz="200" u="none" cap="none" strike="noStrike">
                        <a:latin typeface="Times New Roman"/>
                        <a:ea typeface="Times New Roman"/>
                        <a:cs typeface="Times New Roman"/>
                        <a:sym typeface="Times New Roman"/>
                      </a:endParaRPr>
                    </a:p>
                  </a:txBody>
                  <a:tcPr marT="0" marB="0" marR="0" marL="0">
                    <a:lnT cap="flat" cmpd="sng" w="12700">
                      <a:solidFill>
                        <a:srgbClr val="BBD9E7"/>
                      </a:solidFill>
                      <a:prstDash val="solid"/>
                      <a:round/>
                      <a:headEnd len="sm" w="sm" type="none"/>
                      <a:tailEnd len="sm" w="sm" type="none"/>
                    </a:lnT>
                    <a:lnB cap="flat" cmpd="sng" w="9525">
                      <a:solidFill>
                        <a:srgbClr val="3E4043"/>
                      </a:solidFill>
                      <a:prstDash val="solid"/>
                      <a:round/>
                      <a:headEnd len="sm" w="sm" type="none"/>
                      <a:tailEnd len="sm" w="sm" type="none"/>
                    </a:lnB>
                    <a:solidFill>
                      <a:srgbClr val="00007E"/>
                    </a:solidFill>
                  </a:tcPr>
                </a:tc>
              </a:tr>
              <a:tr h="73675">
                <a:tc>
                  <a:txBody>
                    <a:bodyPr/>
                    <a:lstStyle/>
                    <a:p>
                      <a:pPr indent="0" lvl="0" marL="0" marR="0" rtl="0" algn="l">
                        <a:lnSpc>
                          <a:spcPct val="100000"/>
                        </a:lnSpc>
                        <a:spcBef>
                          <a:spcPts val="0"/>
                        </a:spcBef>
                        <a:spcAft>
                          <a:spcPts val="0"/>
                        </a:spcAft>
                        <a:buNone/>
                      </a:pPr>
                      <a:r>
                        <a:t/>
                      </a:r>
                      <a:endParaRPr sz="200" u="none" cap="none" strike="noStrike">
                        <a:latin typeface="Times New Roman"/>
                        <a:ea typeface="Times New Roman"/>
                        <a:cs typeface="Times New Roman"/>
                        <a:sym typeface="Times New Roman"/>
                      </a:endParaRPr>
                    </a:p>
                  </a:txBody>
                  <a:tcPr marT="0" marB="0" marR="0" marL="0">
                    <a:lnT cap="flat" cmpd="sng" w="9525">
                      <a:solidFill>
                        <a:srgbClr val="3E4043"/>
                      </a:solidFill>
                      <a:prstDash val="solid"/>
                      <a:round/>
                      <a:headEnd len="sm" w="sm" type="none"/>
                      <a:tailEnd len="sm" w="sm" type="none"/>
                    </a:lnT>
                    <a:solidFill>
                      <a:srgbClr val="00007E"/>
                    </a:solidFill>
                  </a:tcPr>
                </a:tc>
              </a:tr>
            </a:tbl>
          </a:graphicData>
        </a:graphic>
      </p:graphicFrame>
      <p:pic>
        <p:nvPicPr>
          <p:cNvPr id="142" name="Google Shape;142;p9"/>
          <p:cNvPicPr preferRelativeResize="0"/>
          <p:nvPr/>
        </p:nvPicPr>
        <p:blipFill rotWithShape="1">
          <a:blip r:embed="rId3">
            <a:alphaModFix/>
          </a:blip>
          <a:srcRect b="-60256" l="0" r="0" t="0"/>
          <a:stretch/>
        </p:blipFill>
        <p:spPr>
          <a:xfrm>
            <a:off x="191509" y="2115750"/>
            <a:ext cx="8770100" cy="5435350"/>
          </a:xfrm>
          <a:prstGeom prst="rect">
            <a:avLst/>
          </a:prstGeom>
          <a:noFill/>
          <a:ln>
            <a:noFill/>
          </a:ln>
        </p:spPr>
      </p:pic>
      <p:sp>
        <p:nvSpPr>
          <p:cNvPr id="143" name="Google Shape;143;p9"/>
          <p:cNvSpPr txBox="1"/>
          <p:nvPr/>
        </p:nvSpPr>
        <p:spPr>
          <a:xfrm>
            <a:off x="-172150" y="6677275"/>
            <a:ext cx="8956500" cy="103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br>
              <a:rPr lang="en-US" sz="1100">
                <a:solidFill>
                  <a:schemeClr val="dk1"/>
                </a:solidFill>
              </a:rPr>
            </a:br>
            <a:endParaRPr sz="1100">
              <a:solidFill>
                <a:schemeClr val="dk1"/>
              </a:solidFill>
            </a:endParaRPr>
          </a:p>
          <a:p>
            <a:pPr indent="0" lvl="0" marL="0" rtl="0" algn="l">
              <a:spcBef>
                <a:spcPts val="0"/>
              </a:spcBef>
              <a:spcAft>
                <a:spcPts val="0"/>
              </a:spcAft>
              <a:buNone/>
            </a:pPr>
            <a:br>
              <a:rPr lang="en-US" sz="1100">
                <a:solidFill>
                  <a:schemeClr val="dk1"/>
                </a:solidFill>
              </a:rPr>
            </a:br>
            <a:endParaRPr sz="11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 name="Shape 147"/>
        <p:cNvGrpSpPr/>
        <p:nvPr/>
      </p:nvGrpSpPr>
      <p:grpSpPr>
        <a:xfrm>
          <a:off x="0" y="0"/>
          <a:ext cx="0" cy="0"/>
          <a:chOff x="0" y="0"/>
          <a:chExt cx="0" cy="0"/>
        </a:xfrm>
      </p:grpSpPr>
      <p:sp>
        <p:nvSpPr>
          <p:cNvPr id="148" name="Google Shape;148;p10"/>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E3E3E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49" name="Google Shape;149;p10"/>
          <p:cNvSpPr txBox="1"/>
          <p:nvPr>
            <p:ph type="title"/>
          </p:nvPr>
        </p:nvSpPr>
        <p:spPr>
          <a:xfrm>
            <a:off x="4635672" y="11"/>
            <a:ext cx="50856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200">
                <a:solidFill>
                  <a:srgbClr val="903062"/>
                </a:solidFill>
                <a:latin typeface="Trebuchet MS"/>
                <a:ea typeface="Trebuchet MS"/>
                <a:cs typeface="Trebuchet MS"/>
                <a:sym typeface="Trebuchet MS"/>
              </a:rPr>
              <a:t>MODEL COMPARISON</a:t>
            </a:r>
            <a:endParaRPr sz="4200">
              <a:latin typeface="Trebuchet MS"/>
              <a:ea typeface="Trebuchet MS"/>
              <a:cs typeface="Trebuchet MS"/>
              <a:sym typeface="Trebuchet MS"/>
            </a:endParaRPr>
          </a:p>
        </p:txBody>
      </p:sp>
      <p:sp>
        <p:nvSpPr>
          <p:cNvPr id="150" name="Google Shape;150;p10"/>
          <p:cNvSpPr/>
          <p:nvPr/>
        </p:nvSpPr>
        <p:spPr>
          <a:xfrm>
            <a:off x="669798" y="685800"/>
            <a:ext cx="16948785" cy="137159"/>
          </a:xfrm>
          <a:custGeom>
            <a:rect b="b" l="l" r="r" t="t"/>
            <a:pathLst>
              <a:path extrusionOk="0" h="137159" w="16948785">
                <a:moveTo>
                  <a:pt x="16948404" y="0"/>
                </a:moveTo>
                <a:lnTo>
                  <a:pt x="0" y="0"/>
                </a:lnTo>
                <a:lnTo>
                  <a:pt x="0" y="137159"/>
                </a:lnTo>
                <a:lnTo>
                  <a:pt x="16948404" y="137159"/>
                </a:lnTo>
                <a:lnTo>
                  <a:pt x="16948404" y="0"/>
                </a:lnTo>
                <a:close/>
              </a:path>
            </a:pathLst>
          </a:custGeom>
          <a:solidFill>
            <a:srgbClr val="4D133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51" name="Google Shape;151;p10"/>
          <p:cNvPicPr preferRelativeResize="0"/>
          <p:nvPr/>
        </p:nvPicPr>
        <p:blipFill>
          <a:blip r:embed="rId3">
            <a:alphaModFix/>
          </a:blip>
          <a:stretch>
            <a:fillRect/>
          </a:stretch>
        </p:blipFill>
        <p:spPr>
          <a:xfrm>
            <a:off x="241575" y="1243200"/>
            <a:ext cx="9080174" cy="5596550"/>
          </a:xfrm>
          <a:prstGeom prst="rect">
            <a:avLst/>
          </a:prstGeom>
          <a:noFill/>
          <a:ln>
            <a:noFill/>
          </a:ln>
        </p:spPr>
      </p:pic>
      <p:pic>
        <p:nvPicPr>
          <p:cNvPr id="152" name="Google Shape;152;p10"/>
          <p:cNvPicPr preferRelativeResize="0"/>
          <p:nvPr/>
        </p:nvPicPr>
        <p:blipFill>
          <a:blip r:embed="rId4">
            <a:alphaModFix/>
          </a:blip>
          <a:stretch>
            <a:fillRect/>
          </a:stretch>
        </p:blipFill>
        <p:spPr>
          <a:xfrm>
            <a:off x="9721275" y="1243199"/>
            <a:ext cx="8116076" cy="5596550"/>
          </a:xfrm>
          <a:prstGeom prst="rect">
            <a:avLst/>
          </a:prstGeom>
          <a:noFill/>
          <a:ln>
            <a:noFill/>
          </a:ln>
        </p:spPr>
      </p:pic>
      <p:sp>
        <p:nvSpPr>
          <p:cNvPr id="153" name="Google Shape;153;p10"/>
          <p:cNvSpPr txBox="1"/>
          <p:nvPr/>
        </p:nvSpPr>
        <p:spPr>
          <a:xfrm>
            <a:off x="241575" y="7260000"/>
            <a:ext cx="8951100" cy="2755200"/>
          </a:xfrm>
          <a:prstGeom prst="rect">
            <a:avLst/>
          </a:prstGeom>
          <a:noFill/>
          <a:ln>
            <a:noFill/>
          </a:ln>
        </p:spPr>
        <p:txBody>
          <a:bodyPr anchorCtr="0" anchor="t" bIns="91425" lIns="91425" spcFirstLastPara="1" rIns="91425" wrap="square" tIns="91425">
            <a:spAutoFit/>
          </a:bodyPr>
          <a:lstStyle/>
          <a:p>
            <a:pPr indent="0" lvl="0" marL="12700" marR="5080" rtl="0" algn="l">
              <a:spcBef>
                <a:spcPts val="0"/>
              </a:spcBef>
              <a:spcAft>
                <a:spcPts val="0"/>
              </a:spcAft>
              <a:buClr>
                <a:schemeClr val="dk1"/>
              </a:buClr>
              <a:buSzPts val="1100"/>
              <a:buFont typeface="Arial"/>
              <a:buNone/>
            </a:pPr>
            <a:r>
              <a:rPr b="1" lang="en-US" sz="2000">
                <a:solidFill>
                  <a:schemeClr val="dk1"/>
                </a:solidFill>
              </a:rPr>
              <a:t>SMOTE (Synthetic Minority Oversampling Technique)</a:t>
            </a:r>
            <a:r>
              <a:rPr lang="en-US" sz="2000">
                <a:solidFill>
                  <a:schemeClr val="dk1"/>
                </a:solidFill>
              </a:rPr>
              <a:t> effectively improved class balance, allowing models to better capture minority class patterns.</a:t>
            </a:r>
            <a:br>
              <a:rPr lang="en-US" sz="2000">
                <a:solidFill>
                  <a:schemeClr val="dk1"/>
                </a:solidFill>
              </a:rPr>
            </a:br>
            <a:endParaRPr sz="2000">
              <a:solidFill>
                <a:schemeClr val="dk1"/>
              </a:solidFill>
            </a:endParaRPr>
          </a:p>
          <a:p>
            <a:pPr indent="0" lvl="0" marL="12700" marR="5080" rtl="0" algn="l">
              <a:spcBef>
                <a:spcPts val="0"/>
              </a:spcBef>
              <a:spcAft>
                <a:spcPts val="0"/>
              </a:spcAft>
              <a:buClr>
                <a:schemeClr val="dk1"/>
              </a:buClr>
              <a:buSzPts val="1100"/>
              <a:buFont typeface="Arial"/>
              <a:buNone/>
            </a:pPr>
            <a:r>
              <a:rPr b="1" lang="en-US" sz="2000">
                <a:solidFill>
                  <a:schemeClr val="dk1"/>
                </a:solidFill>
              </a:rPr>
              <a:t>Deep learning and ensemble models</a:t>
            </a:r>
            <a:r>
              <a:rPr lang="en-US" sz="2000">
                <a:solidFill>
                  <a:schemeClr val="dk1"/>
                </a:solidFill>
              </a:rPr>
              <a:t> (DNN, Gradient Boosting, Random Forest) show the </a:t>
            </a:r>
            <a:r>
              <a:rPr b="1" lang="en-US" sz="2000">
                <a:solidFill>
                  <a:schemeClr val="dk1"/>
                </a:solidFill>
              </a:rPr>
              <a:t>best adaptability</a:t>
            </a:r>
            <a:r>
              <a:rPr lang="en-US" sz="2000">
                <a:solidFill>
                  <a:schemeClr val="dk1"/>
                </a:solidFill>
              </a:rPr>
              <a:t> to balanced data.</a:t>
            </a:r>
            <a:br>
              <a:rPr lang="en-US" sz="2000">
                <a:solidFill>
                  <a:schemeClr val="dk1"/>
                </a:solidFill>
              </a:rPr>
            </a:br>
            <a:endParaRPr sz="2000">
              <a:solidFill>
                <a:schemeClr val="dk1"/>
              </a:solidFill>
            </a:endParaRPr>
          </a:p>
          <a:p>
            <a:pPr indent="0" lvl="0" marL="12700" marR="5080" rtl="0" algn="l">
              <a:spcBef>
                <a:spcPts val="0"/>
              </a:spcBef>
              <a:spcAft>
                <a:spcPts val="0"/>
              </a:spcAft>
              <a:buClr>
                <a:schemeClr val="dk1"/>
              </a:buClr>
              <a:buSzPts val="1100"/>
              <a:buFont typeface="Arial"/>
              <a:buNone/>
            </a:pPr>
            <a:r>
              <a:rPr b="1" lang="en-US" sz="2000">
                <a:solidFill>
                  <a:schemeClr val="dk1"/>
                </a:solidFill>
              </a:rPr>
              <a:t>Simpler models</a:t>
            </a:r>
            <a:r>
              <a:rPr lang="en-US" sz="2000">
                <a:solidFill>
                  <a:schemeClr val="dk1"/>
                </a:solidFill>
              </a:rPr>
              <a:t> benefit but remain less powerful in complex feature spaces.</a:t>
            </a:r>
            <a:endParaRPr sz="2000">
              <a:solidFill>
                <a:schemeClr val="dk1"/>
              </a:solidFill>
            </a:endParaRPr>
          </a:p>
          <a:p>
            <a:pPr indent="0" lvl="0" marL="12700" marR="5080" rtl="0" algn="l">
              <a:spcBef>
                <a:spcPts val="0"/>
              </a:spcBef>
              <a:spcAft>
                <a:spcPts val="0"/>
              </a:spcAft>
              <a:buNone/>
            </a:pPr>
            <a:r>
              <a:t/>
            </a:r>
            <a:endParaRPr i="1" sz="2700">
              <a:solidFill>
                <a:srgbClr val="5F5F5F"/>
              </a:solidFill>
              <a:latin typeface="Trebuchet MS"/>
              <a:ea typeface="Trebuchet MS"/>
              <a:cs typeface="Trebuchet MS"/>
              <a:sym typeface="Trebuchet MS"/>
            </a:endParaRPr>
          </a:p>
        </p:txBody>
      </p:sp>
      <p:sp>
        <p:nvSpPr>
          <p:cNvPr id="154" name="Google Shape;154;p10"/>
          <p:cNvSpPr txBox="1"/>
          <p:nvPr/>
        </p:nvSpPr>
        <p:spPr>
          <a:xfrm>
            <a:off x="9721325" y="7159950"/>
            <a:ext cx="8116200" cy="2678100"/>
          </a:xfrm>
          <a:prstGeom prst="rect">
            <a:avLst/>
          </a:prstGeom>
          <a:noFill/>
          <a:ln>
            <a:noFill/>
          </a:ln>
        </p:spPr>
        <p:txBody>
          <a:bodyPr anchorCtr="0" anchor="t" bIns="91425" lIns="91425" spcFirstLastPara="1" rIns="91425" wrap="square" tIns="91425">
            <a:spAutoFit/>
          </a:bodyPr>
          <a:lstStyle/>
          <a:p>
            <a:pPr indent="0" lvl="0" marL="12700" marR="5080" rtl="0" algn="l">
              <a:spcBef>
                <a:spcPts val="0"/>
              </a:spcBef>
              <a:spcAft>
                <a:spcPts val="0"/>
              </a:spcAft>
              <a:buClr>
                <a:schemeClr val="dk1"/>
              </a:buClr>
              <a:buSzPts val="1100"/>
              <a:buFont typeface="Arial"/>
              <a:buNone/>
            </a:pPr>
            <a:r>
              <a:rPr b="1" lang="en-US" sz="1800">
                <a:solidFill>
                  <a:schemeClr val="dk1"/>
                </a:solidFill>
              </a:rPr>
              <a:t>SMOTE (Synthetic Minority Over-sampling Technique)</a:t>
            </a:r>
            <a:r>
              <a:rPr lang="en-US" sz="1800">
                <a:solidFill>
                  <a:schemeClr val="dk1"/>
                </a:solidFill>
              </a:rPr>
              <a:t> enhanced class balance, leading to </a:t>
            </a:r>
            <a:r>
              <a:rPr b="1" lang="en-US" sz="1800">
                <a:solidFill>
                  <a:schemeClr val="dk1"/>
                </a:solidFill>
              </a:rPr>
              <a:t>better F1 performance across all models</a:t>
            </a:r>
            <a:r>
              <a:rPr lang="en-US" sz="1800">
                <a:solidFill>
                  <a:schemeClr val="dk1"/>
                </a:solidFill>
              </a:rPr>
              <a:t>.</a:t>
            </a:r>
            <a:br>
              <a:rPr lang="en-US" sz="1800">
                <a:solidFill>
                  <a:schemeClr val="dk1"/>
                </a:solidFill>
              </a:rPr>
            </a:br>
            <a:endParaRPr sz="1800">
              <a:solidFill>
                <a:schemeClr val="dk1"/>
              </a:solidFill>
            </a:endParaRPr>
          </a:p>
          <a:p>
            <a:pPr indent="0" lvl="0" marL="12700" marR="5080" rtl="0" algn="l">
              <a:spcBef>
                <a:spcPts val="0"/>
              </a:spcBef>
              <a:spcAft>
                <a:spcPts val="0"/>
              </a:spcAft>
              <a:buClr>
                <a:schemeClr val="dk1"/>
              </a:buClr>
              <a:buSzPts val="1100"/>
              <a:buFont typeface="Arial"/>
              <a:buNone/>
            </a:pPr>
            <a:r>
              <a:rPr b="1" lang="en-US" sz="1800">
                <a:solidFill>
                  <a:schemeClr val="dk1"/>
                </a:solidFill>
              </a:rPr>
              <a:t>Deep Neural Network</a:t>
            </a:r>
            <a:r>
              <a:rPr lang="en-US" sz="1800">
                <a:solidFill>
                  <a:schemeClr val="dk1"/>
                </a:solidFill>
              </a:rPr>
              <a:t>, followed by </a:t>
            </a:r>
            <a:r>
              <a:rPr b="1" lang="en-US" sz="1800">
                <a:solidFill>
                  <a:schemeClr val="dk1"/>
                </a:solidFill>
              </a:rPr>
              <a:t>Gradient Boosting</a:t>
            </a:r>
            <a:r>
              <a:rPr lang="en-US" sz="1800">
                <a:solidFill>
                  <a:schemeClr val="dk1"/>
                </a:solidFill>
              </a:rPr>
              <a:t> and </a:t>
            </a:r>
            <a:r>
              <a:rPr b="1" lang="en-US" sz="1800">
                <a:solidFill>
                  <a:schemeClr val="dk1"/>
                </a:solidFill>
              </a:rPr>
              <a:t>Random Forest</a:t>
            </a:r>
            <a:r>
              <a:rPr lang="en-US" sz="1800">
                <a:solidFill>
                  <a:schemeClr val="dk1"/>
                </a:solidFill>
              </a:rPr>
              <a:t>, achieved the </a:t>
            </a:r>
            <a:r>
              <a:rPr b="1" lang="en-US" sz="1800">
                <a:solidFill>
                  <a:schemeClr val="dk1"/>
                </a:solidFill>
              </a:rPr>
              <a:t>best trade-off between precision and recall</a:t>
            </a:r>
            <a:r>
              <a:rPr lang="en-US" sz="1800">
                <a:solidFill>
                  <a:schemeClr val="dk1"/>
                </a:solidFill>
              </a:rPr>
              <a:t>, making them ideal candidates for production deployment in this classification task.</a:t>
            </a:r>
            <a:br>
              <a:rPr lang="en-US" sz="1800">
                <a:solidFill>
                  <a:schemeClr val="dk1"/>
                </a:solidFill>
              </a:rPr>
            </a:br>
            <a:endParaRPr sz="1800">
              <a:solidFill>
                <a:schemeClr val="dk1"/>
              </a:solidFill>
            </a:endParaRPr>
          </a:p>
          <a:p>
            <a:pPr indent="0" lvl="0" marL="12700" marR="5080" rtl="0" algn="l">
              <a:spcBef>
                <a:spcPts val="0"/>
              </a:spcBef>
              <a:spcAft>
                <a:spcPts val="0"/>
              </a:spcAft>
              <a:buClr>
                <a:schemeClr val="dk1"/>
              </a:buClr>
              <a:buSzPts val="1100"/>
              <a:buFont typeface="Arial"/>
              <a:buNone/>
            </a:pPr>
            <a:r>
              <a:rPr lang="en-US" sz="1800">
                <a:solidFill>
                  <a:schemeClr val="dk1"/>
                </a:solidFill>
              </a:rPr>
              <a:t>The chart clearly demonstrates that </a:t>
            </a:r>
            <a:r>
              <a:rPr b="1" lang="en-US" sz="1800">
                <a:solidFill>
                  <a:schemeClr val="dk1"/>
                </a:solidFill>
              </a:rPr>
              <a:t>addressing data imbalance is critical</a:t>
            </a:r>
            <a:r>
              <a:rPr lang="en-US" sz="1800">
                <a:solidFill>
                  <a:schemeClr val="dk1"/>
                </a:solidFill>
              </a:rPr>
              <a:t> to improving model reliability and fairness.</a:t>
            </a:r>
            <a:endParaRPr i="1" sz="2500">
              <a:solidFill>
                <a:srgbClr val="5F5F5F"/>
              </a:solidFill>
              <a:latin typeface="Trebuchet MS"/>
              <a:ea typeface="Trebuchet MS"/>
              <a:cs typeface="Trebuchet MS"/>
              <a:sym typeface="Trebuchet M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8" name="Shape 158"/>
        <p:cNvGrpSpPr/>
        <p:nvPr/>
      </p:nvGrpSpPr>
      <p:grpSpPr>
        <a:xfrm>
          <a:off x="0" y="0"/>
          <a:ext cx="0" cy="0"/>
          <a:chOff x="0" y="0"/>
          <a:chExt cx="0" cy="0"/>
        </a:xfrm>
      </p:grpSpPr>
      <p:sp>
        <p:nvSpPr>
          <p:cNvPr id="159" name="Google Shape;159;g39aceebf16f_0_10"/>
          <p:cNvSpPr/>
          <p:nvPr/>
        </p:nvSpPr>
        <p:spPr>
          <a:xfrm>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solidFill>
            <a:srgbClr val="E3E3E3"/>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0" name="Google Shape;160;g39aceebf16f_0_10"/>
          <p:cNvSpPr txBox="1"/>
          <p:nvPr>
            <p:ph type="title"/>
          </p:nvPr>
        </p:nvSpPr>
        <p:spPr>
          <a:xfrm>
            <a:off x="4635672" y="11"/>
            <a:ext cx="50856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200">
                <a:solidFill>
                  <a:srgbClr val="903062"/>
                </a:solidFill>
                <a:latin typeface="Trebuchet MS"/>
                <a:ea typeface="Trebuchet MS"/>
                <a:cs typeface="Trebuchet MS"/>
                <a:sym typeface="Trebuchet MS"/>
              </a:rPr>
              <a:t>MODEL COMPARISON</a:t>
            </a:r>
            <a:endParaRPr sz="4200">
              <a:latin typeface="Trebuchet MS"/>
              <a:ea typeface="Trebuchet MS"/>
              <a:cs typeface="Trebuchet MS"/>
              <a:sym typeface="Trebuchet MS"/>
            </a:endParaRPr>
          </a:p>
        </p:txBody>
      </p:sp>
      <p:sp>
        <p:nvSpPr>
          <p:cNvPr id="161" name="Google Shape;161;g39aceebf16f_0_10"/>
          <p:cNvSpPr/>
          <p:nvPr/>
        </p:nvSpPr>
        <p:spPr>
          <a:xfrm>
            <a:off x="669798" y="685800"/>
            <a:ext cx="16948785" cy="137159"/>
          </a:xfrm>
          <a:custGeom>
            <a:rect b="b" l="l" r="r" t="t"/>
            <a:pathLst>
              <a:path extrusionOk="0" h="137159" w="16948785">
                <a:moveTo>
                  <a:pt x="16948404" y="0"/>
                </a:moveTo>
                <a:lnTo>
                  <a:pt x="0" y="0"/>
                </a:lnTo>
                <a:lnTo>
                  <a:pt x="0" y="137159"/>
                </a:lnTo>
                <a:lnTo>
                  <a:pt x="16948404" y="137159"/>
                </a:lnTo>
                <a:lnTo>
                  <a:pt x="16948404" y="0"/>
                </a:lnTo>
                <a:close/>
              </a:path>
            </a:pathLst>
          </a:custGeom>
          <a:solidFill>
            <a:srgbClr val="4D133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62" name="Google Shape;162;g39aceebf16f_0_10"/>
          <p:cNvSpPr txBox="1"/>
          <p:nvPr/>
        </p:nvSpPr>
        <p:spPr>
          <a:xfrm>
            <a:off x="559075" y="6867125"/>
            <a:ext cx="16948800" cy="3417000"/>
          </a:xfrm>
          <a:prstGeom prst="rect">
            <a:avLst/>
          </a:prstGeom>
          <a:noFill/>
          <a:ln>
            <a:noFill/>
          </a:ln>
        </p:spPr>
        <p:txBody>
          <a:bodyPr anchorCtr="0" anchor="t" bIns="0" lIns="0" spcFirstLastPara="1" rIns="0" wrap="square" tIns="177150">
            <a:spAutoFit/>
          </a:bodyPr>
          <a:lstStyle/>
          <a:p>
            <a:pPr indent="-488950" lvl="0" marL="457200" rtl="0" algn="l">
              <a:spcBef>
                <a:spcPts val="1295"/>
              </a:spcBef>
              <a:spcAft>
                <a:spcPts val="0"/>
              </a:spcAft>
              <a:buClr>
                <a:srgbClr val="903062"/>
              </a:buClr>
              <a:buSzPts val="4100"/>
              <a:buFont typeface="Cambria"/>
              <a:buChar char="◾"/>
            </a:pPr>
            <a:r>
              <a:rPr b="1" lang="en-US" sz="2200">
                <a:solidFill>
                  <a:schemeClr val="dk1"/>
                </a:solidFill>
              </a:rPr>
              <a:t>Deep Neural Network</a:t>
            </a:r>
            <a:r>
              <a:rPr lang="en-US" sz="2200">
                <a:solidFill>
                  <a:schemeClr val="dk1"/>
                </a:solidFill>
              </a:rPr>
              <a:t> achieved the </a:t>
            </a:r>
            <a:r>
              <a:rPr b="1" lang="en-US" sz="2200">
                <a:solidFill>
                  <a:schemeClr val="dk1"/>
                </a:solidFill>
              </a:rPr>
              <a:t>best overall balance</a:t>
            </a:r>
            <a:r>
              <a:rPr lang="en-US" sz="2200">
                <a:solidFill>
                  <a:schemeClr val="dk1"/>
                </a:solidFill>
              </a:rPr>
              <a:t> — highest F1 (0.709) and AUC (0.887 before SMOTE), showing strong predictive power and generalization.</a:t>
            </a:r>
            <a:endParaRPr sz="2200">
              <a:solidFill>
                <a:schemeClr val="dk1"/>
              </a:solidFill>
            </a:endParaRPr>
          </a:p>
          <a:p>
            <a:pPr indent="-488950" lvl="0" marL="457200" rtl="0" algn="l">
              <a:spcBef>
                <a:spcPts val="1295"/>
              </a:spcBef>
              <a:spcAft>
                <a:spcPts val="0"/>
              </a:spcAft>
              <a:buClr>
                <a:srgbClr val="903062"/>
              </a:buClr>
              <a:buSzPts val="4100"/>
              <a:buFont typeface="Cambria"/>
              <a:buChar char="◾"/>
            </a:pPr>
            <a:r>
              <a:rPr b="1" lang="en-US" sz="2200">
                <a:solidFill>
                  <a:schemeClr val="dk1"/>
                </a:solidFill>
              </a:rPr>
              <a:t>Gradient Boosting and Random Forest</a:t>
            </a:r>
            <a:r>
              <a:rPr lang="en-US" sz="2200">
                <a:solidFill>
                  <a:schemeClr val="dk1"/>
                </a:solidFill>
              </a:rPr>
              <a:t> followed closely, performing robustly on the datasets.</a:t>
            </a:r>
            <a:endParaRPr sz="2200">
              <a:solidFill>
                <a:schemeClr val="dk1"/>
              </a:solidFill>
            </a:endParaRPr>
          </a:p>
          <a:p>
            <a:pPr indent="-488950" lvl="0" marL="457200" rtl="0" algn="l">
              <a:spcBef>
                <a:spcPts val="1295"/>
              </a:spcBef>
              <a:spcAft>
                <a:spcPts val="0"/>
              </a:spcAft>
              <a:buClr>
                <a:srgbClr val="903062"/>
              </a:buClr>
              <a:buSzPts val="4100"/>
              <a:buFont typeface="Cambria"/>
              <a:buChar char="◾"/>
            </a:pPr>
            <a:r>
              <a:rPr b="1" lang="en-US" sz="2200">
                <a:solidFill>
                  <a:schemeClr val="dk1"/>
                </a:solidFill>
              </a:rPr>
              <a:t>SMOTE</a:t>
            </a:r>
            <a:r>
              <a:rPr lang="en-US" sz="2200">
                <a:solidFill>
                  <a:schemeClr val="dk1"/>
                </a:solidFill>
              </a:rPr>
              <a:t> effectively improved recall and F1, validating the importance of class balance in imbalanced classification tasks.</a:t>
            </a:r>
            <a:endParaRPr sz="2200">
              <a:solidFill>
                <a:schemeClr val="dk1"/>
              </a:solidFill>
            </a:endParaRPr>
          </a:p>
          <a:p>
            <a:pPr indent="0" lvl="0" marL="0" rtl="0" algn="l">
              <a:lnSpc>
                <a:spcPct val="100000"/>
              </a:lnSpc>
              <a:spcBef>
                <a:spcPts val="1295"/>
              </a:spcBef>
              <a:spcAft>
                <a:spcPts val="0"/>
              </a:spcAft>
              <a:buNone/>
            </a:pPr>
            <a:r>
              <a:t/>
            </a:r>
            <a:endParaRPr b="1" sz="3300">
              <a:solidFill>
                <a:srgbClr val="471730"/>
              </a:solidFill>
            </a:endParaRPr>
          </a:p>
        </p:txBody>
      </p:sp>
      <p:pic>
        <p:nvPicPr>
          <p:cNvPr id="163" name="Google Shape;163;g39aceebf16f_0_10"/>
          <p:cNvPicPr preferRelativeResize="0"/>
          <p:nvPr/>
        </p:nvPicPr>
        <p:blipFill>
          <a:blip r:embed="rId3">
            <a:alphaModFix/>
          </a:blip>
          <a:stretch>
            <a:fillRect/>
          </a:stretch>
        </p:blipFill>
        <p:spPr>
          <a:xfrm>
            <a:off x="559075" y="1067000"/>
            <a:ext cx="14132725" cy="5800125"/>
          </a:xfrm>
          <a:prstGeom prst="rect">
            <a:avLst/>
          </a:prstGeom>
          <a:noFill/>
          <a:ln>
            <a:noFill/>
          </a:ln>
        </p:spPr>
      </p:pic>
      <p:pic>
        <p:nvPicPr>
          <p:cNvPr id="164" name="Google Shape;164;g39aceebf16f_0_10"/>
          <p:cNvPicPr preferRelativeResize="0"/>
          <p:nvPr/>
        </p:nvPicPr>
        <p:blipFill>
          <a:blip r:embed="rId4">
            <a:alphaModFix/>
          </a:blip>
          <a:stretch>
            <a:fillRect/>
          </a:stretch>
        </p:blipFill>
        <p:spPr>
          <a:xfrm>
            <a:off x="14691800" y="1067000"/>
            <a:ext cx="2396746" cy="5800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8" name="Shape 168"/>
        <p:cNvGrpSpPr/>
        <p:nvPr/>
      </p:nvGrpSpPr>
      <p:grpSpPr>
        <a:xfrm>
          <a:off x="0" y="0"/>
          <a:ext cx="0" cy="0"/>
          <a:chOff x="0" y="0"/>
          <a:chExt cx="0" cy="0"/>
        </a:xfrm>
      </p:grpSpPr>
      <p:sp>
        <p:nvSpPr>
          <p:cNvPr id="169" name="Google Shape;169;p11"/>
          <p:cNvSpPr txBox="1"/>
          <p:nvPr>
            <p:ph type="title"/>
          </p:nvPr>
        </p:nvSpPr>
        <p:spPr>
          <a:xfrm>
            <a:off x="6480175" y="1042150"/>
            <a:ext cx="89061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200">
                <a:solidFill>
                  <a:srgbClr val="4D1334"/>
                </a:solidFill>
              </a:rPr>
              <a:t>BEST PERFORMING MODELS</a:t>
            </a:r>
            <a:endParaRPr sz="4200"/>
          </a:p>
        </p:txBody>
      </p:sp>
      <p:pic>
        <p:nvPicPr>
          <p:cNvPr id="170" name="Google Shape;170;p11"/>
          <p:cNvPicPr preferRelativeResize="0"/>
          <p:nvPr/>
        </p:nvPicPr>
        <p:blipFill rotWithShape="1">
          <a:blip r:embed="rId3">
            <a:alphaModFix/>
          </a:blip>
          <a:srcRect b="0" l="0" r="0" t="0"/>
          <a:stretch/>
        </p:blipFill>
        <p:spPr>
          <a:xfrm>
            <a:off x="19" y="-3"/>
            <a:ext cx="5547867" cy="10286999"/>
          </a:xfrm>
          <a:prstGeom prst="rect">
            <a:avLst/>
          </a:prstGeom>
          <a:noFill/>
          <a:ln>
            <a:noFill/>
          </a:ln>
        </p:spPr>
      </p:pic>
      <p:sp>
        <p:nvSpPr>
          <p:cNvPr id="171" name="Google Shape;171;p11"/>
          <p:cNvSpPr/>
          <p:nvPr/>
        </p:nvSpPr>
        <p:spPr>
          <a:xfrm>
            <a:off x="6674866" y="685800"/>
            <a:ext cx="10835640" cy="137160"/>
          </a:xfrm>
          <a:custGeom>
            <a:rect b="b" l="l" r="r" t="t"/>
            <a:pathLst>
              <a:path extrusionOk="0" h="137159" w="10835640">
                <a:moveTo>
                  <a:pt x="10835640" y="0"/>
                </a:moveTo>
                <a:lnTo>
                  <a:pt x="0" y="0"/>
                </a:lnTo>
                <a:lnTo>
                  <a:pt x="0" y="137159"/>
                </a:lnTo>
                <a:lnTo>
                  <a:pt x="10835640" y="137159"/>
                </a:lnTo>
                <a:lnTo>
                  <a:pt x="10835640" y="0"/>
                </a:lnTo>
                <a:close/>
              </a:path>
            </a:pathLst>
          </a:custGeom>
          <a:solidFill>
            <a:srgbClr val="90306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pic>
        <p:nvPicPr>
          <p:cNvPr id="172" name="Google Shape;172;p11"/>
          <p:cNvPicPr preferRelativeResize="0"/>
          <p:nvPr/>
        </p:nvPicPr>
        <p:blipFill>
          <a:blip r:embed="rId4">
            <a:alphaModFix/>
          </a:blip>
          <a:stretch>
            <a:fillRect/>
          </a:stretch>
        </p:blipFill>
        <p:spPr>
          <a:xfrm>
            <a:off x="5547876" y="2111724"/>
            <a:ext cx="12534174" cy="2299850"/>
          </a:xfrm>
          <a:prstGeom prst="rect">
            <a:avLst/>
          </a:prstGeom>
          <a:noFill/>
          <a:ln>
            <a:noFill/>
          </a:ln>
        </p:spPr>
      </p:pic>
      <p:sp>
        <p:nvSpPr>
          <p:cNvPr id="173" name="Google Shape;173;p11"/>
          <p:cNvSpPr txBox="1"/>
          <p:nvPr/>
        </p:nvSpPr>
        <p:spPr>
          <a:xfrm>
            <a:off x="6210500" y="4824575"/>
            <a:ext cx="11052900" cy="4340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chemeClr val="dk1"/>
                </a:solidFill>
              </a:rPr>
              <a:t>The </a:t>
            </a:r>
            <a:r>
              <a:rPr b="1" lang="en-US" sz="3000">
                <a:solidFill>
                  <a:schemeClr val="dk1"/>
                </a:solidFill>
              </a:rPr>
              <a:t>Deep Neural Network</a:t>
            </a:r>
            <a:r>
              <a:rPr lang="en-US" sz="3000">
                <a:solidFill>
                  <a:schemeClr val="dk1"/>
                </a:solidFill>
              </a:rPr>
              <a:t> clearly </a:t>
            </a:r>
            <a:r>
              <a:rPr b="1" lang="en-US" sz="3000">
                <a:solidFill>
                  <a:schemeClr val="dk1"/>
                </a:solidFill>
              </a:rPr>
              <a:t>outperformed all traditional machine learning models</a:t>
            </a:r>
            <a:r>
              <a:rPr lang="en-US" sz="3000">
                <a:solidFill>
                  <a:schemeClr val="dk1"/>
                </a:solidFill>
              </a:rPr>
              <a:t> across major metrics.</a:t>
            </a:r>
            <a:br>
              <a:rPr lang="en-US" sz="3000">
                <a:solidFill>
                  <a:schemeClr val="dk1"/>
                </a:solidFill>
              </a:rPr>
            </a:br>
            <a:endParaRPr sz="3000">
              <a:solidFill>
                <a:schemeClr val="dk1"/>
              </a:solidFill>
            </a:endParaRPr>
          </a:p>
          <a:p>
            <a:pPr indent="0" lvl="0" marL="0" rtl="0" algn="l">
              <a:spcBef>
                <a:spcPts val="0"/>
              </a:spcBef>
              <a:spcAft>
                <a:spcPts val="0"/>
              </a:spcAft>
              <a:buNone/>
            </a:pPr>
            <a:r>
              <a:rPr b="1" lang="en-US" sz="3000">
                <a:solidFill>
                  <a:schemeClr val="dk1"/>
                </a:solidFill>
              </a:rPr>
              <a:t>SMOTE improved F1 slightly</a:t>
            </a:r>
            <a:r>
              <a:rPr lang="en-US" sz="3000">
                <a:solidFill>
                  <a:schemeClr val="dk1"/>
                </a:solidFill>
              </a:rPr>
              <a:t>, helping balance predictions between precision and recall.</a:t>
            </a:r>
            <a:br>
              <a:rPr lang="en-US" sz="3000">
                <a:solidFill>
                  <a:schemeClr val="dk1"/>
                </a:solidFill>
              </a:rPr>
            </a:br>
            <a:endParaRPr sz="3000">
              <a:solidFill>
                <a:schemeClr val="dk1"/>
              </a:solidFill>
            </a:endParaRPr>
          </a:p>
          <a:p>
            <a:pPr indent="0" lvl="0" marL="0" rtl="0" algn="l">
              <a:spcBef>
                <a:spcPts val="0"/>
              </a:spcBef>
              <a:spcAft>
                <a:spcPts val="0"/>
              </a:spcAft>
              <a:buNone/>
            </a:pPr>
            <a:r>
              <a:rPr lang="en-US" sz="3000">
                <a:solidFill>
                  <a:schemeClr val="dk1"/>
                </a:solidFill>
              </a:rPr>
              <a:t>However, the </a:t>
            </a:r>
            <a:r>
              <a:rPr b="1" lang="en-US" sz="3000">
                <a:solidFill>
                  <a:schemeClr val="dk1"/>
                </a:solidFill>
              </a:rPr>
              <a:t>original dataset version of the DNN maintained the best AUC and recall</a:t>
            </a:r>
            <a:r>
              <a:rPr lang="en-US" sz="3000">
                <a:solidFill>
                  <a:schemeClr val="dk1"/>
                </a:solidFill>
              </a:rPr>
              <a:t>, showing it generalized well without needing synthetic samples.</a:t>
            </a:r>
            <a:endParaRPr sz="30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77" name="Shape 177"/>
        <p:cNvGrpSpPr/>
        <p:nvPr/>
      </p:nvGrpSpPr>
      <p:grpSpPr>
        <a:xfrm>
          <a:off x="0" y="0"/>
          <a:ext cx="0" cy="0"/>
          <a:chOff x="0" y="0"/>
          <a:chExt cx="0" cy="0"/>
        </a:xfrm>
      </p:grpSpPr>
      <p:sp>
        <p:nvSpPr>
          <p:cNvPr id="178" name="Google Shape;178;p13"/>
          <p:cNvSpPr/>
          <p:nvPr/>
        </p:nvSpPr>
        <p:spPr>
          <a:xfrm>
            <a:off x="0" y="10248856"/>
            <a:ext cx="9170035" cy="38735"/>
          </a:xfrm>
          <a:custGeom>
            <a:rect b="b" l="l" r="r" t="t"/>
            <a:pathLst>
              <a:path extrusionOk="0" h="38734" w="9170035">
                <a:moveTo>
                  <a:pt x="0" y="38142"/>
                </a:moveTo>
                <a:lnTo>
                  <a:pt x="9169781" y="38142"/>
                </a:lnTo>
                <a:lnTo>
                  <a:pt x="9169781" y="0"/>
                </a:lnTo>
                <a:lnTo>
                  <a:pt x="0" y="0"/>
                </a:lnTo>
                <a:lnTo>
                  <a:pt x="0" y="38142"/>
                </a:lnTo>
                <a:close/>
              </a:path>
            </a:pathLst>
          </a:custGeom>
          <a:solidFill>
            <a:srgbClr val="4D133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79" name="Google Shape;179;p13"/>
          <p:cNvSpPr/>
          <p:nvPr/>
        </p:nvSpPr>
        <p:spPr>
          <a:xfrm>
            <a:off x="10174096" y="691299"/>
            <a:ext cx="7242175" cy="167640"/>
          </a:xfrm>
          <a:custGeom>
            <a:rect b="b" l="l" r="r" t="t"/>
            <a:pathLst>
              <a:path extrusionOk="0" h="167640" w="7242175">
                <a:moveTo>
                  <a:pt x="7242047" y="0"/>
                </a:moveTo>
                <a:lnTo>
                  <a:pt x="0" y="0"/>
                </a:lnTo>
                <a:lnTo>
                  <a:pt x="0" y="167474"/>
                </a:lnTo>
                <a:lnTo>
                  <a:pt x="7242047" y="167474"/>
                </a:lnTo>
                <a:lnTo>
                  <a:pt x="7242047" y="0"/>
                </a:lnTo>
                <a:close/>
              </a:path>
            </a:pathLst>
          </a:custGeom>
          <a:solidFill>
            <a:srgbClr val="90306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0" name="Google Shape;180;p13"/>
          <p:cNvSpPr txBox="1"/>
          <p:nvPr/>
        </p:nvSpPr>
        <p:spPr>
          <a:xfrm>
            <a:off x="383025" y="6851300"/>
            <a:ext cx="6073800" cy="406950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1800">
                <a:solidFill>
                  <a:schemeClr val="dk1"/>
                </a:solidFill>
              </a:rPr>
              <a:t>The model correctly classified </a:t>
            </a:r>
            <a:r>
              <a:rPr b="1" lang="en-US" sz="1800">
                <a:solidFill>
                  <a:schemeClr val="dk1"/>
                </a:solidFill>
              </a:rPr>
              <a:t>444 survivors</a:t>
            </a:r>
            <a:r>
              <a:rPr lang="en-US" sz="1800">
                <a:solidFill>
                  <a:schemeClr val="dk1"/>
                </a:solidFill>
              </a:rPr>
              <a:t> and </a:t>
            </a:r>
            <a:r>
              <a:rPr b="1" lang="en-US" sz="1800">
                <a:solidFill>
                  <a:schemeClr val="dk1"/>
                </a:solidFill>
              </a:rPr>
              <a:t>146 deaths</a:t>
            </a:r>
            <a:r>
              <a:rPr lang="en-US" sz="1800">
                <a:solidFill>
                  <a:schemeClr val="dk1"/>
                </a:solidFill>
              </a:rPr>
              <a:t>.</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US" sz="1800">
                <a:solidFill>
                  <a:schemeClr val="dk1"/>
                </a:solidFill>
              </a:rPr>
              <a:t>It made </a:t>
            </a:r>
            <a:r>
              <a:rPr b="1" lang="en-US" sz="1800">
                <a:solidFill>
                  <a:schemeClr val="dk1"/>
                </a:solidFill>
              </a:rPr>
              <a:t>71 false positives</a:t>
            </a:r>
            <a:r>
              <a:rPr lang="en-US" sz="1800">
                <a:solidFill>
                  <a:schemeClr val="dk1"/>
                </a:solidFill>
              </a:rPr>
              <a:t> (predicted “died” but actually survived) and </a:t>
            </a:r>
            <a:r>
              <a:rPr b="1" lang="en-US" sz="1800">
                <a:solidFill>
                  <a:schemeClr val="dk1"/>
                </a:solidFill>
              </a:rPr>
              <a:t>49 false negatives</a:t>
            </a:r>
            <a:r>
              <a:rPr lang="en-US" sz="1800">
                <a:solidFill>
                  <a:schemeClr val="dk1"/>
                </a:solidFill>
              </a:rPr>
              <a:t> (predicted “survived” but actually died).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These are </a:t>
            </a:r>
            <a:r>
              <a:rPr b="1" lang="en-US" sz="1800">
                <a:solidFill>
                  <a:schemeClr val="dk1"/>
                </a:solidFill>
              </a:rPr>
              <a:t>good results</a:t>
            </a:r>
            <a:r>
              <a:rPr lang="en-US" sz="1800">
                <a:solidFill>
                  <a:schemeClr val="dk1"/>
                </a:solidFill>
              </a:rPr>
              <a:t>, showing a strong balance between sensitivity and specificity.</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sz="1800">
                <a:solidFill>
                  <a:schemeClr val="dk1"/>
                </a:solidFill>
              </a:rPr>
              <a:t>Model Strength:</a:t>
            </a:r>
            <a:r>
              <a:rPr lang="en-US" sz="1800">
                <a:solidFill>
                  <a:schemeClr val="dk1"/>
                </a:solidFill>
              </a:rPr>
              <a:t> High true positive and true negative rates.</a:t>
            </a:r>
            <a:br>
              <a:rPr lang="en-US" sz="1800">
                <a:solidFill>
                  <a:schemeClr val="dk1"/>
                </a:solidFill>
              </a:rPr>
            </a:br>
            <a:r>
              <a:rPr lang="en-US" sz="1800">
                <a:solidFill>
                  <a:schemeClr val="dk1"/>
                </a:solidFill>
              </a:rPr>
              <a:t> </a:t>
            </a:r>
            <a:r>
              <a:rPr b="1" lang="en-US" sz="1800">
                <a:solidFill>
                  <a:schemeClr val="dk1"/>
                </a:solidFill>
              </a:rPr>
              <a:t>Model Weakness:</a:t>
            </a:r>
            <a:r>
              <a:rPr lang="en-US" sz="1800">
                <a:solidFill>
                  <a:schemeClr val="dk1"/>
                </a:solidFill>
              </a:rPr>
              <a:t> Some confusion between the two classes — mainly in predicting “died” cases.</a:t>
            </a:r>
            <a:endParaRPr sz="1800">
              <a:solidFill>
                <a:schemeClr val="dk1"/>
              </a:solidFill>
            </a:endParaRPr>
          </a:p>
          <a:p>
            <a:pPr indent="0" lvl="0" marL="12700" rtl="0" algn="l">
              <a:lnSpc>
                <a:spcPct val="100000"/>
              </a:lnSpc>
              <a:spcBef>
                <a:spcPts val="1200"/>
              </a:spcBef>
              <a:spcAft>
                <a:spcPts val="0"/>
              </a:spcAft>
              <a:buNone/>
            </a:pPr>
            <a:r>
              <a:t/>
            </a:r>
            <a:endParaRPr b="1" i="1" sz="3200">
              <a:solidFill>
                <a:srgbClr val="3C3C3C"/>
              </a:solidFill>
              <a:latin typeface="Trebuchet MS"/>
              <a:ea typeface="Trebuchet MS"/>
              <a:cs typeface="Trebuchet MS"/>
              <a:sym typeface="Trebuchet MS"/>
            </a:endParaRPr>
          </a:p>
        </p:txBody>
      </p:sp>
      <p:sp>
        <p:nvSpPr>
          <p:cNvPr id="181" name="Google Shape;181;p13"/>
          <p:cNvSpPr txBox="1"/>
          <p:nvPr>
            <p:ph type="title"/>
          </p:nvPr>
        </p:nvSpPr>
        <p:spPr>
          <a:xfrm>
            <a:off x="7140700" y="6851300"/>
            <a:ext cx="3994500" cy="2918400"/>
          </a:xfrm>
          <a:prstGeom prst="rect">
            <a:avLst/>
          </a:prstGeom>
          <a:noFill/>
          <a:ln>
            <a:noFill/>
          </a:ln>
        </p:spPr>
        <p:txBody>
          <a:bodyPr anchorCtr="0" anchor="t" bIns="0" lIns="0" spcFirstLastPara="1" rIns="0" wrap="square" tIns="50150">
            <a:spAutoFit/>
          </a:bodyPr>
          <a:lstStyle/>
          <a:p>
            <a:pPr indent="0" lvl="0" marL="12700" marR="5080" rtl="0" algn="l">
              <a:lnSpc>
                <a:spcPct val="90000"/>
              </a:lnSpc>
              <a:spcBef>
                <a:spcPts val="0"/>
              </a:spcBef>
              <a:spcAft>
                <a:spcPts val="0"/>
              </a:spcAft>
              <a:buClr>
                <a:schemeClr val="dk1"/>
              </a:buClr>
              <a:buSzPts val="1100"/>
              <a:buFont typeface="Arial"/>
              <a:buNone/>
            </a:pPr>
            <a:r>
              <a:rPr lang="en-US" sz="2300">
                <a:solidFill>
                  <a:schemeClr val="dk1"/>
                </a:solidFill>
                <a:latin typeface="Arial"/>
                <a:ea typeface="Arial"/>
                <a:cs typeface="Arial"/>
                <a:sym typeface="Arial"/>
              </a:rPr>
              <a:t>The two distributions are </a:t>
            </a:r>
            <a:r>
              <a:rPr b="1" lang="en-US" sz="2300">
                <a:solidFill>
                  <a:schemeClr val="dk1"/>
                </a:solidFill>
                <a:latin typeface="Arial"/>
                <a:ea typeface="Arial"/>
                <a:cs typeface="Arial"/>
                <a:sym typeface="Arial"/>
              </a:rPr>
              <a:t>well-separated</a:t>
            </a:r>
            <a:r>
              <a:rPr lang="en-US" sz="2300">
                <a:solidFill>
                  <a:schemeClr val="dk1"/>
                </a:solidFill>
                <a:latin typeface="Arial"/>
                <a:ea typeface="Arial"/>
                <a:cs typeface="Arial"/>
                <a:sym typeface="Arial"/>
              </a:rPr>
              <a:t>, meaning the model effectively differentiates between survivors and deaths.</a:t>
            </a:r>
            <a:br>
              <a:rPr lang="en-US" sz="2300">
                <a:solidFill>
                  <a:schemeClr val="dk1"/>
                </a:solidFill>
                <a:latin typeface="Arial"/>
                <a:ea typeface="Arial"/>
                <a:cs typeface="Arial"/>
                <a:sym typeface="Arial"/>
              </a:rPr>
            </a:br>
            <a:endParaRPr sz="2300">
              <a:solidFill>
                <a:schemeClr val="dk1"/>
              </a:solidFill>
              <a:latin typeface="Arial"/>
              <a:ea typeface="Arial"/>
              <a:cs typeface="Arial"/>
              <a:sym typeface="Arial"/>
            </a:endParaRPr>
          </a:p>
          <a:p>
            <a:pPr indent="0" lvl="0" marL="12700" marR="5080" rtl="0" algn="l">
              <a:lnSpc>
                <a:spcPct val="90000"/>
              </a:lnSpc>
              <a:spcBef>
                <a:spcPts val="0"/>
              </a:spcBef>
              <a:spcAft>
                <a:spcPts val="0"/>
              </a:spcAft>
              <a:buClr>
                <a:schemeClr val="dk1"/>
              </a:buClr>
              <a:buSzPts val="1100"/>
              <a:buFont typeface="Arial"/>
              <a:buNone/>
            </a:pPr>
            <a:r>
              <a:rPr lang="en-US" sz="2300">
                <a:solidFill>
                  <a:schemeClr val="dk1"/>
                </a:solidFill>
                <a:latin typeface="Arial"/>
                <a:ea typeface="Arial"/>
                <a:cs typeface="Arial"/>
                <a:sym typeface="Arial"/>
              </a:rPr>
              <a:t>Only a small overlap occurs in the middle (around 0.4–0.6), where predictions are uncertain.</a:t>
            </a:r>
            <a:endParaRPr b="1" i="1" sz="3700">
              <a:solidFill>
                <a:srgbClr val="3C3C3C"/>
              </a:solidFill>
              <a:latin typeface="Trebuchet MS"/>
              <a:ea typeface="Trebuchet MS"/>
              <a:cs typeface="Trebuchet MS"/>
              <a:sym typeface="Trebuchet MS"/>
            </a:endParaRPr>
          </a:p>
        </p:txBody>
      </p:sp>
      <p:sp>
        <p:nvSpPr>
          <p:cNvPr id="182" name="Google Shape;182;p13"/>
          <p:cNvSpPr txBox="1"/>
          <p:nvPr/>
        </p:nvSpPr>
        <p:spPr>
          <a:xfrm>
            <a:off x="11654950" y="7086825"/>
            <a:ext cx="6320100" cy="2169600"/>
          </a:xfrm>
          <a:prstGeom prst="rect">
            <a:avLst/>
          </a:prstGeom>
          <a:noFill/>
          <a:ln>
            <a:noFill/>
          </a:ln>
        </p:spPr>
        <p:txBody>
          <a:bodyPr anchorCtr="0" anchor="t" bIns="0" lIns="0" spcFirstLastPara="1" rIns="0" wrap="square" tIns="55225">
            <a:spAutoFit/>
          </a:bodyPr>
          <a:lstStyle/>
          <a:p>
            <a:pPr indent="0" lvl="0" marL="12700" marR="274320" rtl="0" algn="l">
              <a:lnSpc>
                <a:spcPct val="90000"/>
              </a:lnSpc>
              <a:spcBef>
                <a:spcPts val="1360"/>
              </a:spcBef>
              <a:spcAft>
                <a:spcPts val="0"/>
              </a:spcAft>
              <a:buClr>
                <a:schemeClr val="dk1"/>
              </a:buClr>
              <a:buSzPts val="1100"/>
              <a:buFont typeface="Arial"/>
              <a:buNone/>
            </a:pPr>
            <a:r>
              <a:rPr lang="en-US" sz="2000">
                <a:solidFill>
                  <a:schemeClr val="dk1"/>
                </a:solidFill>
              </a:rPr>
              <a:t>The </a:t>
            </a:r>
            <a:r>
              <a:rPr b="1" lang="en-US" sz="2000">
                <a:solidFill>
                  <a:schemeClr val="dk1"/>
                </a:solidFill>
              </a:rPr>
              <a:t>default threshold (0.5)</a:t>
            </a:r>
            <a:r>
              <a:rPr lang="en-US" sz="2000">
                <a:solidFill>
                  <a:schemeClr val="dk1"/>
                </a:solidFill>
              </a:rPr>
              <a:t> is not necessarily optimal; at </a:t>
            </a:r>
            <a:r>
              <a:rPr b="1" lang="en-US" sz="2000">
                <a:solidFill>
                  <a:schemeClr val="dk1"/>
                </a:solidFill>
              </a:rPr>
              <a:t>0.58</a:t>
            </a:r>
            <a:r>
              <a:rPr lang="en-US" sz="2000">
                <a:solidFill>
                  <a:schemeClr val="dk1"/>
                </a:solidFill>
              </a:rPr>
              <a:t>, the model achieves the </a:t>
            </a:r>
            <a:r>
              <a:rPr b="1" lang="en-US" sz="2000">
                <a:solidFill>
                  <a:schemeClr val="dk1"/>
                </a:solidFill>
              </a:rPr>
              <a:t>highest F1 (~0.71)</a:t>
            </a:r>
            <a:r>
              <a:rPr lang="en-US" sz="2000">
                <a:solidFill>
                  <a:schemeClr val="dk1"/>
                </a:solidFill>
              </a:rPr>
              <a:t>.</a:t>
            </a:r>
            <a:br>
              <a:rPr lang="en-US" sz="2000">
                <a:solidFill>
                  <a:schemeClr val="dk1"/>
                </a:solidFill>
              </a:rPr>
            </a:br>
            <a:endParaRPr sz="2000">
              <a:solidFill>
                <a:schemeClr val="dk1"/>
              </a:solidFill>
            </a:endParaRPr>
          </a:p>
          <a:p>
            <a:pPr indent="0" lvl="0" marL="12700" marR="274320" rtl="0" algn="l">
              <a:lnSpc>
                <a:spcPct val="90000"/>
              </a:lnSpc>
              <a:spcBef>
                <a:spcPts val="1360"/>
              </a:spcBef>
              <a:spcAft>
                <a:spcPts val="0"/>
              </a:spcAft>
              <a:buClr>
                <a:schemeClr val="dk1"/>
              </a:buClr>
              <a:buSzPts val="1100"/>
              <a:buFont typeface="Arial"/>
              <a:buNone/>
            </a:pPr>
            <a:r>
              <a:rPr lang="en-US" sz="2000">
                <a:solidFill>
                  <a:schemeClr val="dk1"/>
                </a:solidFill>
              </a:rPr>
              <a:t>This means setting the cutoff slightly higher improves the trade-off between precision and recall, reducing false positives while maintaining good sensitivity.</a:t>
            </a:r>
            <a:endParaRPr sz="3400">
              <a:latin typeface="Trebuchet MS"/>
              <a:ea typeface="Trebuchet MS"/>
              <a:cs typeface="Trebuchet MS"/>
              <a:sym typeface="Trebuchet MS"/>
            </a:endParaRPr>
          </a:p>
        </p:txBody>
      </p:sp>
      <p:grpSp>
        <p:nvGrpSpPr>
          <p:cNvPr id="183" name="Google Shape;183;p13"/>
          <p:cNvGrpSpPr/>
          <p:nvPr/>
        </p:nvGrpSpPr>
        <p:grpSpPr>
          <a:xfrm>
            <a:off x="0" y="19050"/>
            <a:ext cx="18288368" cy="1906295"/>
            <a:chOff x="0" y="0"/>
            <a:chExt cx="9169400" cy="10248900"/>
          </a:xfrm>
        </p:grpSpPr>
        <p:sp>
          <p:nvSpPr>
            <p:cNvPr id="184" name="Google Shape;184;p13"/>
            <p:cNvSpPr/>
            <p:nvPr/>
          </p:nvSpPr>
          <p:spPr>
            <a:xfrm>
              <a:off x="0" y="0"/>
              <a:ext cx="9169400" cy="10248900"/>
            </a:xfrm>
            <a:custGeom>
              <a:rect b="b" l="l" r="r" t="t"/>
              <a:pathLst>
                <a:path extrusionOk="0" h="10248900" w="9169400">
                  <a:moveTo>
                    <a:pt x="0" y="10248856"/>
                  </a:moveTo>
                  <a:lnTo>
                    <a:pt x="9169033" y="10248856"/>
                  </a:lnTo>
                  <a:lnTo>
                    <a:pt x="9169033" y="0"/>
                  </a:lnTo>
                  <a:lnTo>
                    <a:pt x="0" y="0"/>
                  </a:lnTo>
                  <a:lnTo>
                    <a:pt x="0" y="10248856"/>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85" name="Google Shape;185;p13"/>
            <p:cNvSpPr/>
            <p:nvPr/>
          </p:nvSpPr>
          <p:spPr>
            <a:xfrm>
              <a:off x="0" y="0"/>
              <a:ext cx="9169400" cy="10248900"/>
            </a:xfrm>
            <a:custGeom>
              <a:rect b="b" l="l" r="r" t="t"/>
              <a:pathLst>
                <a:path extrusionOk="0" h="10248900" w="9169400">
                  <a:moveTo>
                    <a:pt x="0" y="10248856"/>
                  </a:moveTo>
                  <a:lnTo>
                    <a:pt x="9169033" y="10248856"/>
                  </a:lnTo>
                  <a:lnTo>
                    <a:pt x="9169033" y="0"/>
                  </a:lnTo>
                </a:path>
              </a:pathLst>
            </a:custGeom>
            <a:noFill/>
            <a:ln cap="flat" cmpd="sng" w="22225">
              <a:solidFill>
                <a:srgbClr val="1B03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86" name="Google Shape;186;p13"/>
          <p:cNvSpPr txBox="1"/>
          <p:nvPr/>
        </p:nvSpPr>
        <p:spPr>
          <a:xfrm>
            <a:off x="742564" y="455775"/>
            <a:ext cx="16673700" cy="638700"/>
          </a:xfrm>
          <a:prstGeom prst="rect">
            <a:avLst/>
          </a:prstGeom>
          <a:noFill/>
          <a:ln>
            <a:noFill/>
          </a:ln>
        </p:spPr>
        <p:txBody>
          <a:bodyPr anchorCtr="0" anchor="t" bIns="0" lIns="0" spcFirstLastPara="1" rIns="0" wrap="square" tIns="7600">
            <a:spAutoFit/>
          </a:bodyPr>
          <a:lstStyle/>
          <a:p>
            <a:pPr indent="0" lvl="0" marL="12700" marR="5080" rtl="0" algn="l">
              <a:lnSpc>
                <a:spcPct val="100400"/>
              </a:lnSpc>
              <a:spcBef>
                <a:spcPts val="0"/>
              </a:spcBef>
              <a:spcAft>
                <a:spcPts val="0"/>
              </a:spcAft>
              <a:buNone/>
            </a:pPr>
            <a:r>
              <a:rPr b="1" lang="en-US" sz="4100">
                <a:solidFill>
                  <a:srgbClr val="FFFFFF"/>
                </a:solidFill>
                <a:latin typeface="Trebuchet MS"/>
                <a:ea typeface="Trebuchet MS"/>
                <a:cs typeface="Trebuchet MS"/>
                <a:sym typeface="Trebuchet MS"/>
              </a:rPr>
              <a:t>FINAL MODELS AND THEIR PERFORMANCE</a:t>
            </a:r>
            <a:endParaRPr sz="4100">
              <a:latin typeface="Trebuchet MS"/>
              <a:ea typeface="Trebuchet MS"/>
              <a:cs typeface="Trebuchet MS"/>
              <a:sym typeface="Trebuchet MS"/>
            </a:endParaRPr>
          </a:p>
        </p:txBody>
      </p:sp>
      <p:pic>
        <p:nvPicPr>
          <p:cNvPr id="187" name="Google Shape;187;p13"/>
          <p:cNvPicPr preferRelativeResize="0"/>
          <p:nvPr/>
        </p:nvPicPr>
        <p:blipFill rotWithShape="1">
          <a:blip r:embed="rId3">
            <a:alphaModFix/>
          </a:blip>
          <a:srcRect b="0" l="0" r="-1296" t="0"/>
          <a:stretch/>
        </p:blipFill>
        <p:spPr>
          <a:xfrm>
            <a:off x="2048150" y="1434325"/>
            <a:ext cx="14062551" cy="5077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1" name="Shape 191"/>
        <p:cNvGrpSpPr/>
        <p:nvPr/>
      </p:nvGrpSpPr>
      <p:grpSpPr>
        <a:xfrm>
          <a:off x="0" y="0"/>
          <a:ext cx="0" cy="0"/>
          <a:chOff x="0" y="0"/>
          <a:chExt cx="0" cy="0"/>
        </a:xfrm>
      </p:grpSpPr>
      <p:sp>
        <p:nvSpPr>
          <p:cNvPr id="192" name="Google Shape;192;p14"/>
          <p:cNvSpPr/>
          <p:nvPr/>
        </p:nvSpPr>
        <p:spPr>
          <a:xfrm>
            <a:off x="0" y="10248856"/>
            <a:ext cx="9170035" cy="38735"/>
          </a:xfrm>
          <a:custGeom>
            <a:rect b="b" l="l" r="r" t="t"/>
            <a:pathLst>
              <a:path extrusionOk="0" h="38734" w="9170035">
                <a:moveTo>
                  <a:pt x="0" y="38142"/>
                </a:moveTo>
                <a:lnTo>
                  <a:pt x="9169781" y="38142"/>
                </a:lnTo>
                <a:lnTo>
                  <a:pt x="9169781" y="0"/>
                </a:lnTo>
                <a:lnTo>
                  <a:pt x="0" y="0"/>
                </a:lnTo>
                <a:lnTo>
                  <a:pt x="0" y="38142"/>
                </a:lnTo>
                <a:close/>
              </a:path>
            </a:pathLst>
          </a:custGeom>
          <a:solidFill>
            <a:srgbClr val="4D1334"/>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3" name="Google Shape;193;p14"/>
          <p:cNvSpPr/>
          <p:nvPr/>
        </p:nvSpPr>
        <p:spPr>
          <a:xfrm>
            <a:off x="10174096" y="691299"/>
            <a:ext cx="7242175" cy="167640"/>
          </a:xfrm>
          <a:custGeom>
            <a:rect b="b" l="l" r="r" t="t"/>
            <a:pathLst>
              <a:path extrusionOk="0" h="167640" w="7242175">
                <a:moveTo>
                  <a:pt x="7242047" y="0"/>
                </a:moveTo>
                <a:lnTo>
                  <a:pt x="0" y="0"/>
                </a:lnTo>
                <a:lnTo>
                  <a:pt x="0" y="167474"/>
                </a:lnTo>
                <a:lnTo>
                  <a:pt x="7242047" y="167474"/>
                </a:lnTo>
                <a:lnTo>
                  <a:pt x="7242047" y="0"/>
                </a:lnTo>
                <a:close/>
              </a:path>
            </a:pathLst>
          </a:custGeom>
          <a:solidFill>
            <a:srgbClr val="90306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4" name="Google Shape;194;p14"/>
          <p:cNvSpPr txBox="1"/>
          <p:nvPr/>
        </p:nvSpPr>
        <p:spPr>
          <a:xfrm>
            <a:off x="9520950" y="4748800"/>
            <a:ext cx="8207700" cy="5774400"/>
          </a:xfrm>
          <a:prstGeom prst="rect">
            <a:avLst/>
          </a:prstGeom>
          <a:noFill/>
          <a:ln>
            <a:noFill/>
          </a:ln>
        </p:spPr>
        <p:txBody>
          <a:bodyPr anchorCtr="0" anchor="t" bIns="0" lIns="0" spcFirstLastPara="1" rIns="0" wrap="square" tIns="53325">
            <a:spAutoFit/>
          </a:bodyPr>
          <a:lstStyle/>
          <a:p>
            <a:pPr indent="-400049" lvl="0" marL="457200" marR="132715" rtl="0" algn="l">
              <a:lnSpc>
                <a:spcPct val="90000"/>
              </a:lnSpc>
              <a:spcBef>
                <a:spcPts val="1330"/>
              </a:spcBef>
              <a:spcAft>
                <a:spcPts val="0"/>
              </a:spcAft>
              <a:buClr>
                <a:srgbClr val="903062"/>
              </a:buClr>
              <a:buSzPts val="2700"/>
              <a:buFont typeface="Noto Sans Symbols"/>
              <a:buChar char="∙"/>
            </a:pPr>
            <a:r>
              <a:rPr lang="en-US" sz="2800">
                <a:solidFill>
                  <a:schemeClr val="dk1"/>
                </a:solidFill>
              </a:rPr>
              <a:t>The model demonstrates </a:t>
            </a:r>
            <a:r>
              <a:rPr b="1" lang="en-US" sz="2800">
                <a:solidFill>
                  <a:schemeClr val="dk1"/>
                </a:solidFill>
              </a:rPr>
              <a:t>excellent discriminative ability</a:t>
            </a:r>
            <a:r>
              <a:rPr lang="en-US" sz="2800">
                <a:solidFill>
                  <a:schemeClr val="dk1"/>
                </a:solidFill>
              </a:rPr>
              <a:t>: it is sensitive enough to detect most at-risk patients while maintaining high specificity for survivors.</a:t>
            </a:r>
            <a:endParaRPr sz="2800">
              <a:solidFill>
                <a:schemeClr val="dk1"/>
              </a:solidFill>
            </a:endParaRPr>
          </a:p>
          <a:p>
            <a:pPr indent="-400049" lvl="0" marL="457200" marR="132715" rtl="0" algn="l">
              <a:lnSpc>
                <a:spcPct val="90000"/>
              </a:lnSpc>
              <a:spcBef>
                <a:spcPts val="1330"/>
              </a:spcBef>
              <a:spcAft>
                <a:spcPts val="0"/>
              </a:spcAft>
              <a:buClr>
                <a:srgbClr val="903062"/>
              </a:buClr>
              <a:buSzPts val="2700"/>
              <a:buFont typeface="Noto Sans Symbols"/>
              <a:buChar char="∙"/>
            </a:pPr>
            <a:r>
              <a:rPr lang="en-US" sz="2800">
                <a:solidFill>
                  <a:schemeClr val="dk1"/>
                </a:solidFill>
              </a:rPr>
              <a:t>The </a:t>
            </a:r>
            <a:r>
              <a:rPr b="1" lang="en-US" sz="2800">
                <a:solidFill>
                  <a:schemeClr val="dk1"/>
                </a:solidFill>
              </a:rPr>
              <a:t>F1-score of 0.709</a:t>
            </a:r>
            <a:r>
              <a:rPr lang="en-US" sz="2800">
                <a:solidFill>
                  <a:schemeClr val="dk1"/>
                </a:solidFill>
              </a:rPr>
              <a:t> shows a good balance between false positives (predicting death when alive) and false negatives (predicting survival when death occurs).</a:t>
            </a:r>
            <a:endParaRPr sz="2800">
              <a:solidFill>
                <a:schemeClr val="dk1"/>
              </a:solidFill>
            </a:endParaRPr>
          </a:p>
          <a:p>
            <a:pPr indent="-400049" lvl="0" marL="457200" marR="132715" rtl="0" algn="l">
              <a:lnSpc>
                <a:spcPct val="90000"/>
              </a:lnSpc>
              <a:spcBef>
                <a:spcPts val="1330"/>
              </a:spcBef>
              <a:spcAft>
                <a:spcPts val="0"/>
              </a:spcAft>
              <a:buClr>
                <a:srgbClr val="903062"/>
              </a:buClr>
              <a:buSzPts val="2700"/>
              <a:buFont typeface="Noto Sans Symbols"/>
              <a:buChar char="∙"/>
            </a:pPr>
            <a:r>
              <a:rPr lang="en-US" sz="2800">
                <a:solidFill>
                  <a:schemeClr val="dk1"/>
                </a:solidFill>
              </a:rPr>
              <a:t>These metrics, combined with the </a:t>
            </a:r>
            <a:r>
              <a:rPr b="1" lang="en-US" sz="2800">
                <a:solidFill>
                  <a:schemeClr val="dk1"/>
                </a:solidFill>
              </a:rPr>
              <a:t>risk group chart</a:t>
            </a:r>
            <a:r>
              <a:rPr lang="en-US" sz="2800">
                <a:solidFill>
                  <a:schemeClr val="dk1"/>
                </a:solidFill>
              </a:rPr>
              <a:t>, confirm that the DNN not only predicts outcomes correctly but also ranks patients’ mortality risk realistically.</a:t>
            </a:r>
            <a:endParaRPr sz="2800">
              <a:solidFill>
                <a:schemeClr val="dk1"/>
              </a:solidFill>
            </a:endParaRPr>
          </a:p>
          <a:p>
            <a:pPr indent="0" lvl="0" marL="0" marR="132715" rtl="0" algn="l">
              <a:lnSpc>
                <a:spcPct val="90000"/>
              </a:lnSpc>
              <a:spcBef>
                <a:spcPts val="1330"/>
              </a:spcBef>
              <a:spcAft>
                <a:spcPts val="0"/>
              </a:spcAft>
              <a:buNone/>
            </a:pPr>
            <a:r>
              <a:t/>
            </a:r>
            <a:endParaRPr sz="4000">
              <a:solidFill>
                <a:srgbClr val="3C3C3C"/>
              </a:solidFill>
              <a:latin typeface="Trebuchet MS"/>
              <a:ea typeface="Trebuchet MS"/>
              <a:cs typeface="Trebuchet MS"/>
              <a:sym typeface="Trebuchet MS"/>
            </a:endParaRPr>
          </a:p>
        </p:txBody>
      </p:sp>
      <p:grpSp>
        <p:nvGrpSpPr>
          <p:cNvPr id="195" name="Google Shape;195;p14"/>
          <p:cNvGrpSpPr/>
          <p:nvPr/>
        </p:nvGrpSpPr>
        <p:grpSpPr>
          <a:xfrm>
            <a:off x="0" y="0"/>
            <a:ext cx="18288368" cy="1486090"/>
            <a:chOff x="0" y="0"/>
            <a:chExt cx="9169400" cy="10248900"/>
          </a:xfrm>
        </p:grpSpPr>
        <p:sp>
          <p:nvSpPr>
            <p:cNvPr id="196" name="Google Shape;196;p14"/>
            <p:cNvSpPr/>
            <p:nvPr/>
          </p:nvSpPr>
          <p:spPr>
            <a:xfrm>
              <a:off x="0" y="0"/>
              <a:ext cx="9169400" cy="10248900"/>
            </a:xfrm>
            <a:custGeom>
              <a:rect b="b" l="l" r="r" t="t"/>
              <a:pathLst>
                <a:path extrusionOk="0" h="10248900" w="9169400">
                  <a:moveTo>
                    <a:pt x="0" y="10248856"/>
                  </a:moveTo>
                  <a:lnTo>
                    <a:pt x="9169033" y="10248856"/>
                  </a:lnTo>
                  <a:lnTo>
                    <a:pt x="9169033" y="0"/>
                  </a:lnTo>
                  <a:lnTo>
                    <a:pt x="0" y="0"/>
                  </a:lnTo>
                  <a:lnTo>
                    <a:pt x="0" y="10248856"/>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197" name="Google Shape;197;p14"/>
            <p:cNvSpPr/>
            <p:nvPr/>
          </p:nvSpPr>
          <p:spPr>
            <a:xfrm>
              <a:off x="0" y="0"/>
              <a:ext cx="9169400" cy="10248900"/>
            </a:xfrm>
            <a:custGeom>
              <a:rect b="b" l="l" r="r" t="t"/>
              <a:pathLst>
                <a:path extrusionOk="0" h="10248900" w="9169400">
                  <a:moveTo>
                    <a:pt x="0" y="10248856"/>
                  </a:moveTo>
                  <a:lnTo>
                    <a:pt x="9169033" y="10248856"/>
                  </a:lnTo>
                  <a:lnTo>
                    <a:pt x="9169033" y="0"/>
                  </a:lnTo>
                </a:path>
              </a:pathLst>
            </a:custGeom>
            <a:noFill/>
            <a:ln cap="flat" cmpd="sng" w="22225">
              <a:solidFill>
                <a:srgbClr val="1B03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198" name="Google Shape;198;p14"/>
          <p:cNvSpPr txBox="1"/>
          <p:nvPr/>
        </p:nvSpPr>
        <p:spPr>
          <a:xfrm>
            <a:off x="768723" y="160375"/>
            <a:ext cx="16768500" cy="1152000"/>
          </a:xfrm>
          <a:prstGeom prst="rect">
            <a:avLst/>
          </a:prstGeom>
          <a:noFill/>
          <a:ln>
            <a:noFill/>
          </a:ln>
        </p:spPr>
        <p:txBody>
          <a:bodyPr anchorCtr="0" anchor="t" bIns="0" lIns="0" spcFirstLastPara="1" rIns="0" wrap="square" tIns="12700">
            <a:spAutoFit/>
          </a:bodyPr>
          <a:lstStyle/>
          <a:p>
            <a:pPr indent="0" lvl="0" marL="12700" marR="5080" rtl="0" algn="l">
              <a:lnSpc>
                <a:spcPct val="100000"/>
              </a:lnSpc>
              <a:spcBef>
                <a:spcPts val="0"/>
              </a:spcBef>
              <a:spcAft>
                <a:spcPts val="0"/>
              </a:spcAft>
              <a:buNone/>
            </a:pPr>
            <a:r>
              <a:rPr b="1" lang="en-US" sz="7400">
                <a:solidFill>
                  <a:srgbClr val="FFFFFF"/>
                </a:solidFill>
                <a:latin typeface="Trebuchet MS"/>
                <a:ea typeface="Trebuchet MS"/>
                <a:cs typeface="Trebuchet MS"/>
                <a:sym typeface="Trebuchet MS"/>
              </a:rPr>
              <a:t>Clinical Insights and Feature Analysis</a:t>
            </a:r>
            <a:endParaRPr sz="7400">
              <a:latin typeface="Trebuchet MS"/>
              <a:ea typeface="Trebuchet MS"/>
              <a:cs typeface="Trebuchet MS"/>
              <a:sym typeface="Trebuchet MS"/>
            </a:endParaRPr>
          </a:p>
        </p:txBody>
      </p:sp>
      <p:pic>
        <p:nvPicPr>
          <p:cNvPr id="199" name="Google Shape;199;p14"/>
          <p:cNvPicPr preferRelativeResize="0"/>
          <p:nvPr/>
        </p:nvPicPr>
        <p:blipFill>
          <a:blip r:embed="rId3">
            <a:alphaModFix/>
          </a:blip>
          <a:stretch>
            <a:fillRect/>
          </a:stretch>
        </p:blipFill>
        <p:spPr>
          <a:xfrm>
            <a:off x="-82100" y="4612011"/>
            <a:ext cx="9900076" cy="5473015"/>
          </a:xfrm>
          <a:prstGeom prst="rect">
            <a:avLst/>
          </a:prstGeom>
          <a:noFill/>
          <a:ln>
            <a:noFill/>
          </a:ln>
        </p:spPr>
      </p:pic>
      <p:pic>
        <p:nvPicPr>
          <p:cNvPr id="200" name="Google Shape;200;p14"/>
          <p:cNvPicPr preferRelativeResize="0"/>
          <p:nvPr/>
        </p:nvPicPr>
        <p:blipFill>
          <a:blip r:embed="rId4">
            <a:alphaModFix/>
          </a:blip>
          <a:stretch>
            <a:fillRect/>
          </a:stretch>
        </p:blipFill>
        <p:spPr>
          <a:xfrm>
            <a:off x="1619577" y="1421806"/>
            <a:ext cx="15048825" cy="2983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4" name="Shape 204"/>
        <p:cNvGrpSpPr/>
        <p:nvPr/>
      </p:nvGrpSpPr>
      <p:grpSpPr>
        <a:xfrm>
          <a:off x="0" y="0"/>
          <a:ext cx="0" cy="0"/>
          <a:chOff x="0" y="0"/>
          <a:chExt cx="0" cy="0"/>
        </a:xfrm>
      </p:grpSpPr>
      <p:sp>
        <p:nvSpPr>
          <p:cNvPr id="205" name="Google Shape;205;p12"/>
          <p:cNvSpPr txBox="1"/>
          <p:nvPr>
            <p:ph type="title"/>
          </p:nvPr>
        </p:nvSpPr>
        <p:spPr>
          <a:xfrm>
            <a:off x="6565158" y="1041025"/>
            <a:ext cx="9084300" cy="6594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4200">
                <a:solidFill>
                  <a:srgbClr val="4D1334"/>
                </a:solidFill>
              </a:rPr>
              <a:t>SAVING THE BEST MODEL</a:t>
            </a:r>
            <a:endParaRPr sz="4200"/>
          </a:p>
        </p:txBody>
      </p:sp>
      <p:pic>
        <p:nvPicPr>
          <p:cNvPr id="206" name="Google Shape;206;p12"/>
          <p:cNvPicPr preferRelativeResize="0"/>
          <p:nvPr/>
        </p:nvPicPr>
        <p:blipFill rotWithShape="1">
          <a:blip r:embed="rId3">
            <a:alphaModFix/>
          </a:blip>
          <a:srcRect b="0" l="0" r="0" t="0"/>
          <a:stretch/>
        </p:blipFill>
        <p:spPr>
          <a:xfrm>
            <a:off x="19" y="-3"/>
            <a:ext cx="5678931" cy="10286998"/>
          </a:xfrm>
          <a:prstGeom prst="rect">
            <a:avLst/>
          </a:prstGeom>
          <a:noFill/>
          <a:ln>
            <a:noFill/>
          </a:ln>
        </p:spPr>
      </p:pic>
      <p:sp>
        <p:nvSpPr>
          <p:cNvPr id="207" name="Google Shape;207;p12"/>
          <p:cNvSpPr/>
          <p:nvPr/>
        </p:nvSpPr>
        <p:spPr>
          <a:xfrm>
            <a:off x="6674866" y="685800"/>
            <a:ext cx="10835640" cy="137160"/>
          </a:xfrm>
          <a:custGeom>
            <a:rect b="b" l="l" r="r" t="t"/>
            <a:pathLst>
              <a:path extrusionOk="0" h="137159" w="10835640">
                <a:moveTo>
                  <a:pt x="10835640" y="0"/>
                </a:moveTo>
                <a:lnTo>
                  <a:pt x="0" y="0"/>
                </a:lnTo>
                <a:lnTo>
                  <a:pt x="0" y="137159"/>
                </a:lnTo>
                <a:lnTo>
                  <a:pt x="10835640" y="137159"/>
                </a:lnTo>
                <a:lnTo>
                  <a:pt x="10835640" y="0"/>
                </a:lnTo>
                <a:close/>
              </a:path>
            </a:pathLst>
          </a:custGeom>
          <a:solidFill>
            <a:srgbClr val="903062"/>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08" name="Google Shape;208;p12"/>
          <p:cNvSpPr txBox="1"/>
          <p:nvPr/>
        </p:nvSpPr>
        <p:spPr>
          <a:xfrm>
            <a:off x="6505200" y="1924275"/>
            <a:ext cx="11278200" cy="7737900"/>
          </a:xfrm>
          <a:prstGeom prst="rect">
            <a:avLst/>
          </a:prstGeom>
          <a:noFill/>
          <a:ln>
            <a:noFill/>
          </a:ln>
        </p:spPr>
        <p:txBody>
          <a:bodyPr anchorCtr="0" anchor="t" bIns="0" lIns="0" spcFirstLastPara="1" rIns="0" wrap="square" tIns="127000">
            <a:spAutoFit/>
          </a:bodyPr>
          <a:lstStyle/>
          <a:p>
            <a:pPr indent="0" lvl="0" marL="0" rtl="0" algn="l">
              <a:lnSpc>
                <a:spcPct val="100000"/>
              </a:lnSpc>
              <a:spcBef>
                <a:spcPts val="0"/>
              </a:spcBef>
              <a:spcAft>
                <a:spcPts val="0"/>
              </a:spcAft>
              <a:buNone/>
            </a:pPr>
            <a:r>
              <a:rPr lang="en-US" sz="2500">
                <a:solidFill>
                  <a:srgbClr val="3C3C3C"/>
                </a:solidFill>
                <a:latin typeface="Tahoma"/>
                <a:ea typeface="Tahoma"/>
                <a:cs typeface="Tahoma"/>
                <a:sym typeface="Tahoma"/>
              </a:rPr>
              <a:t>The </a:t>
            </a:r>
            <a:r>
              <a:rPr b="1" lang="en-US" sz="2500">
                <a:solidFill>
                  <a:srgbClr val="3C3C3C"/>
                </a:solidFill>
                <a:latin typeface="Tahoma"/>
                <a:ea typeface="Tahoma"/>
                <a:cs typeface="Tahoma"/>
                <a:sym typeface="Tahoma"/>
              </a:rPr>
              <a:t>Deep Neural Network (DNN)</a:t>
            </a:r>
            <a:r>
              <a:rPr lang="en-US" sz="2500">
                <a:solidFill>
                  <a:srgbClr val="3C3C3C"/>
                </a:solidFill>
                <a:latin typeface="Tahoma"/>
                <a:ea typeface="Tahoma"/>
                <a:cs typeface="Tahoma"/>
                <a:sym typeface="Tahoma"/>
              </a:rPr>
              <a:t> achieved the </a:t>
            </a:r>
            <a:r>
              <a:rPr b="1" lang="en-US" sz="2500">
                <a:solidFill>
                  <a:srgbClr val="3C3C3C"/>
                </a:solidFill>
                <a:latin typeface="Tahoma"/>
                <a:ea typeface="Tahoma"/>
                <a:cs typeface="Tahoma"/>
                <a:sym typeface="Tahoma"/>
              </a:rPr>
              <a:t>highest performance</a:t>
            </a:r>
            <a:r>
              <a:rPr lang="en-US" sz="2500">
                <a:solidFill>
                  <a:srgbClr val="3C3C3C"/>
                </a:solidFill>
                <a:latin typeface="Tahoma"/>
                <a:ea typeface="Tahoma"/>
                <a:cs typeface="Tahoma"/>
                <a:sym typeface="Tahoma"/>
              </a:rPr>
              <a:t> (F1 = 0.709, AUC = 0.887).</a:t>
            </a:r>
            <a:endParaRPr sz="2500">
              <a:solidFill>
                <a:srgbClr val="3C3C3C"/>
              </a:solidFill>
              <a:latin typeface="Tahoma"/>
              <a:ea typeface="Tahoma"/>
              <a:cs typeface="Tahoma"/>
              <a:sym typeface="Tahoma"/>
            </a:endParaRPr>
          </a:p>
          <a:p>
            <a:pPr indent="0" lvl="0" marL="0" rtl="0" algn="l">
              <a:lnSpc>
                <a:spcPct val="100000"/>
              </a:lnSpc>
              <a:spcBef>
                <a:spcPts val="0"/>
              </a:spcBef>
              <a:spcAft>
                <a:spcPts val="0"/>
              </a:spcAft>
              <a:buNone/>
            </a:pPr>
            <a:r>
              <a:t/>
            </a:r>
            <a:endParaRPr sz="2500">
              <a:solidFill>
                <a:srgbClr val="3C3C3C"/>
              </a:solidFill>
              <a:latin typeface="Tahoma"/>
              <a:ea typeface="Tahoma"/>
              <a:cs typeface="Tahoma"/>
              <a:sym typeface="Tahoma"/>
            </a:endParaRPr>
          </a:p>
          <a:p>
            <a:pPr indent="0" lvl="0" marL="0" rtl="0" algn="l">
              <a:lnSpc>
                <a:spcPct val="100000"/>
              </a:lnSpc>
              <a:spcBef>
                <a:spcPts val="0"/>
              </a:spcBef>
              <a:spcAft>
                <a:spcPts val="0"/>
              </a:spcAft>
              <a:buNone/>
            </a:pPr>
            <a:r>
              <a:rPr lang="en-US" sz="2500">
                <a:solidFill>
                  <a:srgbClr val="3C3C3C"/>
                </a:solidFill>
                <a:latin typeface="Tahoma"/>
                <a:ea typeface="Tahoma"/>
                <a:cs typeface="Tahoma"/>
                <a:sym typeface="Tahoma"/>
              </a:rPr>
              <a:t>This model was selected as the</a:t>
            </a:r>
            <a:r>
              <a:rPr b="1" lang="en-US" sz="2500">
                <a:solidFill>
                  <a:srgbClr val="3C3C3C"/>
                </a:solidFill>
                <a:latin typeface="Tahoma"/>
                <a:ea typeface="Tahoma"/>
                <a:cs typeface="Tahoma"/>
                <a:sym typeface="Tahoma"/>
              </a:rPr>
              <a:t> final production model</a:t>
            </a:r>
            <a:r>
              <a:rPr lang="en-US" sz="2500">
                <a:solidFill>
                  <a:srgbClr val="3C3C3C"/>
                </a:solidFill>
                <a:latin typeface="Tahoma"/>
                <a:ea typeface="Tahoma"/>
                <a:cs typeface="Tahoma"/>
                <a:sym typeface="Tahoma"/>
              </a:rPr>
              <a:t> due to its superior balance between precision and recall.Deep Neural Network (DNN)</a:t>
            </a:r>
            <a:r>
              <a:rPr lang="en-US" sz="2500">
                <a:solidFill>
                  <a:srgbClr val="3C3C3C"/>
                </a:solidFill>
                <a:latin typeface="Tahoma"/>
                <a:ea typeface="Tahoma"/>
                <a:cs typeface="Tahoma"/>
                <a:sym typeface="Tahoma"/>
              </a:rPr>
              <a:t>:</a:t>
            </a:r>
            <a:endParaRPr sz="2500">
              <a:solidFill>
                <a:srgbClr val="3C3C3C"/>
              </a:solidFill>
              <a:latin typeface="Tahoma"/>
              <a:ea typeface="Tahoma"/>
              <a:cs typeface="Tahoma"/>
              <a:sym typeface="Tahoma"/>
            </a:endParaRPr>
          </a:p>
          <a:p>
            <a:pPr indent="0" lvl="0" marL="0" rtl="0" algn="l">
              <a:lnSpc>
                <a:spcPct val="100000"/>
              </a:lnSpc>
              <a:spcBef>
                <a:spcPts val="0"/>
              </a:spcBef>
              <a:spcAft>
                <a:spcPts val="0"/>
              </a:spcAft>
              <a:buNone/>
            </a:pPr>
            <a:r>
              <a:t/>
            </a:r>
            <a:endParaRPr b="1" sz="2500">
              <a:solidFill>
                <a:srgbClr val="3C3C3C"/>
              </a:solidFill>
              <a:latin typeface="Tahoma"/>
              <a:ea typeface="Tahoma"/>
              <a:cs typeface="Tahoma"/>
              <a:sym typeface="Tahoma"/>
            </a:endParaRPr>
          </a:p>
          <a:p>
            <a:pPr indent="-189230" lvl="1" marL="365125" rtl="0" algn="l">
              <a:lnSpc>
                <a:spcPct val="100000"/>
              </a:lnSpc>
              <a:spcBef>
                <a:spcPts val="900"/>
              </a:spcBef>
              <a:spcAft>
                <a:spcPts val="0"/>
              </a:spcAft>
              <a:buClr>
                <a:srgbClr val="3C3C3C"/>
              </a:buClr>
              <a:buSzPts val="2500"/>
              <a:buFont typeface="Tahoma"/>
              <a:buChar char="-"/>
            </a:pPr>
            <a:r>
              <a:rPr lang="en-US" sz="2500">
                <a:solidFill>
                  <a:srgbClr val="3C3C3C"/>
                </a:solidFill>
                <a:latin typeface="Tahoma"/>
                <a:ea typeface="Tahoma"/>
                <a:cs typeface="Tahoma"/>
                <a:sym typeface="Tahoma"/>
              </a:rPr>
              <a:t>Method: `joblib.dump(</a:t>
            </a:r>
            <a:r>
              <a:rPr lang="en-US" sz="2500">
                <a:solidFill>
                  <a:srgbClr val="3C3C3C"/>
                </a:solidFill>
                <a:latin typeface="Tahoma"/>
                <a:ea typeface="Tahoma"/>
                <a:cs typeface="Tahoma"/>
                <a:sym typeface="Tahoma"/>
              </a:rPr>
              <a:t>best_dnn_model</a:t>
            </a:r>
            <a:r>
              <a:rPr lang="en-US" sz="2500">
                <a:solidFill>
                  <a:srgbClr val="3C3C3C"/>
                </a:solidFill>
                <a:latin typeface="Tahoma"/>
                <a:ea typeface="Tahoma"/>
                <a:cs typeface="Tahoma"/>
                <a:sym typeface="Tahoma"/>
              </a:rPr>
              <a:t>, "</a:t>
            </a:r>
            <a:r>
              <a:rPr lang="en-US" sz="2500">
                <a:solidFill>
                  <a:srgbClr val="3C3C3C"/>
                </a:solidFill>
                <a:latin typeface="Tahoma"/>
                <a:ea typeface="Tahoma"/>
                <a:cs typeface="Tahoma"/>
                <a:sym typeface="Tahoma"/>
              </a:rPr>
              <a:t>best_dnn_model.pkl</a:t>
            </a:r>
            <a:r>
              <a:rPr lang="en-US" sz="2500">
                <a:solidFill>
                  <a:srgbClr val="3C3C3C"/>
                </a:solidFill>
                <a:latin typeface="Tahoma"/>
                <a:ea typeface="Tahoma"/>
                <a:cs typeface="Tahoma"/>
                <a:sym typeface="Tahoma"/>
              </a:rPr>
              <a:t>")`.</a:t>
            </a:r>
            <a:endParaRPr sz="2500">
              <a:latin typeface="Tahoma"/>
              <a:ea typeface="Tahoma"/>
              <a:cs typeface="Tahoma"/>
              <a:sym typeface="Tahoma"/>
            </a:endParaRPr>
          </a:p>
          <a:p>
            <a:pPr indent="-189230" lvl="1" marL="365125" rtl="0" algn="l">
              <a:lnSpc>
                <a:spcPct val="100000"/>
              </a:lnSpc>
              <a:spcBef>
                <a:spcPts val="900"/>
              </a:spcBef>
              <a:spcAft>
                <a:spcPts val="0"/>
              </a:spcAft>
              <a:buClr>
                <a:srgbClr val="3C3C3C"/>
              </a:buClr>
              <a:buSzPts val="2500"/>
              <a:buFont typeface="Tahoma"/>
              <a:buChar char="-"/>
            </a:pPr>
            <a:r>
              <a:rPr lang="en-US" sz="2500">
                <a:solidFill>
                  <a:srgbClr val="3C3C3C"/>
                </a:solidFill>
                <a:latin typeface="Tahoma"/>
                <a:ea typeface="Tahoma"/>
                <a:cs typeface="Tahoma"/>
                <a:sym typeface="Tahoma"/>
              </a:rPr>
              <a:t>File Format: Pickle (`.pkl`).</a:t>
            </a:r>
            <a:endParaRPr sz="2500">
              <a:latin typeface="Tahoma"/>
              <a:ea typeface="Tahoma"/>
              <a:cs typeface="Tahoma"/>
              <a:sym typeface="Tahoma"/>
            </a:endParaRPr>
          </a:p>
          <a:p>
            <a:pPr indent="-384175" lvl="1" marL="365125" marR="267970" rtl="0" algn="l">
              <a:lnSpc>
                <a:spcPct val="96000"/>
              </a:lnSpc>
              <a:spcBef>
                <a:spcPts val="1365"/>
              </a:spcBef>
              <a:spcAft>
                <a:spcPts val="0"/>
              </a:spcAft>
              <a:buClr>
                <a:srgbClr val="3C3C3C"/>
              </a:buClr>
              <a:buSzPts val="2500"/>
              <a:buFont typeface="Tahoma"/>
              <a:buChar char="-"/>
            </a:pPr>
            <a:r>
              <a:rPr lang="en-US" sz="2500">
                <a:solidFill>
                  <a:srgbClr val="3C3C3C"/>
                </a:solidFill>
                <a:latin typeface="Tahoma"/>
                <a:ea typeface="Tahoma"/>
                <a:cs typeface="Tahoma"/>
                <a:sym typeface="Tahoma"/>
              </a:rPr>
              <a:t>Library: `joblib` is lightweight and efficient for serializing Python objects, especially tree- based models.</a:t>
            </a:r>
            <a:endParaRPr sz="2500">
              <a:latin typeface="Tahoma"/>
              <a:ea typeface="Tahoma"/>
              <a:cs typeface="Tahoma"/>
              <a:sym typeface="Tahoma"/>
            </a:endParaRPr>
          </a:p>
          <a:p>
            <a:pPr indent="-189230" lvl="1" marL="365125" rtl="0" algn="l">
              <a:lnSpc>
                <a:spcPct val="100000"/>
              </a:lnSpc>
              <a:spcBef>
                <a:spcPts val="915"/>
              </a:spcBef>
              <a:spcAft>
                <a:spcPts val="0"/>
              </a:spcAft>
              <a:buClr>
                <a:srgbClr val="3C3C3C"/>
              </a:buClr>
              <a:buSzPts val="2500"/>
              <a:buFont typeface="Tahoma"/>
              <a:buChar char="-"/>
            </a:pPr>
            <a:r>
              <a:rPr lang="en-US" sz="2500">
                <a:solidFill>
                  <a:srgbClr val="3C3C3C"/>
                </a:solidFill>
                <a:latin typeface="Tahoma"/>
                <a:ea typeface="Tahoma"/>
                <a:cs typeface="Tahoma"/>
                <a:sym typeface="Tahoma"/>
              </a:rPr>
              <a:t>Reloading: Use `joblib.load(</a:t>
            </a:r>
            <a:r>
              <a:rPr lang="en-US" sz="2500">
                <a:solidFill>
                  <a:srgbClr val="3C3C3C"/>
                </a:solidFill>
                <a:latin typeface="Tahoma"/>
                <a:ea typeface="Tahoma"/>
                <a:cs typeface="Tahoma"/>
                <a:sym typeface="Tahoma"/>
              </a:rPr>
              <a:t>"best_dnn_model.pkl"</a:t>
            </a:r>
            <a:r>
              <a:rPr lang="en-US" sz="2500">
                <a:solidFill>
                  <a:srgbClr val="3C3C3C"/>
                </a:solidFill>
                <a:latin typeface="Tahoma"/>
                <a:ea typeface="Tahoma"/>
                <a:cs typeface="Tahoma"/>
                <a:sym typeface="Tahoma"/>
              </a:rPr>
              <a:t>)` to restore the model.</a:t>
            </a:r>
            <a:endParaRPr sz="2500">
              <a:solidFill>
                <a:srgbClr val="3C3C3C"/>
              </a:solidFill>
              <a:latin typeface="Tahoma"/>
              <a:ea typeface="Tahoma"/>
              <a:cs typeface="Tahoma"/>
              <a:sym typeface="Tahoma"/>
            </a:endParaRPr>
          </a:p>
          <a:p>
            <a:pPr indent="0" lvl="1" marL="0" rtl="0" algn="l">
              <a:lnSpc>
                <a:spcPct val="100000"/>
              </a:lnSpc>
              <a:spcBef>
                <a:spcPts val="1785"/>
              </a:spcBef>
              <a:spcAft>
                <a:spcPts val="0"/>
              </a:spcAft>
              <a:buNone/>
            </a:pPr>
            <a:r>
              <a:t/>
            </a:r>
            <a:endParaRPr sz="2500">
              <a:latin typeface="Tahoma"/>
              <a:ea typeface="Tahoma"/>
              <a:cs typeface="Tahoma"/>
              <a:sym typeface="Tahoma"/>
            </a:endParaRPr>
          </a:p>
          <a:p>
            <a:pPr indent="0" lvl="0" marL="0" rtl="0" algn="l">
              <a:lnSpc>
                <a:spcPct val="100000"/>
              </a:lnSpc>
              <a:spcBef>
                <a:spcPts val="0"/>
              </a:spcBef>
              <a:spcAft>
                <a:spcPts val="0"/>
              </a:spcAft>
              <a:buNone/>
            </a:pPr>
            <a:r>
              <a:rPr b="1" lang="en-US" sz="2500">
                <a:solidFill>
                  <a:srgbClr val="3C3C3C"/>
                </a:solidFill>
                <a:latin typeface="Tahoma"/>
                <a:ea typeface="Tahoma"/>
                <a:cs typeface="Tahoma"/>
                <a:sym typeface="Tahoma"/>
              </a:rPr>
              <a:t>Advantages of Model Serialization:</a:t>
            </a:r>
            <a:endParaRPr sz="2500">
              <a:latin typeface="Tahoma"/>
              <a:ea typeface="Tahoma"/>
              <a:cs typeface="Tahoma"/>
              <a:sym typeface="Tahoma"/>
            </a:endParaRPr>
          </a:p>
          <a:p>
            <a:pPr indent="-189230" lvl="1" marL="365125" rtl="0" algn="l">
              <a:lnSpc>
                <a:spcPct val="100000"/>
              </a:lnSpc>
              <a:spcBef>
                <a:spcPts val="900"/>
              </a:spcBef>
              <a:spcAft>
                <a:spcPts val="0"/>
              </a:spcAft>
              <a:buClr>
                <a:srgbClr val="3C3C3C"/>
              </a:buClr>
              <a:buSzPts val="2500"/>
              <a:buFont typeface="Tahoma"/>
              <a:buChar char="-"/>
            </a:pPr>
            <a:r>
              <a:rPr lang="en-US" sz="2500">
                <a:solidFill>
                  <a:srgbClr val="3C3C3C"/>
                </a:solidFill>
                <a:latin typeface="Tahoma"/>
                <a:ea typeface="Tahoma"/>
                <a:cs typeface="Tahoma"/>
                <a:sym typeface="Tahoma"/>
              </a:rPr>
              <a:t>Portability: Enables moving models across environments (e.g., development to production).</a:t>
            </a:r>
            <a:endParaRPr sz="2500">
              <a:latin typeface="Tahoma"/>
              <a:ea typeface="Tahoma"/>
              <a:cs typeface="Tahoma"/>
              <a:sym typeface="Tahoma"/>
            </a:endParaRPr>
          </a:p>
          <a:p>
            <a:pPr indent="-189230" lvl="1" marL="365125" rtl="0" algn="l">
              <a:lnSpc>
                <a:spcPct val="100000"/>
              </a:lnSpc>
              <a:spcBef>
                <a:spcPts val="900"/>
              </a:spcBef>
              <a:spcAft>
                <a:spcPts val="0"/>
              </a:spcAft>
              <a:buClr>
                <a:srgbClr val="3C3C3C"/>
              </a:buClr>
              <a:buSzPts val="2500"/>
              <a:buFont typeface="Tahoma"/>
              <a:buChar char="-"/>
            </a:pPr>
            <a:r>
              <a:rPr lang="en-US" sz="2500">
                <a:solidFill>
                  <a:srgbClr val="3C3C3C"/>
                </a:solidFill>
                <a:latin typeface="Tahoma"/>
                <a:ea typeface="Tahoma"/>
                <a:cs typeface="Tahoma"/>
                <a:sym typeface="Tahoma"/>
              </a:rPr>
              <a:t>Efficiency: Saves time by avoiding retraining.</a:t>
            </a:r>
            <a:endParaRPr sz="2500">
              <a:latin typeface="Tahoma"/>
              <a:ea typeface="Tahoma"/>
              <a:cs typeface="Tahoma"/>
              <a:sym typeface="Tahoma"/>
            </a:endParaRPr>
          </a:p>
          <a:p>
            <a:pPr indent="-189864" lvl="1" marL="365760" rtl="0" algn="l">
              <a:lnSpc>
                <a:spcPct val="100000"/>
              </a:lnSpc>
              <a:spcBef>
                <a:spcPts val="900"/>
              </a:spcBef>
              <a:spcAft>
                <a:spcPts val="0"/>
              </a:spcAft>
              <a:buClr>
                <a:srgbClr val="3C3C3C"/>
              </a:buClr>
              <a:buSzPts val="2500"/>
              <a:buFont typeface="Tahoma"/>
              <a:buChar char="-"/>
            </a:pPr>
            <a:r>
              <a:rPr lang="en-US" sz="2500">
                <a:solidFill>
                  <a:srgbClr val="3C3C3C"/>
                </a:solidFill>
                <a:latin typeface="Tahoma"/>
                <a:ea typeface="Tahoma"/>
                <a:cs typeface="Tahoma"/>
                <a:sym typeface="Tahoma"/>
              </a:rPr>
              <a:t>Scalability: Facilitates deployment in real-world applications.</a:t>
            </a:r>
            <a:endParaRPr sz="2500">
              <a:latin typeface="Tahoma"/>
              <a:ea typeface="Tahoma"/>
              <a:cs typeface="Tahoma"/>
              <a:sym typeface="Tahom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2" name="Shape 212"/>
        <p:cNvGrpSpPr/>
        <p:nvPr/>
      </p:nvGrpSpPr>
      <p:grpSpPr>
        <a:xfrm>
          <a:off x="0" y="0"/>
          <a:ext cx="0" cy="0"/>
          <a:chOff x="0" y="0"/>
          <a:chExt cx="0" cy="0"/>
        </a:xfrm>
      </p:grpSpPr>
      <p:sp>
        <p:nvSpPr>
          <p:cNvPr id="213" name="Google Shape;213;g39aceebf16f_0_50"/>
          <p:cNvSpPr txBox="1"/>
          <p:nvPr/>
        </p:nvSpPr>
        <p:spPr>
          <a:xfrm>
            <a:off x="1530350" y="4032246"/>
            <a:ext cx="3405000" cy="1580100"/>
          </a:xfrm>
          <a:prstGeom prst="rect">
            <a:avLst/>
          </a:prstGeom>
          <a:noFill/>
          <a:ln>
            <a:noFill/>
          </a:ln>
        </p:spPr>
        <p:txBody>
          <a:bodyPr anchorCtr="0" anchor="t" bIns="0" lIns="0" spcFirstLastPara="1" rIns="0" wrap="square" tIns="0">
            <a:spAutoFit/>
          </a:bodyPr>
          <a:lstStyle/>
          <a:p>
            <a:pPr indent="0" lvl="0" marL="123188" rtl="0" algn="l">
              <a:lnSpc>
                <a:spcPct val="113854"/>
              </a:lnSpc>
              <a:spcBef>
                <a:spcPts val="0"/>
              </a:spcBef>
              <a:spcAft>
                <a:spcPts val="0"/>
              </a:spcAft>
              <a:buNone/>
            </a:pPr>
            <a:r>
              <a:rPr b="1" lang="en-US" sz="4800">
                <a:solidFill>
                  <a:srgbClr val="FFFFFF"/>
                </a:solidFill>
                <a:latin typeface="Trebuchet MS"/>
                <a:ea typeface="Trebuchet MS"/>
                <a:cs typeface="Trebuchet MS"/>
                <a:sym typeface="Trebuchet MS"/>
              </a:rPr>
              <a:t>SOLUTIONS</a:t>
            </a:r>
            <a:endParaRPr sz="4800">
              <a:latin typeface="Trebuchet MS"/>
              <a:ea typeface="Trebuchet MS"/>
              <a:cs typeface="Trebuchet MS"/>
              <a:sym typeface="Trebuchet MS"/>
            </a:endParaRPr>
          </a:p>
          <a:p>
            <a:pPr indent="0" lvl="0" marL="0" rtl="0" algn="l">
              <a:lnSpc>
                <a:spcPct val="100000"/>
              </a:lnSpc>
              <a:spcBef>
                <a:spcPts val="0"/>
              </a:spcBef>
              <a:spcAft>
                <a:spcPts val="0"/>
              </a:spcAft>
              <a:buNone/>
            </a:pPr>
            <a:r>
              <a:rPr b="1" lang="en-US" sz="4800">
                <a:solidFill>
                  <a:srgbClr val="FFFFFF"/>
                </a:solidFill>
                <a:latin typeface="Trebuchet MS"/>
                <a:ea typeface="Trebuchet MS"/>
                <a:cs typeface="Trebuchet MS"/>
                <a:sym typeface="Trebuchet MS"/>
              </a:rPr>
              <a:t>ADOPTED</a:t>
            </a:r>
            <a:endParaRPr sz="4800">
              <a:latin typeface="Trebuchet MS"/>
              <a:ea typeface="Trebuchet MS"/>
              <a:cs typeface="Trebuchet MS"/>
              <a:sym typeface="Trebuchet MS"/>
            </a:endParaRPr>
          </a:p>
        </p:txBody>
      </p:sp>
      <p:sp>
        <p:nvSpPr>
          <p:cNvPr id="214" name="Google Shape;214;g39aceebf16f_0_50"/>
          <p:cNvSpPr txBox="1"/>
          <p:nvPr/>
        </p:nvSpPr>
        <p:spPr>
          <a:xfrm>
            <a:off x="7769975" y="722700"/>
            <a:ext cx="9903900" cy="7952100"/>
          </a:xfrm>
          <a:prstGeom prst="rect">
            <a:avLst/>
          </a:prstGeom>
          <a:noFill/>
          <a:ln>
            <a:noFill/>
          </a:ln>
        </p:spPr>
        <p:txBody>
          <a:bodyPr anchorCtr="0" anchor="t" bIns="0" lIns="0" spcFirstLastPara="1" rIns="0" wrap="square" tIns="88250">
            <a:spAutoFit/>
          </a:bodyPr>
          <a:lstStyle/>
          <a:p>
            <a:pPr indent="-431800" lvl="0" marL="457200" marR="71120" rtl="0" algn="l">
              <a:lnSpc>
                <a:spcPct val="80000"/>
              </a:lnSpc>
              <a:spcBef>
                <a:spcPts val="1425"/>
              </a:spcBef>
              <a:spcAft>
                <a:spcPts val="0"/>
              </a:spcAft>
              <a:buClr>
                <a:srgbClr val="903062"/>
              </a:buClr>
              <a:buSzPts val="3200"/>
              <a:buFont typeface="Noto Sans Symbols"/>
              <a:buChar char="∙"/>
            </a:pPr>
            <a:r>
              <a:rPr b="1" lang="en-US" sz="3300">
                <a:solidFill>
                  <a:schemeClr val="dk1"/>
                </a:solidFill>
              </a:rPr>
              <a:t>Imbalanced Dataset:</a:t>
            </a:r>
            <a:br>
              <a:rPr b="1" lang="en-US" sz="3300">
                <a:solidFill>
                  <a:schemeClr val="dk1"/>
                </a:solidFill>
              </a:rPr>
            </a:br>
            <a:r>
              <a:rPr lang="en-US" sz="3300">
                <a:solidFill>
                  <a:schemeClr val="dk1"/>
                </a:solidFill>
              </a:rPr>
              <a:t> The “died” class had far fewer observations compared to the “survived” class, leading models to favor the majority class.</a:t>
            </a:r>
            <a:br>
              <a:rPr lang="en-US" sz="3300">
                <a:solidFill>
                  <a:schemeClr val="dk1"/>
                </a:solidFill>
              </a:rPr>
            </a:br>
            <a:endParaRPr sz="3300">
              <a:solidFill>
                <a:schemeClr val="dk1"/>
              </a:solidFill>
            </a:endParaRPr>
          </a:p>
          <a:p>
            <a:pPr indent="-431800" lvl="0" marL="457200" marR="71120" rtl="0" algn="l">
              <a:lnSpc>
                <a:spcPct val="80000"/>
              </a:lnSpc>
              <a:spcBef>
                <a:spcPts val="1425"/>
              </a:spcBef>
              <a:spcAft>
                <a:spcPts val="0"/>
              </a:spcAft>
              <a:buClr>
                <a:srgbClr val="903062"/>
              </a:buClr>
              <a:buSzPts val="3200"/>
              <a:buFont typeface="Noto Sans Symbols"/>
              <a:buChar char="∙"/>
            </a:pPr>
            <a:r>
              <a:rPr b="1" lang="en-US" sz="3300">
                <a:solidFill>
                  <a:schemeClr val="dk1"/>
                </a:solidFill>
              </a:rPr>
              <a:t>Data Quality Issues:</a:t>
            </a:r>
            <a:br>
              <a:rPr b="1" lang="en-US" sz="3300">
                <a:solidFill>
                  <a:schemeClr val="dk1"/>
                </a:solidFill>
              </a:rPr>
            </a:br>
            <a:r>
              <a:rPr lang="en-US" sz="3300">
                <a:solidFill>
                  <a:schemeClr val="dk1"/>
                </a:solidFill>
              </a:rPr>
              <a:t> Missing, noisy, or inconsistent patient records (e.g., missing lab values, categorical inconsistencies) can reduce predictive accuracy.</a:t>
            </a:r>
            <a:br>
              <a:rPr lang="en-US" sz="3300">
                <a:solidFill>
                  <a:schemeClr val="dk1"/>
                </a:solidFill>
              </a:rPr>
            </a:br>
            <a:endParaRPr sz="3300">
              <a:solidFill>
                <a:schemeClr val="dk1"/>
              </a:solidFill>
            </a:endParaRPr>
          </a:p>
          <a:p>
            <a:pPr indent="-431800" lvl="0" marL="457200" marR="71120" rtl="0" algn="l">
              <a:lnSpc>
                <a:spcPct val="80000"/>
              </a:lnSpc>
              <a:spcBef>
                <a:spcPts val="1425"/>
              </a:spcBef>
              <a:spcAft>
                <a:spcPts val="0"/>
              </a:spcAft>
              <a:buClr>
                <a:srgbClr val="903062"/>
              </a:buClr>
              <a:buSzPts val="3200"/>
              <a:buFont typeface="Noto Sans Symbols"/>
              <a:buChar char="∙"/>
            </a:pPr>
            <a:r>
              <a:rPr b="1" lang="en-US" sz="3300">
                <a:solidFill>
                  <a:schemeClr val="dk1"/>
                </a:solidFill>
              </a:rPr>
              <a:t>Feature Redundancy or Irrelevance:</a:t>
            </a:r>
            <a:br>
              <a:rPr b="1" lang="en-US" sz="3300">
                <a:solidFill>
                  <a:schemeClr val="dk1"/>
                </a:solidFill>
              </a:rPr>
            </a:br>
            <a:r>
              <a:rPr lang="en-US" sz="3300">
                <a:solidFill>
                  <a:schemeClr val="dk1"/>
                </a:solidFill>
              </a:rPr>
              <a:t> Some features might not contribute meaningfully to predicting mortality, creating noise in training.</a:t>
            </a:r>
            <a:br>
              <a:rPr lang="en-US" sz="3300">
                <a:solidFill>
                  <a:schemeClr val="dk1"/>
                </a:solidFill>
              </a:rPr>
            </a:br>
            <a:endParaRPr sz="3300">
              <a:solidFill>
                <a:schemeClr val="dk1"/>
              </a:solidFill>
            </a:endParaRPr>
          </a:p>
          <a:p>
            <a:pPr indent="-431800" lvl="0" marL="457200" marR="71120" rtl="0" algn="l">
              <a:lnSpc>
                <a:spcPct val="80000"/>
              </a:lnSpc>
              <a:spcBef>
                <a:spcPts val="1425"/>
              </a:spcBef>
              <a:spcAft>
                <a:spcPts val="0"/>
              </a:spcAft>
              <a:buClr>
                <a:srgbClr val="903062"/>
              </a:buClr>
              <a:buSzPts val="3200"/>
              <a:buFont typeface="Noto Sans Symbols"/>
              <a:buChar char="∙"/>
            </a:pPr>
            <a:r>
              <a:rPr b="1" lang="en-US" sz="3300">
                <a:solidFill>
                  <a:schemeClr val="dk1"/>
                </a:solidFill>
              </a:rPr>
              <a:t>Small Dataset Size:</a:t>
            </a:r>
            <a:br>
              <a:rPr b="1" lang="en-US" sz="3300">
                <a:solidFill>
                  <a:schemeClr val="dk1"/>
                </a:solidFill>
              </a:rPr>
            </a:br>
            <a:r>
              <a:rPr lang="en-US" sz="3300">
                <a:solidFill>
                  <a:schemeClr val="dk1"/>
                </a:solidFill>
              </a:rPr>
              <a:t> Deep Neural Networks typically need large datasets to generalize well; limited data can lead to overfitting.</a:t>
            </a:r>
            <a:endParaRPr b="1" sz="4700">
              <a:solidFill>
                <a:srgbClr val="3C3C3C"/>
              </a:solidFill>
              <a:latin typeface="Trebuchet MS"/>
              <a:ea typeface="Trebuchet MS"/>
              <a:cs typeface="Trebuchet MS"/>
              <a:sym typeface="Trebuchet MS"/>
            </a:endParaRPr>
          </a:p>
        </p:txBody>
      </p:sp>
      <p:grpSp>
        <p:nvGrpSpPr>
          <p:cNvPr id="215" name="Google Shape;215;g39aceebf16f_0_50"/>
          <p:cNvGrpSpPr/>
          <p:nvPr/>
        </p:nvGrpSpPr>
        <p:grpSpPr>
          <a:xfrm>
            <a:off x="0" y="0"/>
            <a:ext cx="7539990" cy="10248900"/>
            <a:chOff x="0" y="0"/>
            <a:chExt cx="7539990" cy="10248900"/>
          </a:xfrm>
        </p:grpSpPr>
        <p:sp>
          <p:nvSpPr>
            <p:cNvPr id="216" name="Google Shape;216;g39aceebf16f_0_50"/>
            <p:cNvSpPr/>
            <p:nvPr/>
          </p:nvSpPr>
          <p:spPr>
            <a:xfrm>
              <a:off x="0" y="0"/>
              <a:ext cx="7539990" cy="10248900"/>
            </a:xfrm>
            <a:custGeom>
              <a:rect b="b" l="l" r="r" t="t"/>
              <a:pathLst>
                <a:path extrusionOk="0" h="10248900" w="7539990">
                  <a:moveTo>
                    <a:pt x="0" y="10248856"/>
                  </a:moveTo>
                  <a:lnTo>
                    <a:pt x="7539752" y="10248856"/>
                  </a:lnTo>
                  <a:lnTo>
                    <a:pt x="7539752" y="0"/>
                  </a:lnTo>
                  <a:lnTo>
                    <a:pt x="0" y="0"/>
                  </a:lnTo>
                  <a:lnTo>
                    <a:pt x="0" y="10248856"/>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17" name="Google Shape;217;g39aceebf16f_0_50"/>
            <p:cNvSpPr/>
            <p:nvPr/>
          </p:nvSpPr>
          <p:spPr>
            <a:xfrm>
              <a:off x="0" y="0"/>
              <a:ext cx="7539990" cy="10248900"/>
            </a:xfrm>
            <a:custGeom>
              <a:rect b="b" l="l" r="r" t="t"/>
              <a:pathLst>
                <a:path extrusionOk="0" h="10248900" w="7539990">
                  <a:moveTo>
                    <a:pt x="0" y="10248856"/>
                  </a:moveTo>
                  <a:lnTo>
                    <a:pt x="7539752" y="10248856"/>
                  </a:lnTo>
                  <a:lnTo>
                    <a:pt x="7539752" y="0"/>
                  </a:lnTo>
                </a:path>
              </a:pathLst>
            </a:custGeom>
            <a:noFill/>
            <a:ln cap="flat" cmpd="sng" w="22225">
              <a:solidFill>
                <a:srgbClr val="1B03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18" name="Google Shape;218;g39aceebf16f_0_50"/>
          <p:cNvSpPr txBox="1"/>
          <p:nvPr/>
        </p:nvSpPr>
        <p:spPr>
          <a:xfrm>
            <a:off x="873132" y="3525838"/>
            <a:ext cx="5561400" cy="1250100"/>
          </a:xfrm>
          <a:prstGeom prst="rect">
            <a:avLst/>
          </a:prstGeom>
          <a:noFill/>
          <a:ln>
            <a:noFill/>
          </a:ln>
        </p:spPr>
        <p:txBody>
          <a:bodyPr anchorCtr="0" anchor="t" bIns="0" lIns="0" spcFirstLastPara="1" rIns="0" wrap="square" tIns="3175">
            <a:spAutoFit/>
          </a:bodyPr>
          <a:lstStyle/>
          <a:p>
            <a:pPr indent="0" lvl="0" marL="12700" marR="5080" rtl="0" algn="l">
              <a:lnSpc>
                <a:spcPct val="100800"/>
              </a:lnSpc>
              <a:spcBef>
                <a:spcPts val="0"/>
              </a:spcBef>
              <a:spcAft>
                <a:spcPts val="0"/>
              </a:spcAft>
              <a:buNone/>
            </a:pPr>
            <a:r>
              <a:rPr b="1" lang="en-US" sz="8100">
                <a:solidFill>
                  <a:srgbClr val="FFFFFF"/>
                </a:solidFill>
                <a:latin typeface="Trebuchet MS"/>
                <a:ea typeface="Trebuchet MS"/>
                <a:cs typeface="Trebuchet MS"/>
                <a:sym typeface="Trebuchet MS"/>
              </a:rPr>
              <a:t>Challenges</a:t>
            </a:r>
            <a:endParaRPr sz="8100">
              <a:latin typeface="Trebuchet MS"/>
              <a:ea typeface="Trebuchet MS"/>
              <a:cs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2" name="Shape 222"/>
        <p:cNvGrpSpPr/>
        <p:nvPr/>
      </p:nvGrpSpPr>
      <p:grpSpPr>
        <a:xfrm>
          <a:off x="0" y="0"/>
          <a:ext cx="0" cy="0"/>
          <a:chOff x="0" y="0"/>
          <a:chExt cx="0" cy="0"/>
        </a:xfrm>
      </p:grpSpPr>
      <p:sp>
        <p:nvSpPr>
          <p:cNvPr id="223" name="Google Shape;223;p15"/>
          <p:cNvSpPr txBox="1"/>
          <p:nvPr/>
        </p:nvSpPr>
        <p:spPr>
          <a:xfrm>
            <a:off x="1530350" y="4032246"/>
            <a:ext cx="3404870" cy="1476375"/>
          </a:xfrm>
          <a:prstGeom prst="rect">
            <a:avLst/>
          </a:prstGeom>
          <a:noFill/>
          <a:ln>
            <a:noFill/>
          </a:ln>
        </p:spPr>
        <p:txBody>
          <a:bodyPr anchorCtr="0" anchor="t" bIns="0" lIns="0" spcFirstLastPara="1" rIns="0" wrap="square" tIns="0">
            <a:spAutoFit/>
          </a:bodyPr>
          <a:lstStyle/>
          <a:p>
            <a:pPr indent="0" lvl="0" marL="123189" rtl="0" algn="l">
              <a:lnSpc>
                <a:spcPct val="113854"/>
              </a:lnSpc>
              <a:spcBef>
                <a:spcPts val="0"/>
              </a:spcBef>
              <a:spcAft>
                <a:spcPts val="0"/>
              </a:spcAft>
              <a:buNone/>
            </a:pPr>
            <a:r>
              <a:rPr b="1" lang="en-US" sz="4800">
                <a:solidFill>
                  <a:srgbClr val="FFFFFF"/>
                </a:solidFill>
                <a:latin typeface="Trebuchet MS"/>
                <a:ea typeface="Trebuchet MS"/>
                <a:cs typeface="Trebuchet MS"/>
                <a:sym typeface="Trebuchet MS"/>
              </a:rPr>
              <a:t>SOLUTIONS</a:t>
            </a:r>
            <a:endParaRPr sz="4800">
              <a:latin typeface="Trebuchet MS"/>
              <a:ea typeface="Trebuchet MS"/>
              <a:cs typeface="Trebuchet MS"/>
              <a:sym typeface="Trebuchet MS"/>
            </a:endParaRPr>
          </a:p>
          <a:p>
            <a:pPr indent="0" lvl="0" marL="0" rtl="0" algn="l">
              <a:lnSpc>
                <a:spcPct val="100000"/>
              </a:lnSpc>
              <a:spcBef>
                <a:spcPts val="0"/>
              </a:spcBef>
              <a:spcAft>
                <a:spcPts val="0"/>
              </a:spcAft>
              <a:buNone/>
            </a:pPr>
            <a:r>
              <a:rPr b="1" lang="en-US" sz="4800">
                <a:solidFill>
                  <a:srgbClr val="FFFFFF"/>
                </a:solidFill>
                <a:latin typeface="Trebuchet MS"/>
                <a:ea typeface="Trebuchet MS"/>
                <a:cs typeface="Trebuchet MS"/>
                <a:sym typeface="Trebuchet MS"/>
              </a:rPr>
              <a:t>ADOPTED</a:t>
            </a:r>
            <a:endParaRPr sz="4800">
              <a:latin typeface="Trebuchet MS"/>
              <a:ea typeface="Trebuchet MS"/>
              <a:cs typeface="Trebuchet MS"/>
              <a:sym typeface="Trebuchet MS"/>
            </a:endParaRPr>
          </a:p>
        </p:txBody>
      </p:sp>
      <p:sp>
        <p:nvSpPr>
          <p:cNvPr id="224" name="Google Shape;224;p15"/>
          <p:cNvSpPr txBox="1"/>
          <p:nvPr/>
        </p:nvSpPr>
        <p:spPr>
          <a:xfrm>
            <a:off x="8405751" y="865226"/>
            <a:ext cx="8638800" cy="1061700"/>
          </a:xfrm>
          <a:prstGeom prst="rect">
            <a:avLst/>
          </a:prstGeom>
          <a:noFill/>
          <a:ln>
            <a:noFill/>
          </a:ln>
        </p:spPr>
        <p:txBody>
          <a:bodyPr anchorCtr="0" anchor="t" bIns="0" lIns="0" spcFirstLastPara="1" rIns="0" wrap="square" tIns="85725">
            <a:spAutoFit/>
          </a:bodyPr>
          <a:lstStyle/>
          <a:p>
            <a:pPr indent="0" lvl="0" marL="12700" marR="5080" rtl="0" algn="l">
              <a:lnSpc>
                <a:spcPct val="96000"/>
              </a:lnSpc>
              <a:spcBef>
                <a:spcPts val="0"/>
              </a:spcBef>
              <a:spcAft>
                <a:spcPts val="0"/>
              </a:spcAft>
              <a:buNone/>
            </a:pPr>
            <a:r>
              <a:rPr lang="en-US" sz="3300">
                <a:solidFill>
                  <a:srgbClr val="3C3C3C"/>
                </a:solidFill>
                <a:latin typeface="Trebuchet MS"/>
                <a:ea typeface="Trebuchet MS"/>
                <a:cs typeface="Trebuchet MS"/>
                <a:sym typeface="Trebuchet MS"/>
              </a:rPr>
              <a:t>To overcome the challenges, several strategies were implemented:</a:t>
            </a:r>
            <a:endParaRPr sz="3300">
              <a:latin typeface="Trebuchet MS"/>
              <a:ea typeface="Trebuchet MS"/>
              <a:cs typeface="Trebuchet MS"/>
              <a:sym typeface="Trebuchet MS"/>
            </a:endParaRPr>
          </a:p>
        </p:txBody>
      </p:sp>
      <p:sp>
        <p:nvSpPr>
          <p:cNvPr id="225" name="Google Shape;225;p15"/>
          <p:cNvSpPr txBox="1"/>
          <p:nvPr/>
        </p:nvSpPr>
        <p:spPr>
          <a:xfrm>
            <a:off x="7961475" y="2172675"/>
            <a:ext cx="9685200" cy="7508700"/>
          </a:xfrm>
          <a:prstGeom prst="rect">
            <a:avLst/>
          </a:prstGeom>
          <a:noFill/>
          <a:ln>
            <a:noFill/>
          </a:ln>
        </p:spPr>
        <p:txBody>
          <a:bodyPr anchorCtr="0" anchor="t" bIns="0" lIns="0" spcFirstLastPara="1" rIns="0" wrap="square" tIns="88250">
            <a:spAutoFit/>
          </a:bodyPr>
          <a:lstStyle/>
          <a:p>
            <a:pPr indent="-419100" lvl="0" marL="457200" marR="71120" rtl="0" algn="l">
              <a:lnSpc>
                <a:spcPct val="80000"/>
              </a:lnSpc>
              <a:spcBef>
                <a:spcPts val="1425"/>
              </a:spcBef>
              <a:spcAft>
                <a:spcPts val="0"/>
              </a:spcAft>
              <a:buClr>
                <a:srgbClr val="903062"/>
              </a:buClr>
              <a:buSzPts val="3000"/>
              <a:buFont typeface="Noto Sans Symbols"/>
              <a:buChar char="∙"/>
            </a:pPr>
            <a:r>
              <a:rPr b="1" lang="en-US" sz="3100">
                <a:solidFill>
                  <a:schemeClr val="dk1"/>
                </a:solidFill>
              </a:rPr>
              <a:t>Balancing Techniques:</a:t>
            </a:r>
            <a:br>
              <a:rPr b="1" lang="en-US" sz="3100">
                <a:solidFill>
                  <a:schemeClr val="dk1"/>
                </a:solidFill>
              </a:rPr>
            </a:br>
            <a:r>
              <a:rPr lang="en-US" sz="3100">
                <a:solidFill>
                  <a:schemeClr val="dk1"/>
                </a:solidFill>
              </a:rPr>
              <a:t> Used </a:t>
            </a:r>
            <a:r>
              <a:rPr b="1" lang="en-US" sz="3100">
                <a:solidFill>
                  <a:schemeClr val="dk1"/>
                </a:solidFill>
              </a:rPr>
              <a:t>SMOTE (Synthetic Minority Oversampling Technique)</a:t>
            </a:r>
            <a:r>
              <a:rPr lang="en-US" sz="3100">
                <a:solidFill>
                  <a:schemeClr val="dk1"/>
                </a:solidFill>
              </a:rPr>
              <a:t> to generate synthetic examples of minority cases and improve minority-class recall.</a:t>
            </a:r>
            <a:br>
              <a:rPr lang="en-US" sz="3100">
                <a:solidFill>
                  <a:schemeClr val="dk1"/>
                </a:solidFill>
              </a:rPr>
            </a:br>
            <a:endParaRPr sz="3100">
              <a:solidFill>
                <a:schemeClr val="dk1"/>
              </a:solidFill>
            </a:endParaRPr>
          </a:p>
          <a:p>
            <a:pPr indent="-419100" lvl="0" marL="457200" marR="71120" rtl="0" algn="l">
              <a:lnSpc>
                <a:spcPct val="80000"/>
              </a:lnSpc>
              <a:spcBef>
                <a:spcPts val="1425"/>
              </a:spcBef>
              <a:spcAft>
                <a:spcPts val="0"/>
              </a:spcAft>
              <a:buClr>
                <a:srgbClr val="903062"/>
              </a:buClr>
              <a:buSzPts val="3000"/>
              <a:buFont typeface="Noto Sans Symbols"/>
              <a:buChar char="∙"/>
            </a:pPr>
            <a:r>
              <a:rPr b="1" lang="en-US" sz="3100">
                <a:solidFill>
                  <a:schemeClr val="dk1"/>
                </a:solidFill>
              </a:rPr>
              <a:t>Data Cleaning &amp; Imputation:</a:t>
            </a:r>
            <a:br>
              <a:rPr b="1" lang="en-US" sz="3100">
                <a:solidFill>
                  <a:schemeClr val="dk1"/>
                </a:solidFill>
              </a:rPr>
            </a:br>
            <a:r>
              <a:rPr lang="en-US" sz="3100">
                <a:solidFill>
                  <a:schemeClr val="dk1"/>
                </a:solidFill>
              </a:rPr>
              <a:t> Applied preprocessing steps to handle missing values, remove duplicates, and standardize features.</a:t>
            </a:r>
            <a:br>
              <a:rPr lang="en-US" sz="3100">
                <a:solidFill>
                  <a:schemeClr val="dk1"/>
                </a:solidFill>
              </a:rPr>
            </a:br>
            <a:endParaRPr sz="3100">
              <a:solidFill>
                <a:schemeClr val="dk1"/>
              </a:solidFill>
            </a:endParaRPr>
          </a:p>
          <a:p>
            <a:pPr indent="-419100" lvl="0" marL="457200" marR="71120" rtl="0" algn="l">
              <a:lnSpc>
                <a:spcPct val="80000"/>
              </a:lnSpc>
              <a:spcBef>
                <a:spcPts val="1425"/>
              </a:spcBef>
              <a:spcAft>
                <a:spcPts val="0"/>
              </a:spcAft>
              <a:buClr>
                <a:srgbClr val="903062"/>
              </a:buClr>
              <a:buSzPts val="3000"/>
              <a:buFont typeface="Noto Sans Symbols"/>
              <a:buChar char="∙"/>
            </a:pPr>
            <a:r>
              <a:rPr b="1" lang="en-US" sz="3100">
                <a:solidFill>
                  <a:schemeClr val="dk1"/>
                </a:solidFill>
              </a:rPr>
              <a:t>Feature Selection/Engineering:</a:t>
            </a:r>
            <a:br>
              <a:rPr b="1" lang="en-US" sz="3100">
                <a:solidFill>
                  <a:schemeClr val="dk1"/>
                </a:solidFill>
              </a:rPr>
            </a:br>
            <a:r>
              <a:rPr lang="en-US" sz="3100">
                <a:solidFill>
                  <a:schemeClr val="dk1"/>
                </a:solidFill>
              </a:rPr>
              <a:t> Used correlation checks, domain knowledge, and feature importance analysis to select the most relevant variables.</a:t>
            </a:r>
            <a:br>
              <a:rPr lang="en-US" sz="3100">
                <a:solidFill>
                  <a:schemeClr val="dk1"/>
                </a:solidFill>
              </a:rPr>
            </a:br>
            <a:endParaRPr sz="3100">
              <a:solidFill>
                <a:schemeClr val="dk1"/>
              </a:solidFill>
            </a:endParaRPr>
          </a:p>
          <a:p>
            <a:pPr indent="-419100" lvl="0" marL="457200" marR="71120" rtl="0" algn="l">
              <a:lnSpc>
                <a:spcPct val="80000"/>
              </a:lnSpc>
              <a:spcBef>
                <a:spcPts val="1425"/>
              </a:spcBef>
              <a:spcAft>
                <a:spcPts val="0"/>
              </a:spcAft>
              <a:buClr>
                <a:srgbClr val="903062"/>
              </a:buClr>
              <a:buSzPts val="3000"/>
              <a:buFont typeface="Noto Sans Symbols"/>
              <a:buChar char="∙"/>
            </a:pPr>
            <a:r>
              <a:rPr b="1" lang="en-US" sz="3100">
                <a:solidFill>
                  <a:schemeClr val="dk1"/>
                </a:solidFill>
              </a:rPr>
              <a:t>Regularization &amp; Dropout:</a:t>
            </a:r>
            <a:br>
              <a:rPr b="1" lang="en-US" sz="3100">
                <a:solidFill>
                  <a:schemeClr val="dk1"/>
                </a:solidFill>
              </a:rPr>
            </a:br>
            <a:r>
              <a:rPr lang="en-US" sz="3100">
                <a:solidFill>
                  <a:schemeClr val="dk1"/>
                </a:solidFill>
              </a:rPr>
              <a:t> Added dropout layers and L2 regularization in the DNN to mitigate overfitting due to limited samples.</a:t>
            </a:r>
            <a:endParaRPr b="1" sz="4500">
              <a:solidFill>
                <a:srgbClr val="3C3C3C"/>
              </a:solidFill>
              <a:latin typeface="Trebuchet MS"/>
              <a:ea typeface="Trebuchet MS"/>
              <a:cs typeface="Trebuchet MS"/>
              <a:sym typeface="Trebuchet MS"/>
            </a:endParaRPr>
          </a:p>
        </p:txBody>
      </p:sp>
      <p:grpSp>
        <p:nvGrpSpPr>
          <p:cNvPr id="226" name="Google Shape;226;p15"/>
          <p:cNvGrpSpPr/>
          <p:nvPr/>
        </p:nvGrpSpPr>
        <p:grpSpPr>
          <a:xfrm>
            <a:off x="0" y="0"/>
            <a:ext cx="7539990" cy="10248900"/>
            <a:chOff x="0" y="0"/>
            <a:chExt cx="7539990" cy="10248900"/>
          </a:xfrm>
        </p:grpSpPr>
        <p:sp>
          <p:nvSpPr>
            <p:cNvPr id="227" name="Google Shape;227;p15"/>
            <p:cNvSpPr/>
            <p:nvPr/>
          </p:nvSpPr>
          <p:spPr>
            <a:xfrm>
              <a:off x="0" y="0"/>
              <a:ext cx="7539990" cy="10248900"/>
            </a:xfrm>
            <a:custGeom>
              <a:rect b="b" l="l" r="r" t="t"/>
              <a:pathLst>
                <a:path extrusionOk="0" h="10248900" w="7539990">
                  <a:moveTo>
                    <a:pt x="0" y="10248856"/>
                  </a:moveTo>
                  <a:lnTo>
                    <a:pt x="7539752" y="10248856"/>
                  </a:lnTo>
                  <a:lnTo>
                    <a:pt x="7539752" y="0"/>
                  </a:lnTo>
                  <a:lnTo>
                    <a:pt x="0" y="0"/>
                  </a:lnTo>
                  <a:lnTo>
                    <a:pt x="0" y="10248856"/>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28" name="Google Shape;228;p15"/>
            <p:cNvSpPr/>
            <p:nvPr/>
          </p:nvSpPr>
          <p:spPr>
            <a:xfrm>
              <a:off x="0" y="0"/>
              <a:ext cx="7539990" cy="10248900"/>
            </a:xfrm>
            <a:custGeom>
              <a:rect b="b" l="l" r="r" t="t"/>
              <a:pathLst>
                <a:path extrusionOk="0" h="10248900" w="7539990">
                  <a:moveTo>
                    <a:pt x="0" y="10248856"/>
                  </a:moveTo>
                  <a:lnTo>
                    <a:pt x="7539752" y="10248856"/>
                  </a:lnTo>
                  <a:lnTo>
                    <a:pt x="7539752" y="0"/>
                  </a:lnTo>
                </a:path>
              </a:pathLst>
            </a:custGeom>
            <a:noFill/>
            <a:ln cap="flat" cmpd="sng" w="22225">
              <a:solidFill>
                <a:srgbClr val="1B03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29" name="Google Shape;229;p15"/>
          <p:cNvSpPr txBox="1"/>
          <p:nvPr/>
        </p:nvSpPr>
        <p:spPr>
          <a:xfrm>
            <a:off x="325932" y="3471113"/>
            <a:ext cx="5561400" cy="2504400"/>
          </a:xfrm>
          <a:prstGeom prst="rect">
            <a:avLst/>
          </a:prstGeom>
          <a:noFill/>
          <a:ln>
            <a:noFill/>
          </a:ln>
        </p:spPr>
        <p:txBody>
          <a:bodyPr anchorCtr="0" anchor="t" bIns="0" lIns="0" spcFirstLastPara="1" rIns="0" wrap="square" tIns="3175">
            <a:spAutoFit/>
          </a:bodyPr>
          <a:lstStyle/>
          <a:p>
            <a:pPr indent="0" lvl="0" marL="12700" marR="5080" rtl="0" algn="l">
              <a:lnSpc>
                <a:spcPct val="100800"/>
              </a:lnSpc>
              <a:spcBef>
                <a:spcPts val="0"/>
              </a:spcBef>
              <a:spcAft>
                <a:spcPts val="0"/>
              </a:spcAft>
              <a:buNone/>
            </a:pPr>
            <a:r>
              <a:rPr b="1" lang="en-US" sz="8100">
                <a:solidFill>
                  <a:srgbClr val="FFFFFF"/>
                </a:solidFill>
                <a:latin typeface="Trebuchet MS"/>
                <a:ea typeface="Trebuchet MS"/>
                <a:cs typeface="Trebuchet MS"/>
                <a:sym typeface="Trebuchet MS"/>
              </a:rPr>
              <a:t>SOLUTIONS ADAPTED</a:t>
            </a:r>
            <a:endParaRPr sz="8100">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3" name="Shape 233"/>
        <p:cNvGrpSpPr/>
        <p:nvPr/>
      </p:nvGrpSpPr>
      <p:grpSpPr>
        <a:xfrm>
          <a:off x="0" y="0"/>
          <a:ext cx="0" cy="0"/>
          <a:chOff x="0" y="0"/>
          <a:chExt cx="0" cy="0"/>
        </a:xfrm>
      </p:grpSpPr>
      <p:sp>
        <p:nvSpPr>
          <p:cNvPr id="234" name="Google Shape;234;g39aceebf16f_0_62"/>
          <p:cNvSpPr txBox="1"/>
          <p:nvPr/>
        </p:nvSpPr>
        <p:spPr>
          <a:xfrm>
            <a:off x="1530350" y="4032246"/>
            <a:ext cx="3405000" cy="1580100"/>
          </a:xfrm>
          <a:prstGeom prst="rect">
            <a:avLst/>
          </a:prstGeom>
          <a:noFill/>
          <a:ln>
            <a:noFill/>
          </a:ln>
        </p:spPr>
        <p:txBody>
          <a:bodyPr anchorCtr="0" anchor="t" bIns="0" lIns="0" spcFirstLastPara="1" rIns="0" wrap="square" tIns="0">
            <a:spAutoFit/>
          </a:bodyPr>
          <a:lstStyle/>
          <a:p>
            <a:pPr indent="0" lvl="0" marL="123188" rtl="0" algn="l">
              <a:lnSpc>
                <a:spcPct val="113854"/>
              </a:lnSpc>
              <a:spcBef>
                <a:spcPts val="0"/>
              </a:spcBef>
              <a:spcAft>
                <a:spcPts val="0"/>
              </a:spcAft>
              <a:buNone/>
            </a:pPr>
            <a:r>
              <a:rPr b="1" lang="en-US" sz="4800">
                <a:solidFill>
                  <a:srgbClr val="FFFFFF"/>
                </a:solidFill>
                <a:latin typeface="Trebuchet MS"/>
                <a:ea typeface="Trebuchet MS"/>
                <a:cs typeface="Trebuchet MS"/>
                <a:sym typeface="Trebuchet MS"/>
              </a:rPr>
              <a:t>SOLUTIONS</a:t>
            </a:r>
            <a:endParaRPr sz="4800">
              <a:latin typeface="Trebuchet MS"/>
              <a:ea typeface="Trebuchet MS"/>
              <a:cs typeface="Trebuchet MS"/>
              <a:sym typeface="Trebuchet MS"/>
            </a:endParaRPr>
          </a:p>
          <a:p>
            <a:pPr indent="0" lvl="0" marL="0" rtl="0" algn="l">
              <a:lnSpc>
                <a:spcPct val="100000"/>
              </a:lnSpc>
              <a:spcBef>
                <a:spcPts val="0"/>
              </a:spcBef>
              <a:spcAft>
                <a:spcPts val="0"/>
              </a:spcAft>
              <a:buNone/>
            </a:pPr>
            <a:r>
              <a:rPr b="1" lang="en-US" sz="4800">
                <a:solidFill>
                  <a:srgbClr val="FFFFFF"/>
                </a:solidFill>
                <a:latin typeface="Trebuchet MS"/>
                <a:ea typeface="Trebuchet MS"/>
                <a:cs typeface="Trebuchet MS"/>
                <a:sym typeface="Trebuchet MS"/>
              </a:rPr>
              <a:t>ADOPTED</a:t>
            </a:r>
            <a:endParaRPr sz="4800">
              <a:latin typeface="Trebuchet MS"/>
              <a:ea typeface="Trebuchet MS"/>
              <a:cs typeface="Trebuchet MS"/>
              <a:sym typeface="Trebuchet MS"/>
            </a:endParaRPr>
          </a:p>
        </p:txBody>
      </p:sp>
      <p:sp>
        <p:nvSpPr>
          <p:cNvPr id="235" name="Google Shape;235;g39aceebf16f_0_62"/>
          <p:cNvSpPr txBox="1"/>
          <p:nvPr/>
        </p:nvSpPr>
        <p:spPr>
          <a:xfrm>
            <a:off x="7769975" y="966250"/>
            <a:ext cx="9685200" cy="7935900"/>
          </a:xfrm>
          <a:prstGeom prst="rect">
            <a:avLst/>
          </a:prstGeom>
          <a:noFill/>
          <a:ln>
            <a:noFill/>
          </a:ln>
        </p:spPr>
        <p:txBody>
          <a:bodyPr anchorCtr="0" anchor="t" bIns="0" lIns="0" spcFirstLastPara="1" rIns="0" wrap="square" tIns="88250">
            <a:spAutoFit/>
          </a:bodyPr>
          <a:lstStyle/>
          <a:p>
            <a:pPr indent="-527050" lvl="0" marL="457200" marR="71120" rtl="0" algn="l">
              <a:lnSpc>
                <a:spcPct val="80000"/>
              </a:lnSpc>
              <a:spcBef>
                <a:spcPts val="1425"/>
              </a:spcBef>
              <a:spcAft>
                <a:spcPts val="0"/>
              </a:spcAft>
              <a:buClr>
                <a:srgbClr val="903062"/>
              </a:buClr>
              <a:buSzPts val="4700"/>
              <a:buFont typeface="Noto Sans Symbols"/>
              <a:buChar char="∙"/>
            </a:pPr>
            <a:r>
              <a:rPr lang="en-US" sz="2800">
                <a:solidFill>
                  <a:schemeClr val="dk1"/>
                </a:solidFill>
              </a:rPr>
              <a:t>Developed a robust </a:t>
            </a:r>
            <a:r>
              <a:rPr b="1" lang="en-US" sz="2800">
                <a:solidFill>
                  <a:schemeClr val="dk1"/>
                </a:solidFill>
              </a:rPr>
              <a:t>mortality prediction model</a:t>
            </a:r>
            <a:r>
              <a:rPr lang="en-US" sz="2800">
                <a:solidFill>
                  <a:schemeClr val="dk1"/>
                </a:solidFill>
              </a:rPr>
              <a:t> using traditional ML and </a:t>
            </a:r>
            <a:r>
              <a:rPr b="1" lang="en-US" sz="2800">
                <a:solidFill>
                  <a:schemeClr val="dk1"/>
                </a:solidFill>
              </a:rPr>
              <a:t>Deep Neural Networks (DNN)</a:t>
            </a:r>
            <a:r>
              <a:rPr lang="en-US" sz="2800">
                <a:solidFill>
                  <a:schemeClr val="dk1"/>
                </a:solidFill>
              </a:rPr>
              <a:t>.</a:t>
            </a:r>
            <a:endParaRPr sz="2800">
              <a:solidFill>
                <a:schemeClr val="dk1"/>
              </a:solidFill>
            </a:endParaRPr>
          </a:p>
          <a:p>
            <a:pPr indent="-527050" lvl="0" marL="457200" marR="71120" rtl="0" algn="l">
              <a:lnSpc>
                <a:spcPct val="80000"/>
              </a:lnSpc>
              <a:spcBef>
                <a:spcPts val="1425"/>
              </a:spcBef>
              <a:spcAft>
                <a:spcPts val="0"/>
              </a:spcAft>
              <a:buClr>
                <a:srgbClr val="903062"/>
              </a:buClr>
              <a:buSzPts val="4700"/>
              <a:buFont typeface="Noto Sans Symbols"/>
              <a:buChar char="∙"/>
            </a:pPr>
            <a:r>
              <a:rPr lang="en-US" sz="2800">
                <a:solidFill>
                  <a:schemeClr val="dk1"/>
                </a:solidFill>
              </a:rPr>
              <a:t>The </a:t>
            </a:r>
            <a:r>
              <a:rPr b="1" lang="en-US" sz="2800">
                <a:solidFill>
                  <a:schemeClr val="dk1"/>
                </a:solidFill>
              </a:rPr>
              <a:t>DNN (with SMOTE)</a:t>
            </a:r>
            <a:r>
              <a:rPr lang="en-US" sz="2800">
                <a:solidFill>
                  <a:schemeClr val="dk1"/>
                </a:solidFill>
              </a:rPr>
              <a:t> achieved the </a:t>
            </a:r>
            <a:r>
              <a:rPr b="1" lang="en-US" sz="2800">
                <a:solidFill>
                  <a:schemeClr val="dk1"/>
                </a:solidFill>
              </a:rPr>
              <a:t>best overall performance</a:t>
            </a:r>
            <a:r>
              <a:rPr lang="en-US" sz="2800">
                <a:solidFill>
                  <a:schemeClr val="dk1"/>
                </a:solidFill>
              </a:rPr>
              <a:t> —</a:t>
            </a:r>
            <a:br>
              <a:rPr lang="en-US" sz="2800">
                <a:solidFill>
                  <a:schemeClr val="dk1"/>
                </a:solidFill>
              </a:rPr>
            </a:br>
            <a:r>
              <a:rPr lang="en-US" sz="2800">
                <a:solidFill>
                  <a:schemeClr val="dk1"/>
                </a:solidFill>
              </a:rPr>
              <a:t> </a:t>
            </a:r>
            <a:r>
              <a:rPr b="1" lang="en-US" sz="2800">
                <a:solidFill>
                  <a:schemeClr val="dk1"/>
                </a:solidFill>
              </a:rPr>
              <a:t>Accuracy: 83.1% | F1: 0.709 | AUC: 0.887 | Sensitivity: 74.9% | Specificity: 86.2%</a:t>
            </a:r>
            <a:r>
              <a:rPr lang="en-US" sz="2800">
                <a:solidFill>
                  <a:schemeClr val="dk1"/>
                </a:solidFill>
              </a:rPr>
              <a:t>.</a:t>
            </a:r>
            <a:endParaRPr sz="2800">
              <a:solidFill>
                <a:schemeClr val="dk1"/>
              </a:solidFill>
            </a:endParaRPr>
          </a:p>
          <a:p>
            <a:pPr indent="-527050" lvl="0" marL="457200" marR="71120" rtl="0" algn="l">
              <a:lnSpc>
                <a:spcPct val="80000"/>
              </a:lnSpc>
              <a:spcBef>
                <a:spcPts val="1425"/>
              </a:spcBef>
              <a:spcAft>
                <a:spcPts val="0"/>
              </a:spcAft>
              <a:buClr>
                <a:srgbClr val="903062"/>
              </a:buClr>
              <a:buSzPts val="4700"/>
              <a:buFont typeface="Noto Sans Symbols"/>
              <a:buChar char="∙"/>
            </a:pPr>
            <a:r>
              <a:rPr b="1" lang="en-US" sz="2800">
                <a:solidFill>
                  <a:schemeClr val="dk1"/>
                </a:solidFill>
              </a:rPr>
              <a:t>SMOTE</a:t>
            </a:r>
            <a:r>
              <a:rPr lang="en-US" sz="2800">
                <a:solidFill>
                  <a:schemeClr val="dk1"/>
                </a:solidFill>
              </a:rPr>
              <a:t> improved class balance and recall for minority (death) cases.</a:t>
            </a:r>
            <a:endParaRPr sz="2800">
              <a:solidFill>
                <a:schemeClr val="dk1"/>
              </a:solidFill>
            </a:endParaRPr>
          </a:p>
          <a:p>
            <a:pPr indent="-527050" lvl="0" marL="457200" marR="71120" rtl="0" algn="l">
              <a:lnSpc>
                <a:spcPct val="80000"/>
              </a:lnSpc>
              <a:spcBef>
                <a:spcPts val="1425"/>
              </a:spcBef>
              <a:spcAft>
                <a:spcPts val="0"/>
              </a:spcAft>
              <a:buClr>
                <a:srgbClr val="903062"/>
              </a:buClr>
              <a:buSzPts val="4700"/>
              <a:buFont typeface="Noto Sans Symbols"/>
              <a:buChar char="∙"/>
            </a:pPr>
            <a:r>
              <a:rPr b="1" lang="en-US" sz="2800">
                <a:solidFill>
                  <a:schemeClr val="dk1"/>
                </a:solidFill>
              </a:rPr>
              <a:t>Risk stratification</a:t>
            </a:r>
            <a:r>
              <a:rPr lang="en-US" sz="2800">
                <a:solidFill>
                  <a:schemeClr val="dk1"/>
                </a:solidFill>
              </a:rPr>
              <a:t> clearly separated patients into Low, Medium, High, and Very-High mortality groups.</a:t>
            </a:r>
            <a:br>
              <a:rPr lang="en-US" sz="2800">
                <a:solidFill>
                  <a:schemeClr val="dk1"/>
                </a:solidFill>
              </a:rPr>
            </a:br>
            <a:endParaRPr sz="2800">
              <a:solidFill>
                <a:schemeClr val="dk1"/>
              </a:solidFill>
            </a:endParaRPr>
          </a:p>
          <a:p>
            <a:pPr indent="-527050" lvl="0" marL="457200" marR="71120" rtl="0" algn="l">
              <a:lnSpc>
                <a:spcPct val="80000"/>
              </a:lnSpc>
              <a:spcBef>
                <a:spcPts val="1425"/>
              </a:spcBef>
              <a:spcAft>
                <a:spcPts val="0"/>
              </a:spcAft>
              <a:buClr>
                <a:srgbClr val="903062"/>
              </a:buClr>
              <a:buSzPts val="4700"/>
              <a:buFont typeface="Noto Sans Symbols"/>
              <a:buChar char="∙"/>
            </a:pPr>
            <a:r>
              <a:rPr lang="en-US" sz="2800">
                <a:solidFill>
                  <a:schemeClr val="dk1"/>
                </a:solidFill>
              </a:rPr>
              <a:t>Visual tools (confusion matrix, probability plots, threshold tuning) enhanced </a:t>
            </a:r>
            <a:r>
              <a:rPr b="1" lang="en-US" sz="2800">
                <a:solidFill>
                  <a:schemeClr val="dk1"/>
                </a:solidFill>
              </a:rPr>
              <a:t>model interpretability</a:t>
            </a:r>
            <a:r>
              <a:rPr lang="en-US" sz="2800">
                <a:solidFill>
                  <a:schemeClr val="dk1"/>
                </a:solidFill>
              </a:rPr>
              <a:t> and </a:t>
            </a:r>
            <a:r>
              <a:rPr b="1" lang="en-US" sz="2800">
                <a:solidFill>
                  <a:schemeClr val="dk1"/>
                </a:solidFill>
              </a:rPr>
              <a:t>clinical relevance</a:t>
            </a:r>
            <a:r>
              <a:rPr lang="en-US" sz="2800">
                <a:solidFill>
                  <a:schemeClr val="dk1"/>
                </a:solidFill>
              </a:rPr>
              <a:t>.</a:t>
            </a:r>
            <a:br>
              <a:rPr lang="en-US" sz="2800">
                <a:solidFill>
                  <a:schemeClr val="dk1"/>
                </a:solidFill>
              </a:rPr>
            </a:br>
            <a:endParaRPr sz="2800">
              <a:solidFill>
                <a:schemeClr val="dk1"/>
              </a:solidFill>
            </a:endParaRPr>
          </a:p>
          <a:p>
            <a:pPr indent="0" lvl="0" marL="0" marR="71120" rtl="0" algn="l">
              <a:lnSpc>
                <a:spcPct val="80000"/>
              </a:lnSpc>
              <a:spcBef>
                <a:spcPts val="1425"/>
              </a:spcBef>
              <a:spcAft>
                <a:spcPts val="0"/>
              </a:spcAft>
              <a:buNone/>
            </a:pPr>
            <a:r>
              <a:t/>
            </a:r>
            <a:endParaRPr b="1" sz="4800">
              <a:solidFill>
                <a:schemeClr val="dk1"/>
              </a:solidFill>
            </a:endParaRPr>
          </a:p>
        </p:txBody>
      </p:sp>
      <p:grpSp>
        <p:nvGrpSpPr>
          <p:cNvPr id="236" name="Google Shape;236;g39aceebf16f_0_62"/>
          <p:cNvGrpSpPr/>
          <p:nvPr/>
        </p:nvGrpSpPr>
        <p:grpSpPr>
          <a:xfrm>
            <a:off x="0" y="0"/>
            <a:ext cx="7539990" cy="10248900"/>
            <a:chOff x="0" y="0"/>
            <a:chExt cx="7539990" cy="10248900"/>
          </a:xfrm>
        </p:grpSpPr>
        <p:sp>
          <p:nvSpPr>
            <p:cNvPr id="237" name="Google Shape;237;g39aceebf16f_0_62"/>
            <p:cNvSpPr/>
            <p:nvPr/>
          </p:nvSpPr>
          <p:spPr>
            <a:xfrm>
              <a:off x="0" y="0"/>
              <a:ext cx="7539990" cy="10248900"/>
            </a:xfrm>
            <a:custGeom>
              <a:rect b="b" l="l" r="r" t="t"/>
              <a:pathLst>
                <a:path extrusionOk="0" h="10248900" w="7539990">
                  <a:moveTo>
                    <a:pt x="0" y="10248856"/>
                  </a:moveTo>
                  <a:lnTo>
                    <a:pt x="7539752" y="10248856"/>
                  </a:lnTo>
                  <a:lnTo>
                    <a:pt x="7539752" y="0"/>
                  </a:lnTo>
                  <a:lnTo>
                    <a:pt x="0" y="0"/>
                  </a:lnTo>
                  <a:lnTo>
                    <a:pt x="0" y="10248856"/>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38" name="Google Shape;238;g39aceebf16f_0_62"/>
            <p:cNvSpPr/>
            <p:nvPr/>
          </p:nvSpPr>
          <p:spPr>
            <a:xfrm>
              <a:off x="0" y="0"/>
              <a:ext cx="7539990" cy="10248900"/>
            </a:xfrm>
            <a:custGeom>
              <a:rect b="b" l="l" r="r" t="t"/>
              <a:pathLst>
                <a:path extrusionOk="0" h="10248900" w="7539990">
                  <a:moveTo>
                    <a:pt x="0" y="10248856"/>
                  </a:moveTo>
                  <a:lnTo>
                    <a:pt x="7539752" y="10248856"/>
                  </a:lnTo>
                  <a:lnTo>
                    <a:pt x="7539752" y="0"/>
                  </a:lnTo>
                </a:path>
              </a:pathLst>
            </a:custGeom>
            <a:noFill/>
            <a:ln cap="flat" cmpd="sng" w="22225">
              <a:solidFill>
                <a:srgbClr val="1B03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39" name="Google Shape;239;g39aceebf16f_0_62"/>
          <p:cNvSpPr txBox="1"/>
          <p:nvPr/>
        </p:nvSpPr>
        <p:spPr>
          <a:xfrm>
            <a:off x="648307" y="3471113"/>
            <a:ext cx="5561400" cy="1250100"/>
          </a:xfrm>
          <a:prstGeom prst="rect">
            <a:avLst/>
          </a:prstGeom>
          <a:noFill/>
          <a:ln>
            <a:noFill/>
          </a:ln>
        </p:spPr>
        <p:txBody>
          <a:bodyPr anchorCtr="0" anchor="t" bIns="0" lIns="0" spcFirstLastPara="1" rIns="0" wrap="square" tIns="3175">
            <a:spAutoFit/>
          </a:bodyPr>
          <a:lstStyle/>
          <a:p>
            <a:pPr indent="0" lvl="0" marL="12700" marR="5080" rtl="0" algn="l">
              <a:lnSpc>
                <a:spcPct val="100800"/>
              </a:lnSpc>
              <a:spcBef>
                <a:spcPts val="0"/>
              </a:spcBef>
              <a:spcAft>
                <a:spcPts val="0"/>
              </a:spcAft>
              <a:buNone/>
            </a:pPr>
            <a:r>
              <a:rPr b="1" lang="en-US" sz="8100">
                <a:solidFill>
                  <a:srgbClr val="FFFFFF"/>
                </a:solidFill>
                <a:latin typeface="Trebuchet MS"/>
                <a:ea typeface="Trebuchet MS"/>
                <a:cs typeface="Trebuchet MS"/>
                <a:sym typeface="Trebuchet MS"/>
              </a:rPr>
              <a:t>Conclusion </a:t>
            </a:r>
            <a:endParaRPr sz="8100">
              <a:latin typeface="Trebuchet MS"/>
              <a:ea typeface="Trebuchet MS"/>
              <a:cs typeface="Trebuchet MS"/>
              <a:sym typeface="Trebuchet M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3" name="Shape 243"/>
        <p:cNvGrpSpPr/>
        <p:nvPr/>
      </p:nvGrpSpPr>
      <p:grpSpPr>
        <a:xfrm>
          <a:off x="0" y="0"/>
          <a:ext cx="0" cy="0"/>
          <a:chOff x="0" y="0"/>
          <a:chExt cx="0" cy="0"/>
        </a:xfrm>
      </p:grpSpPr>
      <p:sp>
        <p:nvSpPr>
          <p:cNvPr id="244" name="Google Shape;244;g39aceebf16f_0_73"/>
          <p:cNvSpPr txBox="1"/>
          <p:nvPr/>
        </p:nvSpPr>
        <p:spPr>
          <a:xfrm>
            <a:off x="1530350" y="4032246"/>
            <a:ext cx="3405000" cy="1580100"/>
          </a:xfrm>
          <a:prstGeom prst="rect">
            <a:avLst/>
          </a:prstGeom>
          <a:noFill/>
          <a:ln>
            <a:noFill/>
          </a:ln>
        </p:spPr>
        <p:txBody>
          <a:bodyPr anchorCtr="0" anchor="t" bIns="0" lIns="0" spcFirstLastPara="1" rIns="0" wrap="square" tIns="0">
            <a:spAutoFit/>
          </a:bodyPr>
          <a:lstStyle/>
          <a:p>
            <a:pPr indent="0" lvl="0" marL="123188" rtl="0" algn="l">
              <a:lnSpc>
                <a:spcPct val="113854"/>
              </a:lnSpc>
              <a:spcBef>
                <a:spcPts val="0"/>
              </a:spcBef>
              <a:spcAft>
                <a:spcPts val="0"/>
              </a:spcAft>
              <a:buNone/>
            </a:pPr>
            <a:r>
              <a:rPr b="1" lang="en-US" sz="4800">
                <a:solidFill>
                  <a:srgbClr val="FFFFFF"/>
                </a:solidFill>
                <a:latin typeface="Trebuchet MS"/>
                <a:ea typeface="Trebuchet MS"/>
                <a:cs typeface="Trebuchet MS"/>
                <a:sym typeface="Trebuchet MS"/>
              </a:rPr>
              <a:t>SOLUTIONS</a:t>
            </a:r>
            <a:endParaRPr sz="4800">
              <a:latin typeface="Trebuchet MS"/>
              <a:ea typeface="Trebuchet MS"/>
              <a:cs typeface="Trebuchet MS"/>
              <a:sym typeface="Trebuchet MS"/>
            </a:endParaRPr>
          </a:p>
          <a:p>
            <a:pPr indent="0" lvl="0" marL="0" rtl="0" algn="l">
              <a:lnSpc>
                <a:spcPct val="100000"/>
              </a:lnSpc>
              <a:spcBef>
                <a:spcPts val="0"/>
              </a:spcBef>
              <a:spcAft>
                <a:spcPts val="0"/>
              </a:spcAft>
              <a:buNone/>
            </a:pPr>
            <a:r>
              <a:rPr b="1" lang="en-US" sz="4800">
                <a:solidFill>
                  <a:srgbClr val="FFFFFF"/>
                </a:solidFill>
                <a:latin typeface="Trebuchet MS"/>
                <a:ea typeface="Trebuchet MS"/>
                <a:cs typeface="Trebuchet MS"/>
                <a:sym typeface="Trebuchet MS"/>
              </a:rPr>
              <a:t>ADOPTED</a:t>
            </a:r>
            <a:endParaRPr sz="4800">
              <a:latin typeface="Trebuchet MS"/>
              <a:ea typeface="Trebuchet MS"/>
              <a:cs typeface="Trebuchet MS"/>
              <a:sym typeface="Trebuchet MS"/>
            </a:endParaRPr>
          </a:p>
        </p:txBody>
      </p:sp>
      <p:sp>
        <p:nvSpPr>
          <p:cNvPr id="245" name="Google Shape;245;g39aceebf16f_0_73"/>
          <p:cNvSpPr txBox="1"/>
          <p:nvPr/>
        </p:nvSpPr>
        <p:spPr>
          <a:xfrm>
            <a:off x="7769975" y="966250"/>
            <a:ext cx="9685200" cy="7051200"/>
          </a:xfrm>
          <a:prstGeom prst="rect">
            <a:avLst/>
          </a:prstGeom>
          <a:noFill/>
          <a:ln>
            <a:noFill/>
          </a:ln>
        </p:spPr>
        <p:txBody>
          <a:bodyPr anchorCtr="0" anchor="t" bIns="0" lIns="0" spcFirstLastPara="1" rIns="0" wrap="square" tIns="88250">
            <a:spAutoFit/>
          </a:bodyPr>
          <a:lstStyle/>
          <a:p>
            <a:pPr indent="-603250" lvl="0" marL="457200" marR="71120" rtl="0" algn="l">
              <a:lnSpc>
                <a:spcPct val="80000"/>
              </a:lnSpc>
              <a:spcBef>
                <a:spcPts val="1425"/>
              </a:spcBef>
              <a:spcAft>
                <a:spcPts val="0"/>
              </a:spcAft>
              <a:buClr>
                <a:srgbClr val="903062"/>
              </a:buClr>
              <a:buSzPts val="5900"/>
              <a:buFont typeface="Noto Sans Symbols"/>
              <a:buChar char="∙"/>
            </a:pPr>
            <a:r>
              <a:rPr b="1" lang="en-US" sz="2300">
                <a:solidFill>
                  <a:schemeClr val="dk1"/>
                </a:solidFill>
              </a:rPr>
              <a:t>External Validation:</a:t>
            </a:r>
            <a:br>
              <a:rPr b="1" lang="en-US" sz="2300">
                <a:solidFill>
                  <a:schemeClr val="dk1"/>
                </a:solidFill>
              </a:rPr>
            </a:br>
            <a:r>
              <a:rPr lang="en-US" sz="2300">
                <a:solidFill>
                  <a:schemeClr val="dk1"/>
                </a:solidFill>
              </a:rPr>
              <a:t> Test the model on independent hospital datasets to confirm generalizability.</a:t>
            </a:r>
            <a:br>
              <a:rPr lang="en-US" sz="2300">
                <a:solidFill>
                  <a:schemeClr val="dk1"/>
                </a:solidFill>
              </a:rPr>
            </a:br>
            <a:endParaRPr sz="2300">
              <a:solidFill>
                <a:schemeClr val="dk1"/>
              </a:solidFill>
            </a:endParaRPr>
          </a:p>
          <a:p>
            <a:pPr indent="-603250" lvl="0" marL="457200" marR="71120" rtl="0" algn="l">
              <a:lnSpc>
                <a:spcPct val="80000"/>
              </a:lnSpc>
              <a:spcBef>
                <a:spcPts val="1425"/>
              </a:spcBef>
              <a:spcAft>
                <a:spcPts val="0"/>
              </a:spcAft>
              <a:buClr>
                <a:srgbClr val="903062"/>
              </a:buClr>
              <a:buSzPts val="5900"/>
              <a:buFont typeface="Noto Sans Symbols"/>
              <a:buChar char="∙"/>
            </a:pPr>
            <a:r>
              <a:rPr b="1" lang="en-US" sz="2300">
                <a:solidFill>
                  <a:schemeClr val="dk1"/>
                </a:solidFill>
              </a:rPr>
              <a:t>Model Deployment:</a:t>
            </a:r>
            <a:br>
              <a:rPr b="1" lang="en-US" sz="2300">
                <a:solidFill>
                  <a:schemeClr val="dk1"/>
                </a:solidFill>
              </a:rPr>
            </a:br>
            <a:r>
              <a:rPr lang="en-US" sz="2300">
                <a:solidFill>
                  <a:schemeClr val="dk1"/>
                </a:solidFill>
              </a:rPr>
              <a:t> Build an </a:t>
            </a:r>
            <a:r>
              <a:rPr b="1" lang="en-US" sz="2300">
                <a:solidFill>
                  <a:schemeClr val="dk1"/>
                </a:solidFill>
              </a:rPr>
              <a:t>interactive dashboard or API</a:t>
            </a:r>
            <a:r>
              <a:rPr lang="en-US" sz="2300">
                <a:solidFill>
                  <a:schemeClr val="dk1"/>
                </a:solidFill>
              </a:rPr>
              <a:t> for real-time risk prediction.</a:t>
            </a:r>
            <a:br>
              <a:rPr lang="en-US" sz="2300">
                <a:solidFill>
                  <a:schemeClr val="dk1"/>
                </a:solidFill>
              </a:rPr>
            </a:br>
            <a:endParaRPr sz="2300">
              <a:solidFill>
                <a:schemeClr val="dk1"/>
              </a:solidFill>
            </a:endParaRPr>
          </a:p>
          <a:p>
            <a:pPr indent="-603250" lvl="0" marL="457200" marR="71120" rtl="0" algn="l">
              <a:lnSpc>
                <a:spcPct val="80000"/>
              </a:lnSpc>
              <a:spcBef>
                <a:spcPts val="1425"/>
              </a:spcBef>
              <a:spcAft>
                <a:spcPts val="0"/>
              </a:spcAft>
              <a:buClr>
                <a:srgbClr val="903062"/>
              </a:buClr>
              <a:buSzPts val="5900"/>
              <a:buFont typeface="Noto Sans Symbols"/>
              <a:buChar char="∙"/>
            </a:pPr>
            <a:r>
              <a:rPr b="1" lang="en-US" sz="2300">
                <a:solidFill>
                  <a:schemeClr val="dk1"/>
                </a:solidFill>
              </a:rPr>
              <a:t>Continuous Learning:</a:t>
            </a:r>
            <a:br>
              <a:rPr b="1" lang="en-US" sz="2300">
                <a:solidFill>
                  <a:schemeClr val="dk1"/>
                </a:solidFill>
              </a:rPr>
            </a:br>
            <a:r>
              <a:rPr lang="en-US" sz="2300">
                <a:solidFill>
                  <a:schemeClr val="dk1"/>
                </a:solidFill>
              </a:rPr>
              <a:t> Implement model retraining pipelines to update predictions as new data arrive.</a:t>
            </a:r>
            <a:br>
              <a:rPr lang="en-US" sz="2300">
                <a:solidFill>
                  <a:schemeClr val="dk1"/>
                </a:solidFill>
              </a:rPr>
            </a:br>
            <a:endParaRPr sz="2300">
              <a:solidFill>
                <a:schemeClr val="dk1"/>
              </a:solidFill>
            </a:endParaRPr>
          </a:p>
          <a:p>
            <a:pPr indent="-603250" lvl="0" marL="457200" marR="71120" rtl="0" algn="l">
              <a:lnSpc>
                <a:spcPct val="80000"/>
              </a:lnSpc>
              <a:spcBef>
                <a:spcPts val="1425"/>
              </a:spcBef>
              <a:spcAft>
                <a:spcPts val="0"/>
              </a:spcAft>
              <a:buClr>
                <a:srgbClr val="903062"/>
              </a:buClr>
              <a:buSzPts val="5900"/>
              <a:buFont typeface="Noto Sans Symbols"/>
              <a:buChar char="∙"/>
            </a:pPr>
            <a:r>
              <a:rPr b="1" lang="en-US" sz="2300">
                <a:solidFill>
                  <a:schemeClr val="dk1"/>
                </a:solidFill>
              </a:rPr>
              <a:t>Ethical Oversight:</a:t>
            </a:r>
            <a:br>
              <a:rPr b="1" lang="en-US" sz="2300">
                <a:solidFill>
                  <a:schemeClr val="dk1"/>
                </a:solidFill>
              </a:rPr>
            </a:br>
            <a:r>
              <a:rPr lang="en-US" sz="2300">
                <a:solidFill>
                  <a:schemeClr val="dk1"/>
                </a:solidFill>
              </a:rPr>
              <a:t> Monitor for bias, ensure fairness across demographic groups, and maintain data privacy compliance.</a:t>
            </a:r>
            <a:endParaRPr sz="2300">
              <a:solidFill>
                <a:schemeClr val="dk1"/>
              </a:solidFill>
            </a:endParaRPr>
          </a:p>
          <a:p>
            <a:pPr indent="0" lvl="0" marL="0" marR="71120" rtl="0" algn="l">
              <a:lnSpc>
                <a:spcPct val="80000"/>
              </a:lnSpc>
              <a:spcBef>
                <a:spcPts val="1425"/>
              </a:spcBef>
              <a:spcAft>
                <a:spcPts val="0"/>
              </a:spcAft>
              <a:buNone/>
            </a:pPr>
            <a:r>
              <a:t/>
            </a:r>
            <a:endParaRPr sz="4000">
              <a:solidFill>
                <a:schemeClr val="dk1"/>
              </a:solidFill>
            </a:endParaRPr>
          </a:p>
        </p:txBody>
      </p:sp>
      <p:grpSp>
        <p:nvGrpSpPr>
          <p:cNvPr id="246" name="Google Shape;246;g39aceebf16f_0_73"/>
          <p:cNvGrpSpPr/>
          <p:nvPr/>
        </p:nvGrpSpPr>
        <p:grpSpPr>
          <a:xfrm>
            <a:off x="0" y="0"/>
            <a:ext cx="7551300" cy="10248900"/>
            <a:chOff x="0" y="0"/>
            <a:chExt cx="7539990" cy="10248900"/>
          </a:xfrm>
        </p:grpSpPr>
        <p:sp>
          <p:nvSpPr>
            <p:cNvPr id="247" name="Google Shape;247;g39aceebf16f_0_73"/>
            <p:cNvSpPr/>
            <p:nvPr/>
          </p:nvSpPr>
          <p:spPr>
            <a:xfrm>
              <a:off x="0" y="0"/>
              <a:ext cx="7539990" cy="10248900"/>
            </a:xfrm>
            <a:custGeom>
              <a:rect b="b" l="l" r="r" t="t"/>
              <a:pathLst>
                <a:path extrusionOk="0" h="10248900" w="7539990">
                  <a:moveTo>
                    <a:pt x="0" y="10248856"/>
                  </a:moveTo>
                  <a:lnTo>
                    <a:pt x="7539752" y="10248856"/>
                  </a:lnTo>
                  <a:lnTo>
                    <a:pt x="7539752" y="0"/>
                  </a:lnTo>
                  <a:lnTo>
                    <a:pt x="0" y="0"/>
                  </a:lnTo>
                  <a:lnTo>
                    <a:pt x="0" y="10248856"/>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48" name="Google Shape;248;g39aceebf16f_0_73"/>
            <p:cNvSpPr/>
            <p:nvPr/>
          </p:nvSpPr>
          <p:spPr>
            <a:xfrm>
              <a:off x="0" y="0"/>
              <a:ext cx="7539990" cy="10248900"/>
            </a:xfrm>
            <a:custGeom>
              <a:rect b="b" l="l" r="r" t="t"/>
              <a:pathLst>
                <a:path extrusionOk="0" h="10248900" w="7539990">
                  <a:moveTo>
                    <a:pt x="0" y="10248856"/>
                  </a:moveTo>
                  <a:lnTo>
                    <a:pt x="7539752" y="10248856"/>
                  </a:lnTo>
                  <a:lnTo>
                    <a:pt x="7539752" y="0"/>
                  </a:lnTo>
                </a:path>
              </a:pathLst>
            </a:custGeom>
            <a:noFill/>
            <a:ln cap="flat" cmpd="sng" w="22225">
              <a:solidFill>
                <a:srgbClr val="1B03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49" name="Google Shape;249;g39aceebf16f_0_73"/>
          <p:cNvSpPr txBox="1"/>
          <p:nvPr/>
        </p:nvSpPr>
        <p:spPr>
          <a:xfrm>
            <a:off x="325924" y="3471125"/>
            <a:ext cx="6541200" cy="3252900"/>
          </a:xfrm>
          <a:prstGeom prst="rect">
            <a:avLst/>
          </a:prstGeom>
          <a:noFill/>
          <a:ln>
            <a:noFill/>
          </a:ln>
        </p:spPr>
        <p:txBody>
          <a:bodyPr anchorCtr="0" anchor="t" bIns="0" lIns="0" spcFirstLastPara="1" rIns="0" wrap="square" tIns="3175">
            <a:spAutoFit/>
          </a:bodyPr>
          <a:lstStyle/>
          <a:p>
            <a:pPr indent="0" lvl="0" marL="12700" marR="5080" rtl="0" algn="l">
              <a:lnSpc>
                <a:spcPct val="100800"/>
              </a:lnSpc>
              <a:spcBef>
                <a:spcPts val="0"/>
              </a:spcBef>
              <a:spcAft>
                <a:spcPts val="0"/>
              </a:spcAft>
              <a:buNone/>
            </a:pPr>
            <a:r>
              <a:rPr b="1" lang="en-US" sz="7000">
                <a:solidFill>
                  <a:srgbClr val="FFFFFF"/>
                </a:solidFill>
                <a:latin typeface="Trebuchet MS"/>
                <a:ea typeface="Trebuchet MS"/>
                <a:cs typeface="Trebuchet MS"/>
                <a:sym typeface="Trebuchet MS"/>
              </a:rPr>
              <a:t>Future Works &amp; Recommendations</a:t>
            </a:r>
            <a:r>
              <a:rPr b="1" lang="en-US" sz="7000">
                <a:solidFill>
                  <a:srgbClr val="FFFFFF"/>
                </a:solidFill>
                <a:latin typeface="Trebuchet MS"/>
                <a:ea typeface="Trebuchet MS"/>
                <a:cs typeface="Trebuchet MS"/>
                <a:sym typeface="Trebuchet MS"/>
              </a:rPr>
              <a:t> </a:t>
            </a:r>
            <a:endParaRPr sz="7000">
              <a:latin typeface="Trebuchet MS"/>
              <a:ea typeface="Trebuchet MS"/>
              <a:cs typeface="Trebuchet MS"/>
              <a:sym typeface="Trebuchet M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53" name="Shape 253"/>
        <p:cNvGrpSpPr/>
        <p:nvPr/>
      </p:nvGrpSpPr>
      <p:grpSpPr>
        <a:xfrm>
          <a:off x="0" y="0"/>
          <a:ext cx="0" cy="0"/>
          <a:chOff x="0" y="0"/>
          <a:chExt cx="0" cy="0"/>
        </a:xfrm>
      </p:grpSpPr>
      <p:sp>
        <p:nvSpPr>
          <p:cNvPr id="254" name="Google Shape;254;p16"/>
          <p:cNvSpPr txBox="1"/>
          <p:nvPr/>
        </p:nvSpPr>
        <p:spPr>
          <a:xfrm>
            <a:off x="1530350" y="4032246"/>
            <a:ext cx="3404870" cy="1476375"/>
          </a:xfrm>
          <a:prstGeom prst="rect">
            <a:avLst/>
          </a:prstGeom>
          <a:noFill/>
          <a:ln>
            <a:noFill/>
          </a:ln>
        </p:spPr>
        <p:txBody>
          <a:bodyPr anchorCtr="0" anchor="t" bIns="0" lIns="0" spcFirstLastPara="1" rIns="0" wrap="square" tIns="0">
            <a:spAutoFit/>
          </a:bodyPr>
          <a:lstStyle/>
          <a:p>
            <a:pPr indent="0" lvl="0" marL="123189" rtl="0" algn="l">
              <a:lnSpc>
                <a:spcPct val="113854"/>
              </a:lnSpc>
              <a:spcBef>
                <a:spcPts val="0"/>
              </a:spcBef>
              <a:spcAft>
                <a:spcPts val="0"/>
              </a:spcAft>
              <a:buNone/>
            </a:pPr>
            <a:r>
              <a:rPr b="1" lang="en-US" sz="4800">
                <a:solidFill>
                  <a:srgbClr val="FFFFFF"/>
                </a:solidFill>
                <a:latin typeface="Trebuchet MS"/>
                <a:ea typeface="Trebuchet MS"/>
                <a:cs typeface="Trebuchet MS"/>
                <a:sym typeface="Trebuchet MS"/>
              </a:rPr>
              <a:t>SOLUTIONS</a:t>
            </a:r>
            <a:endParaRPr sz="4800">
              <a:latin typeface="Trebuchet MS"/>
              <a:ea typeface="Trebuchet MS"/>
              <a:cs typeface="Trebuchet MS"/>
              <a:sym typeface="Trebuchet MS"/>
            </a:endParaRPr>
          </a:p>
          <a:p>
            <a:pPr indent="0" lvl="0" marL="0" rtl="0" algn="l">
              <a:lnSpc>
                <a:spcPct val="100000"/>
              </a:lnSpc>
              <a:spcBef>
                <a:spcPts val="0"/>
              </a:spcBef>
              <a:spcAft>
                <a:spcPts val="0"/>
              </a:spcAft>
              <a:buNone/>
            </a:pPr>
            <a:r>
              <a:rPr b="1" lang="en-US" sz="4800">
                <a:solidFill>
                  <a:srgbClr val="FFFFFF"/>
                </a:solidFill>
                <a:latin typeface="Trebuchet MS"/>
                <a:ea typeface="Trebuchet MS"/>
                <a:cs typeface="Trebuchet MS"/>
                <a:sym typeface="Trebuchet MS"/>
              </a:rPr>
              <a:t>ADOPTED</a:t>
            </a:r>
            <a:endParaRPr sz="4800">
              <a:latin typeface="Trebuchet MS"/>
              <a:ea typeface="Trebuchet MS"/>
              <a:cs typeface="Trebuchet MS"/>
              <a:sym typeface="Trebuchet MS"/>
            </a:endParaRPr>
          </a:p>
        </p:txBody>
      </p:sp>
      <p:grpSp>
        <p:nvGrpSpPr>
          <p:cNvPr id="255" name="Google Shape;255;p16"/>
          <p:cNvGrpSpPr/>
          <p:nvPr/>
        </p:nvGrpSpPr>
        <p:grpSpPr>
          <a:xfrm>
            <a:off x="-571" y="0"/>
            <a:ext cx="7152827" cy="10248900"/>
            <a:chOff x="0" y="0"/>
            <a:chExt cx="7539990" cy="10248900"/>
          </a:xfrm>
        </p:grpSpPr>
        <p:sp>
          <p:nvSpPr>
            <p:cNvPr id="256" name="Google Shape;256;p16"/>
            <p:cNvSpPr/>
            <p:nvPr/>
          </p:nvSpPr>
          <p:spPr>
            <a:xfrm>
              <a:off x="0" y="0"/>
              <a:ext cx="7539990" cy="10248900"/>
            </a:xfrm>
            <a:custGeom>
              <a:rect b="b" l="l" r="r" t="t"/>
              <a:pathLst>
                <a:path extrusionOk="0" h="10248900" w="7539990">
                  <a:moveTo>
                    <a:pt x="0" y="10248856"/>
                  </a:moveTo>
                  <a:lnTo>
                    <a:pt x="7539752" y="10248856"/>
                  </a:lnTo>
                  <a:lnTo>
                    <a:pt x="7539752" y="0"/>
                  </a:lnTo>
                  <a:lnTo>
                    <a:pt x="0" y="0"/>
                  </a:lnTo>
                  <a:lnTo>
                    <a:pt x="0" y="10248856"/>
                  </a:lnTo>
                  <a:close/>
                </a:path>
              </a:pathLst>
            </a:custGeom>
            <a:solidFill>
              <a:srgbClr val="00007E"/>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sp>
          <p:nvSpPr>
            <p:cNvPr id="257" name="Google Shape;257;p16"/>
            <p:cNvSpPr/>
            <p:nvPr/>
          </p:nvSpPr>
          <p:spPr>
            <a:xfrm>
              <a:off x="0" y="0"/>
              <a:ext cx="7539990" cy="10248900"/>
            </a:xfrm>
            <a:custGeom>
              <a:rect b="b" l="l" r="r" t="t"/>
              <a:pathLst>
                <a:path extrusionOk="0" h="10248900" w="7539990">
                  <a:moveTo>
                    <a:pt x="0" y="10248856"/>
                  </a:moveTo>
                  <a:lnTo>
                    <a:pt x="7539752" y="10248856"/>
                  </a:lnTo>
                  <a:lnTo>
                    <a:pt x="7539752" y="0"/>
                  </a:lnTo>
                </a:path>
              </a:pathLst>
            </a:custGeom>
            <a:noFill/>
            <a:ln cap="flat" cmpd="sng" w="22225">
              <a:solidFill>
                <a:srgbClr val="1B030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sz="1800"/>
            </a:p>
          </p:txBody>
        </p:sp>
      </p:grpSp>
      <p:sp>
        <p:nvSpPr>
          <p:cNvPr id="258" name="Google Shape;258;p16"/>
          <p:cNvSpPr txBox="1"/>
          <p:nvPr/>
        </p:nvSpPr>
        <p:spPr>
          <a:xfrm>
            <a:off x="325932" y="3714953"/>
            <a:ext cx="6535420" cy="2044064"/>
          </a:xfrm>
          <a:prstGeom prst="rect">
            <a:avLst/>
          </a:prstGeom>
          <a:noFill/>
          <a:ln>
            <a:noFill/>
          </a:ln>
        </p:spPr>
        <p:txBody>
          <a:bodyPr anchorCtr="0" anchor="t" bIns="0" lIns="0" spcFirstLastPara="1" rIns="0" wrap="square" tIns="6975">
            <a:spAutoFit/>
          </a:bodyPr>
          <a:lstStyle/>
          <a:p>
            <a:pPr indent="0" lvl="0" marL="12700" marR="5080" rtl="0" algn="l">
              <a:lnSpc>
                <a:spcPct val="100600"/>
              </a:lnSpc>
              <a:spcBef>
                <a:spcPts val="0"/>
              </a:spcBef>
              <a:spcAft>
                <a:spcPts val="0"/>
              </a:spcAft>
              <a:buNone/>
            </a:pPr>
            <a:r>
              <a:rPr b="1" lang="en-US" sz="6600">
                <a:solidFill>
                  <a:srgbClr val="FFFFFF"/>
                </a:solidFill>
                <a:latin typeface="Trebuchet MS"/>
                <a:ea typeface="Trebuchet MS"/>
                <a:cs typeface="Trebuchet MS"/>
                <a:sym typeface="Trebuchet MS"/>
              </a:rPr>
              <a:t>MEMBER CONTRIBUTIONS</a:t>
            </a:r>
            <a:endParaRPr sz="6600">
              <a:latin typeface="Trebuchet MS"/>
              <a:ea typeface="Trebuchet MS"/>
              <a:cs typeface="Trebuchet MS"/>
              <a:sym typeface="Trebuchet MS"/>
            </a:endParaRPr>
          </a:p>
        </p:txBody>
      </p:sp>
      <p:sp>
        <p:nvSpPr>
          <p:cNvPr id="259" name="Google Shape;259;p16"/>
          <p:cNvSpPr txBox="1"/>
          <p:nvPr/>
        </p:nvSpPr>
        <p:spPr>
          <a:xfrm>
            <a:off x="7478759" y="1307471"/>
            <a:ext cx="10503300" cy="84042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None/>
            </a:pPr>
            <a:r>
              <a:rPr lang="en-US" sz="5400"/>
              <a:t>• </a:t>
            </a:r>
            <a:r>
              <a:rPr b="1" lang="en-US" sz="5400"/>
              <a:t>Alex Gikaru</a:t>
            </a:r>
            <a:r>
              <a:rPr lang="en-US" sz="5400"/>
              <a:t> – Introduction and Objectives (Overview of the project and dataset), EDA, Data preprocessing </a:t>
            </a:r>
            <a:endParaRPr/>
          </a:p>
          <a:p>
            <a:pPr indent="0" lvl="0" marL="0" rtl="0" algn="l">
              <a:spcBef>
                <a:spcPts val="0"/>
              </a:spcBef>
              <a:spcAft>
                <a:spcPts val="0"/>
              </a:spcAft>
              <a:buNone/>
            </a:pPr>
            <a:r>
              <a:rPr lang="en-US" sz="5400"/>
              <a:t>• </a:t>
            </a:r>
            <a:r>
              <a:rPr b="1" lang="en-US" sz="5400">
                <a:solidFill>
                  <a:schemeClr val="dk1"/>
                </a:solidFill>
              </a:rPr>
              <a:t>Kevin Obote</a:t>
            </a:r>
            <a:r>
              <a:rPr lang="en-US" sz="5400">
                <a:solidFill>
                  <a:schemeClr val="dk1"/>
                </a:solidFill>
              </a:rPr>
              <a:t> </a:t>
            </a:r>
            <a:r>
              <a:rPr lang="en-US" sz="5400"/>
              <a:t>– Model development &amp; tuning</a:t>
            </a:r>
            <a:endParaRPr/>
          </a:p>
          <a:p>
            <a:pPr indent="0" lvl="0" marL="0" rtl="0" algn="l">
              <a:spcBef>
                <a:spcPts val="0"/>
              </a:spcBef>
              <a:spcAft>
                <a:spcPts val="0"/>
              </a:spcAft>
              <a:buNone/>
            </a:pPr>
            <a:r>
              <a:rPr lang="en-US" sz="5400"/>
              <a:t>• </a:t>
            </a:r>
            <a:r>
              <a:rPr b="1" lang="en-US" sz="5400"/>
              <a:t>Kennedy Mwenda</a:t>
            </a:r>
            <a:r>
              <a:rPr lang="en-US" sz="5400"/>
              <a:t> – Evaluation &amp; visualization</a:t>
            </a:r>
            <a:endParaRPr/>
          </a:p>
          <a:p>
            <a:pPr indent="0" lvl="0" marL="0" rtl="0" algn="l">
              <a:spcBef>
                <a:spcPts val="0"/>
              </a:spcBef>
              <a:spcAft>
                <a:spcPts val="0"/>
              </a:spcAft>
              <a:buNone/>
            </a:pPr>
            <a:r>
              <a:rPr lang="en-US" sz="5400"/>
              <a:t>• </a:t>
            </a:r>
            <a:r>
              <a:rPr b="1" lang="en-US" sz="5400"/>
              <a:t>Adeline Makokha</a:t>
            </a:r>
            <a:r>
              <a:rPr lang="en-US" sz="5400"/>
              <a:t> – </a:t>
            </a:r>
            <a:r>
              <a:rPr lang="en-US" sz="5400">
                <a:latin typeface="Arial"/>
                <a:ea typeface="Arial"/>
                <a:cs typeface="Arial"/>
                <a:sym typeface="Arial"/>
              </a:rPr>
              <a:t>Challenges and Solutions, Conclusion </a:t>
            </a:r>
            <a:endParaRPr sz="54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2025-09-27T09:46:19Z</dcterms:created>
  <dc:creator>Philippa Itabaza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2024-12-02T00:00:00Z</vt:filetime>
  </property>
  <property fmtid="{D5CDD505-2E9C-101B-9397-08002B2CF9AE}" pid="3" name="Creator">
    <vt:lpwstr>Microsoft® PowerPoint® for Microsoft 365</vt:lpwstr>
  </property>
  <property fmtid="{D5CDD505-2E9C-101B-9397-08002B2CF9AE}" pid="4" name="LastSaved">
    <vt:filetime>2025-09-27T00:00:00Z</vt:filetime>
  </property>
  <property fmtid="{D5CDD505-2E9C-101B-9397-08002B2CF9AE}" pid="5" name="Producer">
    <vt:lpwstr>Microsoft® PowerPoint® for Microsoft 365</vt:lpwstr>
  </property>
</Properties>
</file>